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A12"/>
        </a:solidFill>
        <a:effectLst/>
      </p:bgPr>
    </p:bg>
    <p:spTree>
      <p:nvGrpSpPr>
        <p:cNvPr id="1" name=""/>
        <p:cNvGrpSpPr/>
        <p:nvPr/>
      </p:nvGrpSpPr>
      <p:grpSpPr/>
      <p:sp>
        <p:nvSpPr>
          <p:cNvPr id="2" name="Rounded Rectangle 1"/>
          <p:cNvSpPr/>
          <p:nvPr/>
        </p:nvSpPr>
        <p:spPr>
          <a:xfrm>
            <a:off x="731520" y="731520"/>
            <a:ext cx="10728655" cy="5394960"/>
          </a:xfrm>
          <a:prstGeom prst="roundRect">
            <a:avLst/>
          </a:prstGeom>
          <a:solidFill>
            <a:srgbClr val="0F16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097280"/>
            <a:ext cx="9144000" cy="320040"/>
          </a:xfrm>
          <a:prstGeom prst="rect">
            <a:avLst/>
          </a:prstGeom>
          <a:noFill/>
        </p:spPr>
        <p:txBody>
          <a:bodyPr wrap="none">
            <a:spAutoFit/>
          </a:bodyPr>
          <a:lstStyle/>
          <a:p>
            <a:pPr>
              <a:defRPr sz="1100" b="1">
                <a:solidFill>
                  <a:srgbClr val="F97316"/>
                </a:solidFill>
                <a:latin typeface="Arial"/>
              </a:defRPr>
            </a:pPr>
            <a:r>
              <a:t>CSE299 SENIOR DESIGN PROJECT • SECTION 3 • GROUP 3</a:t>
            </a:r>
          </a:p>
        </p:txBody>
      </p:sp>
      <p:sp>
        <p:nvSpPr>
          <p:cNvPr id="4" name="TextBox 3"/>
          <p:cNvSpPr txBox="1"/>
          <p:nvPr/>
        </p:nvSpPr>
        <p:spPr>
          <a:xfrm>
            <a:off x="1097280" y="1463040"/>
            <a:ext cx="9875520" cy="1188720"/>
          </a:xfrm>
          <a:prstGeom prst="rect">
            <a:avLst/>
          </a:prstGeom>
          <a:noFill/>
        </p:spPr>
        <p:txBody>
          <a:bodyPr wrap="square">
            <a:spAutoFit/>
          </a:bodyPr>
          <a:lstStyle/>
          <a:p>
            <a:pPr>
              <a:defRPr sz="2800" b="1">
                <a:solidFill>
                  <a:srgbClr val="FFFFFF"/>
                </a:solidFill>
                <a:latin typeface="Arial"/>
              </a:defRPr>
            </a:pPr>
            <a:r>
              <a:t>GrantLens: Detailed Week 2 Technical Report</a:t>
            </a:r>
          </a:p>
          <a:p>
            <a:pPr>
              <a:defRPr sz="1300">
                <a:solidFill>
                  <a:srgbClr val="38BDF8"/>
                </a:solidFill>
                <a:latin typeface="Arial"/>
              </a:defRPr>
            </a:pPr>
            <a:r>
              <a:t>Comprehensive Breakdown of System Enhancements, Architectural Layers, and Live Website Impacts</a:t>
            </a:r>
          </a:p>
        </p:txBody>
      </p:sp>
      <p:sp>
        <p:nvSpPr>
          <p:cNvPr id="5" name="Rounded Rectangle 4"/>
          <p:cNvSpPr/>
          <p:nvPr/>
        </p:nvSpPr>
        <p:spPr>
          <a:xfrm>
            <a:off x="1097280" y="2926080"/>
            <a:ext cx="2331720" cy="1463040"/>
          </a:xfrm>
          <a:prstGeom prst="roundRect">
            <a:avLst/>
          </a:prstGeom>
          <a:solidFill>
            <a:srgbClr val="0B0F19"/>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3063240"/>
            <a:ext cx="2057400" cy="1188720"/>
          </a:xfrm>
          <a:prstGeom prst="rect">
            <a:avLst/>
          </a:prstGeom>
          <a:noFill/>
        </p:spPr>
        <p:txBody>
          <a:bodyPr wrap="square">
            <a:spAutoFit/>
          </a:bodyPr>
          <a:lstStyle/>
          <a:p>
            <a:pPr>
              <a:defRPr sz="1150" b="1">
                <a:solidFill>
                  <a:srgbClr val="FFFFFF"/>
                </a:solidFill>
                <a:latin typeface="Arial"/>
              </a:defRPr>
            </a:pPr>
            <a:r>
              <a:t>Hasin Anzum Inan</a:t>
            </a:r>
          </a:p>
          <a:p>
            <a:pPr>
              <a:defRPr sz="1000">
                <a:solidFill>
                  <a:srgbClr val="F97316"/>
                </a:solidFill>
                <a:latin typeface="Arial"/>
              </a:defRPr>
            </a:pPr>
            <a:r>
              <a:t>ID: 2323133042</a:t>
            </a:r>
          </a:p>
          <a:p>
            <a:pPr>
              <a:defRPr sz="900">
                <a:solidFill>
                  <a:srgbClr val="94A3B8"/>
                </a:solidFill>
                <a:latin typeface="Arial"/>
              </a:defRPr>
            </a:pPr>
            <a:r>
              <a:t>PDF Ingestion &amp; Extraction</a:t>
            </a:r>
          </a:p>
        </p:txBody>
      </p:sp>
      <p:sp>
        <p:nvSpPr>
          <p:cNvPr id="7" name="Rounded Rectangle 6"/>
          <p:cNvSpPr/>
          <p:nvPr/>
        </p:nvSpPr>
        <p:spPr>
          <a:xfrm>
            <a:off x="3566160" y="2926080"/>
            <a:ext cx="2331720" cy="1463040"/>
          </a:xfrm>
          <a:prstGeom prst="roundRect">
            <a:avLst/>
          </a:prstGeom>
          <a:solidFill>
            <a:srgbClr val="0B0F19"/>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03320" y="3063240"/>
            <a:ext cx="2057400" cy="1188720"/>
          </a:xfrm>
          <a:prstGeom prst="rect">
            <a:avLst/>
          </a:prstGeom>
          <a:noFill/>
        </p:spPr>
        <p:txBody>
          <a:bodyPr wrap="square">
            <a:spAutoFit/>
          </a:bodyPr>
          <a:lstStyle/>
          <a:p>
            <a:pPr>
              <a:defRPr sz="1150" b="1">
                <a:solidFill>
                  <a:srgbClr val="FFFFFF"/>
                </a:solidFill>
                <a:latin typeface="Arial"/>
              </a:defRPr>
            </a:pPr>
            <a:r>
              <a:t>Anas Ibne Majbha</a:t>
            </a:r>
          </a:p>
          <a:p>
            <a:pPr>
              <a:defRPr sz="1000">
                <a:solidFill>
                  <a:srgbClr val="F97316"/>
                </a:solidFill>
                <a:latin typeface="Arial"/>
              </a:defRPr>
            </a:pPr>
            <a:r>
              <a:t>ID: 2322846642</a:t>
            </a:r>
          </a:p>
          <a:p>
            <a:pPr>
              <a:defRPr sz="900">
                <a:solidFill>
                  <a:srgbClr val="94A3B8"/>
                </a:solidFill>
                <a:latin typeface="Arial"/>
              </a:defRPr>
            </a:pPr>
            <a:r>
              <a:t>Backend Core &amp; API Execution</a:t>
            </a:r>
          </a:p>
        </p:txBody>
      </p:sp>
      <p:sp>
        <p:nvSpPr>
          <p:cNvPr id="9" name="Rounded Rectangle 8"/>
          <p:cNvSpPr/>
          <p:nvPr/>
        </p:nvSpPr>
        <p:spPr>
          <a:xfrm>
            <a:off x="6035040" y="2926080"/>
            <a:ext cx="2331720" cy="1463040"/>
          </a:xfrm>
          <a:prstGeom prst="roundRect">
            <a:avLst/>
          </a:prstGeom>
          <a:solidFill>
            <a:srgbClr val="0B0F19"/>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72200" y="3063240"/>
            <a:ext cx="2057400" cy="1188720"/>
          </a:xfrm>
          <a:prstGeom prst="rect">
            <a:avLst/>
          </a:prstGeom>
          <a:noFill/>
        </p:spPr>
        <p:txBody>
          <a:bodyPr wrap="square">
            <a:spAutoFit/>
          </a:bodyPr>
          <a:lstStyle/>
          <a:p>
            <a:pPr>
              <a:defRPr sz="1150" b="1">
                <a:solidFill>
                  <a:srgbClr val="FFFFFF"/>
                </a:solidFill>
                <a:latin typeface="Arial"/>
              </a:defRPr>
            </a:pPr>
            <a:r>
              <a:t>Tazreen Alam</a:t>
            </a:r>
          </a:p>
          <a:p>
            <a:pPr>
              <a:defRPr sz="1000">
                <a:solidFill>
                  <a:srgbClr val="F97316"/>
                </a:solidFill>
                <a:latin typeface="Arial"/>
              </a:defRPr>
            </a:pPr>
            <a:r>
              <a:t>ID: 2321506042</a:t>
            </a:r>
          </a:p>
          <a:p>
            <a:pPr>
              <a:defRPr sz="900">
                <a:solidFill>
                  <a:srgbClr val="94A3B8"/>
                </a:solidFill>
                <a:latin typeface="Arial"/>
              </a:defRPr>
            </a:pPr>
            <a:r>
              <a:t>Researcher Portal (FE &amp; BE)</a:t>
            </a:r>
          </a:p>
        </p:txBody>
      </p:sp>
      <p:sp>
        <p:nvSpPr>
          <p:cNvPr id="11" name="Rounded Rectangle 10"/>
          <p:cNvSpPr/>
          <p:nvPr/>
        </p:nvSpPr>
        <p:spPr>
          <a:xfrm>
            <a:off x="8503920" y="2926080"/>
            <a:ext cx="2331720" cy="1463040"/>
          </a:xfrm>
          <a:prstGeom prst="roundRect">
            <a:avLst/>
          </a:prstGeom>
          <a:solidFill>
            <a:srgbClr val="0B0F19"/>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3063240"/>
            <a:ext cx="2057400" cy="1188720"/>
          </a:xfrm>
          <a:prstGeom prst="rect">
            <a:avLst/>
          </a:prstGeom>
          <a:noFill/>
        </p:spPr>
        <p:txBody>
          <a:bodyPr wrap="square">
            <a:spAutoFit/>
          </a:bodyPr>
          <a:lstStyle/>
          <a:p>
            <a:pPr>
              <a:defRPr sz="1150" b="1">
                <a:solidFill>
                  <a:srgbClr val="FFFFFF"/>
                </a:solidFill>
                <a:latin typeface="Arial"/>
              </a:defRPr>
            </a:pPr>
            <a:r>
              <a:t>Israt Jahan Susmi</a:t>
            </a:r>
          </a:p>
          <a:p>
            <a:pPr>
              <a:defRPr sz="1000">
                <a:solidFill>
                  <a:srgbClr val="F97316"/>
                </a:solidFill>
                <a:latin typeface="Arial"/>
              </a:defRPr>
            </a:pPr>
            <a:r>
              <a:t>ID: 2112280642</a:t>
            </a:r>
          </a:p>
          <a:p>
            <a:pPr>
              <a:defRPr sz="900">
                <a:solidFill>
                  <a:srgbClr val="94A3B8"/>
                </a:solidFill>
                <a:latin typeface="Arial"/>
              </a:defRPr>
            </a:pPr>
            <a:r>
              <a:t>Docker &amp; PostgreSQL DevOps</a:t>
            </a:r>
          </a:p>
        </p:txBody>
      </p:sp>
      <p:sp>
        <p:nvSpPr>
          <p:cNvPr id="13" name="TextBox 12"/>
          <p:cNvSpPr txBox="1"/>
          <p:nvPr/>
        </p:nvSpPr>
        <p:spPr>
          <a:xfrm>
            <a:off x="1097280" y="4663440"/>
            <a:ext cx="9875520" cy="1188720"/>
          </a:xfrm>
          <a:prstGeom prst="rect">
            <a:avLst/>
          </a:prstGeom>
          <a:noFill/>
        </p:spPr>
        <p:txBody>
          <a:bodyPr wrap="square">
            <a:spAutoFit/>
          </a:bodyPr>
          <a:lstStyle/>
          <a:p>
            <a:pPr>
              <a:defRPr sz="1100" b="1">
                <a:solidFill>
                  <a:srgbClr val="FFFFFF"/>
                </a:solidFill>
                <a:latin typeface="Arial"/>
              </a:defRPr>
            </a:pPr>
            <a:r>
              <a:t>Presentation Focus &amp; Deliverable Scope:</a:t>
            </a:r>
          </a:p>
          <a:p>
            <a:pPr>
              <a:defRPr sz="950">
                <a:solidFill>
                  <a:srgbClr val="94A3B8"/>
                </a:solidFill>
                <a:latin typeface="Arial"/>
              </a:defRPr>
            </a:pPr>
            <a:r>
              <a:t>This report details every backend service, database migration, document parser, and authentication mechanism engineered in Week 2, tracing exact lines of source code to their functional, visual, and performance impacts on the live GrantLens web application.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0A12"/>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000" b="1">
                <a:solidFill>
                  <a:srgbClr val="F97316"/>
                </a:solidFill>
                <a:latin typeface="Arial"/>
              </a:defRPr>
            </a:pPr>
            <a:r>
              <a:t>EVOLUTIONARY OVERVIEW</a:t>
            </a:r>
          </a:p>
        </p:txBody>
      </p:sp>
      <p:sp>
        <p:nvSpPr>
          <p:cNvPr id="3" name="TextBox 2"/>
          <p:cNvSpPr txBox="1"/>
          <p:nvPr/>
        </p:nvSpPr>
        <p:spPr>
          <a:xfrm>
            <a:off x="731520" y="658368"/>
            <a:ext cx="10515600" cy="502920"/>
          </a:xfrm>
          <a:prstGeom prst="rect">
            <a:avLst/>
          </a:prstGeom>
          <a:noFill/>
        </p:spPr>
        <p:txBody>
          <a:bodyPr wrap="square" lIns="0" tIns="0" rIns="0" bIns="0">
            <a:spAutoFit/>
          </a:bodyPr>
          <a:lstStyle/>
          <a:p>
            <a:pPr>
              <a:defRPr sz="2000" b="1">
                <a:solidFill>
                  <a:srgbClr val="FFFFFF"/>
                </a:solidFill>
                <a:latin typeface="Arial"/>
              </a:defRPr>
            </a:pPr>
            <a:r>
              <a:t>From Prototype Mockup to Production Audit Infrastructure</a:t>
            </a:r>
          </a:p>
          <a:p>
            <a:pPr>
              <a:defRPr sz="1050">
                <a:solidFill>
                  <a:srgbClr val="38BDF8"/>
                </a:solidFill>
                <a:latin typeface="Arial"/>
              </a:defRPr>
            </a:pPr>
            <a:r>
              <a:t>Quantifiable leaps in architecture, security, and document parsing capabilities</a:t>
            </a:r>
          </a:p>
        </p:txBody>
      </p:sp>
      <p:sp>
        <p:nvSpPr>
          <p:cNvPr id="4" name="Rounded Rectangle 3"/>
          <p:cNvSpPr/>
          <p:nvPr/>
        </p:nvSpPr>
        <p:spPr>
          <a:xfrm>
            <a:off x="731520" y="1371600"/>
            <a:ext cx="5120640" cy="4846320"/>
          </a:xfrm>
          <a:prstGeom prst="roundRect">
            <a:avLst/>
          </a:prstGeom>
          <a:solidFill>
            <a:srgbClr val="0F16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754880" cy="4480560"/>
          </a:xfrm>
          <a:prstGeom prst="rect">
            <a:avLst/>
          </a:prstGeom>
          <a:noFill/>
        </p:spPr>
        <p:txBody>
          <a:bodyPr wrap="square">
            <a:spAutoFit/>
          </a:bodyPr>
          <a:lstStyle/>
          <a:p>
            <a:pPr>
              <a:defRPr sz="1300" b="1">
                <a:solidFill>
                  <a:srgbClr val="F97316"/>
                </a:solidFill>
                <a:latin typeface="Arial"/>
              </a:defRPr>
            </a:pPr>
            <a:r>
              <a:t>WEEK 1 BASELINE ARCHITECTURE</a:t>
            </a:r>
          </a:p>
          <a:p>
            <a:pPr>
              <a:defRPr b="1" sz="950">
                <a:solidFill>
                  <a:srgbClr val="FFFFFF"/>
                </a:solidFill>
              </a:defRPr>
            </a:pPr>
            <a:r>
              <a:t>• Backend Framework: </a:t>
            </a:r>
          </a:p>
          <a:p>
            <a:pPr>
              <a:defRPr sz="850">
                <a:solidFill>
                  <a:srgbClr val="94A3B8"/>
                </a:solidFill>
              </a:defRPr>
            </a:pPr>
            <a:r>
              <a:t>  Django 6.1 scaffold with synchronous single-thread processing.</a:t>
            </a:r>
          </a:p>
          <a:p>
            <a:pPr>
              <a:defRPr b="1" sz="950">
                <a:solidFill>
                  <a:srgbClr val="FFFFFF"/>
                </a:solidFill>
              </a:defRPr>
            </a:pPr>
            <a:r>
              <a:t>• Database Storage: </a:t>
            </a:r>
          </a:p>
          <a:p>
            <a:pPr>
              <a:defRPr sz="850">
                <a:solidFill>
                  <a:srgbClr val="94A3B8"/>
                </a:solidFill>
              </a:defRPr>
            </a:pPr>
            <a:r>
              <a:t>  Local SQLite file with static telemetry metrics.</a:t>
            </a:r>
          </a:p>
          <a:p>
            <a:pPr>
              <a:defRPr b="1" sz="950">
                <a:solidFill>
                  <a:srgbClr val="FFFFFF"/>
                </a:solidFill>
              </a:defRPr>
            </a:pPr>
            <a:r>
              <a:t>• API Surface: </a:t>
            </a:r>
          </a:p>
          <a:p>
            <a:pPr>
              <a:defRPr sz="850">
                <a:solidFill>
                  <a:srgbClr val="94A3B8"/>
                </a:solidFill>
              </a:defRPr>
            </a:pPr>
            <a:r>
              <a:t>  Single GET /api/status/ returning hardcoded dashboard stats.</a:t>
            </a:r>
          </a:p>
          <a:p>
            <a:pPr>
              <a:defRPr b="1" sz="950">
                <a:solidFill>
                  <a:srgbClr val="FFFFFF"/>
                </a:solidFill>
              </a:defRPr>
            </a:pPr>
            <a:r>
              <a:t>• Document Handling: </a:t>
            </a:r>
          </a:p>
          <a:p>
            <a:pPr>
              <a:defRPr sz="850">
                <a:solidFill>
                  <a:srgbClr val="94A3B8"/>
                </a:solidFill>
              </a:defRPr>
            </a:pPr>
            <a:r>
              <a:t>  Mock dropzone UI honestly marked 'In Progress (Week 2)'.</a:t>
            </a:r>
          </a:p>
          <a:p>
            <a:pPr>
              <a:defRPr b="1" sz="950">
                <a:solidFill>
                  <a:srgbClr val="FFFFFF"/>
                </a:solidFill>
              </a:defRPr>
            </a:pPr>
            <a:r>
              <a:t>• Security &amp; Auth: </a:t>
            </a:r>
          </a:p>
          <a:p>
            <a:pPr>
              <a:defRPr sz="850">
                <a:solidFill>
                  <a:srgbClr val="94A3B8"/>
                </a:solidFill>
              </a:defRPr>
            </a:pPr>
            <a:r>
              <a:t>  No researcher accounts, sessions, or role protection.</a:t>
            </a:r>
          </a:p>
          <a:p>
            <a:pPr>
              <a:defRPr b="1" sz="950">
                <a:solidFill>
                  <a:srgbClr val="FFFFFF"/>
                </a:solidFill>
              </a:defRPr>
            </a:pPr>
            <a:r>
              <a:t>• User Experience: </a:t>
            </a:r>
          </a:p>
          <a:p>
            <a:pPr>
              <a:defRPr sz="850">
                <a:solidFill>
                  <a:srgbClr val="94A3B8"/>
                </a:solidFill>
              </a:defRPr>
            </a:pPr>
            <a:r>
              <a:t>  View-only landing page verifying basic frontend-to-backend TCP handshake.</a:t>
            </a:r>
          </a:p>
        </p:txBody>
      </p:sp>
      <p:sp>
        <p:nvSpPr>
          <p:cNvPr id="6" name="Rounded Rectangle 5"/>
          <p:cNvSpPr/>
          <p:nvPr/>
        </p:nvSpPr>
        <p:spPr>
          <a:xfrm>
            <a:off x="6217920" y="1371600"/>
            <a:ext cx="5242255" cy="4846320"/>
          </a:xfrm>
          <a:prstGeom prst="roundRect">
            <a:avLst/>
          </a:prstGeom>
          <a:solidFill>
            <a:srgbClr val="121E31"/>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54480"/>
            <a:ext cx="4873752" cy="4480560"/>
          </a:xfrm>
          <a:prstGeom prst="rect">
            <a:avLst/>
          </a:prstGeom>
          <a:noFill/>
        </p:spPr>
        <p:txBody>
          <a:bodyPr wrap="square">
            <a:spAutoFit/>
          </a:bodyPr>
          <a:lstStyle/>
          <a:p>
            <a:pPr>
              <a:defRPr sz="1300" b="1">
                <a:solidFill>
                  <a:srgbClr val="10B981"/>
                </a:solidFill>
                <a:latin typeface="Arial"/>
              </a:defRPr>
            </a:pPr>
            <a:r>
              <a:t>WEEK 2 PRODUCTION AUDIT PLATFORM</a:t>
            </a:r>
          </a:p>
          <a:p>
            <a:pPr>
              <a:defRPr b="1" sz="950">
                <a:solidFill>
                  <a:srgbClr val="FFFFFF"/>
                </a:solidFill>
              </a:defRPr>
            </a:pPr>
            <a:r>
              <a:t>✓ High-Performance Backend: </a:t>
            </a:r>
          </a:p>
          <a:p>
            <a:pPr>
              <a:defRPr sz="850">
                <a:solidFill>
                  <a:srgbClr val="E2E8F0"/>
                </a:solidFill>
              </a:defRPr>
            </a:pPr>
            <a:r>
              <a:t>  FastAPI on Python 3.11 with asynchronous IO &amp; event loop non-blocking offload.</a:t>
            </a:r>
          </a:p>
          <a:p>
            <a:pPr>
              <a:defRPr b="1" sz="950">
                <a:solidFill>
                  <a:srgbClr val="FFFFFF"/>
                </a:solidFill>
              </a:defRPr>
            </a:pPr>
            <a:r>
              <a:t>✓ Enterprise Relational Database: </a:t>
            </a:r>
          </a:p>
          <a:p>
            <a:pPr>
              <a:defRPr sz="850">
                <a:solidFill>
                  <a:srgbClr val="E2E8F0"/>
                </a:solidFill>
              </a:defRPr>
            </a:pPr>
            <a:r>
              <a:t>  PostgreSQL 16 in Docker with SQLAlchemy 2.0 async pool &amp; JSONB geometry storage.</a:t>
            </a:r>
          </a:p>
          <a:p>
            <a:pPr>
              <a:defRPr b="1" sz="950">
                <a:solidFill>
                  <a:srgbClr val="FFFFFF"/>
                </a:solidFill>
              </a:defRPr>
            </a:pPr>
            <a:r>
              <a:t>✓ Dual Document Pipeline: </a:t>
            </a:r>
          </a:p>
          <a:p>
            <a:pPr>
              <a:defRPr sz="850">
                <a:solidFill>
                  <a:srgbClr val="E2E8F0"/>
                </a:solidFill>
              </a:defRPr>
            </a:pPr>
            <a:r>
              <a:t>  PyMuPDF extracting font spans and margin bounding boxes + pdfplumber parsing tables.</a:t>
            </a:r>
          </a:p>
          <a:p>
            <a:pPr>
              <a:defRPr b="1" sz="950">
                <a:solidFill>
                  <a:srgbClr val="FFFFFF"/>
                </a:solidFill>
              </a:defRPr>
            </a:pPr>
            <a:r>
              <a:t>✓ Full Researcher Security: </a:t>
            </a:r>
          </a:p>
          <a:p>
            <a:pPr>
              <a:defRPr sz="850">
                <a:solidFill>
                  <a:srgbClr val="E2E8F0"/>
                </a:solidFill>
              </a:defRPr>
            </a:pPr>
            <a:r>
              <a:t>  Bcrypt password encryption + RFC 6749 OAuth2 JWT access/refresh token lifecycles.</a:t>
            </a:r>
          </a:p>
          <a:p>
            <a:pPr>
              <a:defRPr b="1" sz="950">
                <a:solidFill>
                  <a:srgbClr val="FFFFFF"/>
                </a:solidFill>
              </a:defRPr>
            </a:pPr>
            <a:r>
              <a:t>✓ Automated Compliance Engine: </a:t>
            </a:r>
          </a:p>
          <a:p>
            <a:pPr>
              <a:defRPr sz="850">
                <a:solidFill>
                  <a:srgbClr val="E2E8F0"/>
                </a:solidFill>
              </a:defRPr>
            </a:pPr>
            <a:r>
              <a:t>  Deterministic heuristic scoring (Red, Yellow, Green risk flags + budget reconciliation).</a:t>
            </a:r>
          </a:p>
          <a:p>
            <a:pPr>
              <a:defRPr b="1" sz="950">
                <a:solidFill>
                  <a:srgbClr val="FFFFFF"/>
                </a:solidFill>
              </a:defRPr>
            </a:pPr>
            <a:r>
              <a:t>✓ Interactive Researcher Portal: </a:t>
            </a:r>
          </a:p>
          <a:p>
            <a:pPr>
              <a:defRPr sz="850">
                <a:solidFill>
                  <a:srgbClr val="E2E8F0"/>
                </a:solidFill>
              </a:defRPr>
            </a:pPr>
            <a:r>
              <a:t>  Live AuthPortal.jsx + SubmissionPortal.jsx workspace with real-time audit score meters.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0A12"/>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000" b="1">
                <a:solidFill>
                  <a:srgbClr val="F97316"/>
                </a:solidFill>
                <a:latin typeface="Arial"/>
              </a:defRPr>
            </a:pPr>
            <a:r>
              <a:t>SYSTEM TOPOLOGY</a:t>
            </a:r>
          </a:p>
        </p:txBody>
      </p:sp>
      <p:sp>
        <p:nvSpPr>
          <p:cNvPr id="3" name="TextBox 2"/>
          <p:cNvSpPr txBox="1"/>
          <p:nvPr/>
        </p:nvSpPr>
        <p:spPr>
          <a:xfrm>
            <a:off x="731520" y="658368"/>
            <a:ext cx="10515600" cy="502920"/>
          </a:xfrm>
          <a:prstGeom prst="rect">
            <a:avLst/>
          </a:prstGeom>
          <a:noFill/>
        </p:spPr>
        <p:txBody>
          <a:bodyPr wrap="square" lIns="0" tIns="0" rIns="0" bIns="0">
            <a:spAutoFit/>
          </a:bodyPr>
          <a:lstStyle/>
          <a:p>
            <a:pPr>
              <a:defRPr sz="2000" b="1">
                <a:solidFill>
                  <a:srgbClr val="FFFFFF"/>
                </a:solidFill>
                <a:latin typeface="Arial"/>
              </a:defRPr>
            </a:pPr>
            <a:r>
              <a:t>Full-Stack Micro-Architecture &amp; Data Flow Topology</a:t>
            </a:r>
          </a:p>
          <a:p>
            <a:pPr>
              <a:defRPr sz="1050">
                <a:solidFill>
                  <a:srgbClr val="38BDF8"/>
                </a:solidFill>
                <a:latin typeface="Arial"/>
              </a:defRPr>
            </a:pPr>
            <a:r>
              <a:t>How requests travel from researcher upload to automated compliance scoring</a:t>
            </a:r>
          </a:p>
        </p:txBody>
      </p:sp>
      <p:sp>
        <p:nvSpPr>
          <p:cNvPr id="4" name="Rounded Rectangle 3"/>
          <p:cNvSpPr/>
          <p:nvPr/>
        </p:nvSpPr>
        <p:spPr>
          <a:xfrm>
            <a:off x="731520" y="1371600"/>
            <a:ext cx="3291840" cy="4846320"/>
          </a:xfrm>
          <a:prstGeom prst="roundRect">
            <a:avLst/>
          </a:prstGeom>
          <a:solidFill>
            <a:srgbClr val="0F16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2926080" cy="4480560"/>
          </a:xfrm>
          <a:prstGeom prst="rect">
            <a:avLst/>
          </a:prstGeom>
          <a:noFill/>
        </p:spPr>
        <p:txBody>
          <a:bodyPr wrap="square">
            <a:spAutoFit/>
          </a:bodyPr>
          <a:lstStyle/>
          <a:p>
            <a:pPr>
              <a:defRPr sz="1300" b="1">
                <a:solidFill>
                  <a:srgbClr val="F97316"/>
                </a:solidFill>
                <a:latin typeface="Arial"/>
              </a:defRPr>
            </a:pPr>
            <a:r>
              <a:t>1. Researcher Client</a:t>
            </a:r>
          </a:p>
          <a:p>
            <a:pPr>
              <a:defRPr sz="900">
                <a:solidFill>
                  <a:srgbClr val="94A3B8"/>
                </a:solidFill>
              </a:defRPr>
            </a:pPr>
            <a:r>
              <a:t>• React 18 + Vite SPA</a:t>
            </a:r>
          </a:p>
          <a:p>
            <a:pPr>
              <a:defRPr sz="900">
                <a:solidFill>
                  <a:srgbClr val="94A3B8"/>
                </a:solidFill>
              </a:defRPr>
            </a:pPr>
            <a:r>
              <a:t>• Tailwind CSS v3 Design Tokens</a:t>
            </a:r>
          </a:p>
          <a:p>
            <a:pPr>
              <a:defRPr sz="900">
                <a:solidFill>
                  <a:srgbClr val="94A3B8"/>
                </a:solidFill>
              </a:defRPr>
            </a:pPr>
            <a:r>
              <a:t>• AuthPortal.jsx: Tabbed SSO/Bcrypt credentials form</a:t>
            </a:r>
          </a:p>
          <a:p>
            <a:pPr>
              <a:defRPr sz="900">
                <a:solidFill>
                  <a:srgbClr val="94A3B8"/>
                </a:solidFill>
              </a:defRPr>
            </a:pPr>
            <a:r>
              <a:t>• SubmissionPortal.jsx: Dual PDF dropzone</a:t>
            </a:r>
          </a:p>
          <a:p>
            <a:pPr>
              <a:defRPr sz="900">
                <a:solidFill>
                  <a:srgbClr val="94A3B8"/>
                </a:solidFill>
              </a:defRPr>
            </a:pPr>
            <a:r>
              <a:t>• Dispatches multipart/form-data with Bearer Token over HTTPS/TCP to port 8000.</a:t>
            </a:r>
          </a:p>
        </p:txBody>
      </p:sp>
      <p:sp>
        <p:nvSpPr>
          <p:cNvPr id="6" name="Rounded Rectangle 5"/>
          <p:cNvSpPr/>
          <p:nvPr/>
        </p:nvSpPr>
        <p:spPr>
          <a:xfrm>
            <a:off x="4297680" y="1371600"/>
            <a:ext cx="3657600" cy="4846320"/>
          </a:xfrm>
          <a:prstGeom prst="roundRect">
            <a:avLst/>
          </a:prstGeom>
          <a:solidFill>
            <a:srgbClr val="0F16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80560" y="1554480"/>
            <a:ext cx="3291840" cy="4480560"/>
          </a:xfrm>
          <a:prstGeom prst="rect">
            <a:avLst/>
          </a:prstGeom>
          <a:noFill/>
        </p:spPr>
        <p:txBody>
          <a:bodyPr wrap="square">
            <a:spAutoFit/>
          </a:bodyPr>
          <a:lstStyle/>
          <a:p>
            <a:pPr>
              <a:defRPr sz="1300" b="1">
                <a:solidFill>
                  <a:srgbClr val="38BDF8"/>
                </a:solidFill>
                <a:latin typeface="Arial"/>
              </a:defRPr>
            </a:pPr>
            <a:r>
              <a:t>2. FastAPI Engine &amp; Ingestion</a:t>
            </a:r>
          </a:p>
          <a:p>
            <a:pPr>
              <a:defRPr sz="900">
                <a:solidFill>
                  <a:srgbClr val="94A3B8"/>
                </a:solidFill>
              </a:defRPr>
            </a:pPr>
            <a:r>
              <a:t>• Uvicorn Async Web Worker</a:t>
            </a:r>
          </a:p>
          <a:p>
            <a:pPr>
              <a:defRPr sz="900">
                <a:solidFill>
                  <a:srgbClr val="94A3B8"/>
                </a:solidFill>
              </a:defRPr>
            </a:pPr>
            <a:r>
              <a:t>• CORS Regex: Whitelists frontend localhost:5173</a:t>
            </a:r>
          </a:p>
          <a:p>
            <a:pPr>
              <a:defRPr sz="900">
                <a:solidFill>
                  <a:srgbClr val="94A3B8"/>
                </a:solidFill>
              </a:defRPr>
            </a:pPr>
            <a:r>
              <a:t>• OAuth2 Dependency: Validates JWT sub UUID</a:t>
            </a:r>
          </a:p>
          <a:p>
            <a:pPr>
              <a:defRPr sz="900">
                <a:solidFill>
                  <a:srgbClr val="94A3B8"/>
                </a:solidFill>
              </a:defRPr>
            </a:pPr>
            <a:r>
              <a:t>• asyncio.to_thread Offload:</a:t>
            </a:r>
          </a:p>
          <a:p>
            <a:pPr>
              <a:defRPr sz="900">
                <a:solidFill>
                  <a:srgbClr val="94A3B8"/>
                </a:solidFill>
              </a:defRPr>
            </a:pPr>
            <a:r>
              <a:t>•   - PyMuPDF inspects font spans &amp; 1/72" margins</a:t>
            </a:r>
          </a:p>
          <a:p>
            <a:pPr>
              <a:defRPr sz="900">
                <a:solidFill>
                  <a:srgbClr val="94A3B8"/>
                </a:solidFill>
              </a:defRPr>
            </a:pPr>
            <a:r>
              <a:t>•   - pdfplumber locates &amp; parses budget tables</a:t>
            </a:r>
          </a:p>
          <a:p>
            <a:pPr>
              <a:defRPr sz="900">
                <a:solidFill>
                  <a:srgbClr val="94A3B8"/>
                </a:solidFill>
              </a:defRPr>
            </a:pPr>
            <a:r>
              <a:t>• Heuristic Scanner computes 0-100 score &amp; risk findings.</a:t>
            </a:r>
          </a:p>
        </p:txBody>
      </p:sp>
      <p:sp>
        <p:nvSpPr>
          <p:cNvPr id="8" name="Rounded Rectangle 7"/>
          <p:cNvSpPr/>
          <p:nvPr/>
        </p:nvSpPr>
        <p:spPr>
          <a:xfrm>
            <a:off x="8229600" y="1371600"/>
            <a:ext cx="3230575" cy="4846320"/>
          </a:xfrm>
          <a:prstGeom prst="roundRect">
            <a:avLst/>
          </a:prstGeom>
          <a:solidFill>
            <a:srgbClr val="0F16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0" y="1554480"/>
            <a:ext cx="2862072" cy="4480560"/>
          </a:xfrm>
          <a:prstGeom prst="rect">
            <a:avLst/>
          </a:prstGeom>
          <a:noFill/>
        </p:spPr>
        <p:txBody>
          <a:bodyPr wrap="square">
            <a:spAutoFit/>
          </a:bodyPr>
          <a:lstStyle/>
          <a:p>
            <a:pPr>
              <a:defRPr sz="1300" b="1">
                <a:solidFill>
                  <a:srgbClr val="10B981"/>
                </a:solidFill>
                <a:latin typeface="Arial"/>
              </a:defRPr>
            </a:pPr>
            <a:r>
              <a:t>3. PostgreSQL 16 &amp; Storage</a:t>
            </a:r>
          </a:p>
          <a:p>
            <a:pPr>
              <a:defRPr sz="900">
                <a:solidFill>
                  <a:srgbClr val="94A3B8"/>
                </a:solidFill>
              </a:defRPr>
            </a:pPr>
            <a:r>
              <a:t>• PostgreSQL 16 Alpine in Docker</a:t>
            </a:r>
          </a:p>
          <a:p>
            <a:pPr>
              <a:defRPr sz="900">
                <a:solidFill>
                  <a:srgbClr val="94A3B8"/>
                </a:solidFill>
              </a:defRPr>
            </a:pPr>
            <a:r>
              <a:t>• SQLAlchemy 2.0 Async Session Pool</a:t>
            </a:r>
          </a:p>
          <a:p>
            <a:pPr>
              <a:defRPr sz="900">
                <a:solidFill>
                  <a:srgbClr val="94A3B8"/>
                </a:solidFill>
              </a:defRPr>
            </a:pPr>
            <a:r>
              <a:t>• Normalized Relational Schemas:</a:t>
            </a:r>
          </a:p>
          <a:p>
            <a:pPr>
              <a:defRPr sz="900">
                <a:solidFill>
                  <a:srgbClr val="94A3B8"/>
                </a:solidFill>
              </a:defRPr>
            </a:pPr>
            <a:r>
              <a:t>•   - users, grant_submissions, documents</a:t>
            </a:r>
          </a:p>
          <a:p>
            <a:pPr>
              <a:defRPr sz="900">
                <a:solidFill>
                  <a:srgbClr val="94A3B8"/>
                </a:solidFill>
              </a:defRPr>
            </a:pPr>
            <a:r>
              <a:t>•   - audit_reports, audit_findings, budget_items</a:t>
            </a:r>
          </a:p>
          <a:p>
            <a:pPr>
              <a:defRPr sz="900">
                <a:solidFill>
                  <a:srgbClr val="94A3B8"/>
                </a:solidFill>
              </a:defRPr>
            </a:pPr>
            <a:r>
              <a:t>• JSONB Geometry Storage for raw bounding boxes</a:t>
            </a:r>
          </a:p>
          <a:p>
            <a:pPr>
              <a:defRPr sz="900">
                <a:solidFill>
                  <a:srgbClr val="94A3B8"/>
                </a:solidFill>
              </a:defRPr>
            </a:pPr>
            <a:r>
              <a:t>• Persistent Docker NVMe Volume (pg_data).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0A12"/>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000" b="1">
                <a:solidFill>
                  <a:srgbClr val="F97316"/>
                </a:solidFill>
                <a:latin typeface="Arial"/>
              </a:defRPr>
            </a:pPr>
            <a:r>
              <a:t>TEAM ENGINEERING DIVISION</a:t>
            </a:r>
          </a:p>
        </p:txBody>
      </p:sp>
      <p:sp>
        <p:nvSpPr>
          <p:cNvPr id="3" name="TextBox 2"/>
          <p:cNvSpPr txBox="1"/>
          <p:nvPr/>
        </p:nvSpPr>
        <p:spPr>
          <a:xfrm>
            <a:off x="731520" y="658368"/>
            <a:ext cx="10515600" cy="502920"/>
          </a:xfrm>
          <a:prstGeom prst="rect">
            <a:avLst/>
          </a:prstGeom>
          <a:noFill/>
        </p:spPr>
        <p:txBody>
          <a:bodyPr wrap="square" lIns="0" tIns="0" rIns="0" bIns="0">
            <a:spAutoFit/>
          </a:bodyPr>
          <a:lstStyle/>
          <a:p>
            <a:pPr>
              <a:defRPr sz="2000" b="1">
                <a:solidFill>
                  <a:srgbClr val="FFFFFF"/>
                </a:solidFill>
                <a:latin typeface="Arial"/>
              </a:defRPr>
            </a:pPr>
            <a:r>
              <a:t>4-Way Workstream Ownership &amp; Direct Website Impacts</a:t>
            </a:r>
          </a:p>
          <a:p>
            <a:pPr>
              <a:defRPr sz="1050">
                <a:solidFill>
                  <a:srgbClr val="38BDF8"/>
                </a:solidFill>
                <a:latin typeface="Arial"/>
              </a:defRPr>
            </a:pPr>
            <a:r>
              <a:t>How each member's contributions directly impact the live platform</a:t>
            </a:r>
          </a:p>
        </p:txBody>
      </p:sp>
      <p:sp>
        <p:nvSpPr>
          <p:cNvPr id="4" name="Rounded Rectangle 3"/>
          <p:cNvSpPr/>
          <p:nvPr/>
        </p:nvSpPr>
        <p:spPr>
          <a:xfrm>
            <a:off x="731520" y="1280160"/>
            <a:ext cx="10728655" cy="1115568"/>
          </a:xfrm>
          <a:prstGeom prst="roundRect">
            <a:avLst/>
          </a:prstGeom>
          <a:solidFill>
            <a:srgbClr val="0F16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89888"/>
            <a:ext cx="2926080" cy="896112"/>
          </a:xfrm>
          <a:prstGeom prst="rect">
            <a:avLst/>
          </a:prstGeom>
          <a:noFill/>
        </p:spPr>
        <p:txBody>
          <a:bodyPr wrap="square">
            <a:spAutoFit/>
          </a:bodyPr>
          <a:lstStyle/>
          <a:p>
            <a:pPr>
              <a:defRPr sz="1200" b="1">
                <a:solidFill>
                  <a:srgbClr val="FFFFFF"/>
                </a:solidFill>
                <a:latin typeface="Arial"/>
              </a:defRPr>
            </a:pPr>
            <a:r>
              <a:t>Hasin Anzum Inan</a:t>
            </a:r>
          </a:p>
          <a:p>
            <a:pPr>
              <a:defRPr sz="1000" b="1">
                <a:solidFill>
                  <a:srgbClr val="F97316"/>
                </a:solidFill>
                <a:latin typeface="Arial"/>
              </a:defRPr>
            </a:pPr>
            <a:r>
              <a:t>PDF Ingestion &amp; Extraction Lead</a:t>
            </a:r>
          </a:p>
        </p:txBody>
      </p:sp>
      <p:sp>
        <p:nvSpPr>
          <p:cNvPr id="6" name="TextBox 5"/>
          <p:cNvSpPr txBox="1"/>
          <p:nvPr/>
        </p:nvSpPr>
        <p:spPr>
          <a:xfrm>
            <a:off x="4023360" y="1371600"/>
            <a:ext cx="7315200" cy="914400"/>
          </a:xfrm>
          <a:prstGeom prst="rect">
            <a:avLst/>
          </a:prstGeom>
          <a:noFill/>
        </p:spPr>
        <p:txBody>
          <a:bodyPr wrap="square">
            <a:spAutoFit/>
          </a:bodyPr>
          <a:lstStyle/>
          <a:p>
            <a:pPr>
              <a:defRPr sz="850">
                <a:solidFill>
                  <a:srgbClr val="94A3B8"/>
                </a:solidFill>
                <a:latin typeface="Arial"/>
              </a:defRPr>
            </a:pPr>
            <a:r>
              <a:t>• Document Ingestion Engine: Implemented PyMuPDF sub-millimeter margin &amp; font size span extraction.</a:t>
            </a:r>
          </a:p>
          <a:p>
            <a:pPr>
              <a:defRPr sz="850">
                <a:solidFill>
                  <a:srgbClr val="94A3B8"/>
                </a:solidFill>
                <a:latin typeface="Arial"/>
              </a:defRPr>
            </a:pPr>
            <a:r>
              <a:t>• Tabular Financial Parsing: Engineered pdfplumber table extraction for itemized budget analysis.</a:t>
            </a:r>
          </a:p>
          <a:p>
            <a:pPr>
              <a:defRPr sz="850" b="1">
                <a:solidFill>
                  <a:srgbClr val="E2E8F0"/>
                </a:solidFill>
                <a:latin typeface="Arial"/>
              </a:defRPr>
            </a:pPr>
            <a:r>
              <a:t>• Website Impact: Powers the document extraction engine and submission upload page with instant geometric auditing.</a:t>
            </a:r>
          </a:p>
        </p:txBody>
      </p:sp>
      <p:sp>
        <p:nvSpPr>
          <p:cNvPr id="7" name="Rounded Rectangle 6"/>
          <p:cNvSpPr/>
          <p:nvPr/>
        </p:nvSpPr>
        <p:spPr>
          <a:xfrm>
            <a:off x="731520" y="2514600"/>
            <a:ext cx="10728655" cy="1115568"/>
          </a:xfrm>
          <a:prstGeom prst="roundRect">
            <a:avLst/>
          </a:prstGeom>
          <a:solidFill>
            <a:srgbClr val="0F16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624328"/>
            <a:ext cx="2926080" cy="896112"/>
          </a:xfrm>
          <a:prstGeom prst="rect">
            <a:avLst/>
          </a:prstGeom>
          <a:noFill/>
        </p:spPr>
        <p:txBody>
          <a:bodyPr wrap="square">
            <a:spAutoFit/>
          </a:bodyPr>
          <a:lstStyle/>
          <a:p>
            <a:pPr>
              <a:defRPr sz="1200" b="1">
                <a:solidFill>
                  <a:srgbClr val="FFFFFF"/>
                </a:solidFill>
                <a:latin typeface="Arial"/>
              </a:defRPr>
            </a:pPr>
            <a:r>
              <a:t>Anas Ibne Majbha</a:t>
            </a:r>
          </a:p>
          <a:p>
            <a:pPr>
              <a:defRPr sz="1000" b="1">
                <a:solidFill>
                  <a:srgbClr val="38BDF8"/>
                </a:solidFill>
                <a:latin typeface="Arial"/>
              </a:defRPr>
            </a:pPr>
            <a:r>
              <a:t>Backend Core &amp; API Execution</a:t>
            </a:r>
          </a:p>
        </p:txBody>
      </p:sp>
      <p:sp>
        <p:nvSpPr>
          <p:cNvPr id="9" name="TextBox 8"/>
          <p:cNvSpPr txBox="1"/>
          <p:nvPr/>
        </p:nvSpPr>
        <p:spPr>
          <a:xfrm>
            <a:off x="4023360" y="2606040"/>
            <a:ext cx="7315200" cy="914400"/>
          </a:xfrm>
          <a:prstGeom prst="rect">
            <a:avLst/>
          </a:prstGeom>
          <a:noFill/>
        </p:spPr>
        <p:txBody>
          <a:bodyPr wrap="square">
            <a:spAutoFit/>
          </a:bodyPr>
          <a:lstStyle/>
          <a:p>
            <a:pPr>
              <a:defRPr sz="850">
                <a:solidFill>
                  <a:srgbClr val="94A3B8"/>
                </a:solidFill>
                <a:latin typeface="Arial"/>
              </a:defRPr>
            </a:pPr>
            <a:r>
              <a:t>• FastAPI Server Lifecycle: Managed Uvicorn execution, non-blocking async IO, and CORS middleware configuration.</a:t>
            </a:r>
          </a:p>
          <a:p>
            <a:pPr>
              <a:defRPr sz="850">
                <a:solidFill>
                  <a:srgbClr val="94A3B8"/>
                </a:solidFill>
                <a:latin typeface="Arial"/>
              </a:defRPr>
            </a:pPr>
            <a:r>
              <a:t>• API Endpoint Routing: Engineered /submissions/upload processing flow and /status telemetry routing.</a:t>
            </a:r>
          </a:p>
          <a:p>
            <a:pPr>
              <a:defRPr sz="850" b="1">
                <a:solidFill>
                  <a:srgbClr val="E2E8F0"/>
                </a:solidFill>
                <a:latin typeface="Arial"/>
              </a:defRPr>
            </a:pPr>
            <a:r>
              <a:t>• Website Impact: Guarantees high-performance API throughput, request validation, and zero server downtime.</a:t>
            </a:r>
          </a:p>
        </p:txBody>
      </p:sp>
      <p:sp>
        <p:nvSpPr>
          <p:cNvPr id="10" name="Rounded Rectangle 9"/>
          <p:cNvSpPr/>
          <p:nvPr/>
        </p:nvSpPr>
        <p:spPr>
          <a:xfrm>
            <a:off x="731520" y="3749040"/>
            <a:ext cx="10728655" cy="1115568"/>
          </a:xfrm>
          <a:prstGeom prst="roundRect">
            <a:avLst/>
          </a:prstGeom>
          <a:solidFill>
            <a:srgbClr val="0F16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858768"/>
            <a:ext cx="2926080" cy="896112"/>
          </a:xfrm>
          <a:prstGeom prst="rect">
            <a:avLst/>
          </a:prstGeom>
          <a:noFill/>
        </p:spPr>
        <p:txBody>
          <a:bodyPr wrap="square">
            <a:spAutoFit/>
          </a:bodyPr>
          <a:lstStyle/>
          <a:p>
            <a:pPr>
              <a:defRPr sz="1200" b="1">
                <a:solidFill>
                  <a:srgbClr val="FFFFFF"/>
                </a:solidFill>
                <a:latin typeface="Arial"/>
              </a:defRPr>
            </a:pPr>
            <a:r>
              <a:t>Tazreen Alam</a:t>
            </a:r>
          </a:p>
          <a:p>
            <a:pPr>
              <a:defRPr sz="1000" b="1">
                <a:solidFill>
                  <a:srgbClr val="10B981"/>
                </a:solidFill>
                <a:latin typeface="Arial"/>
              </a:defRPr>
            </a:pPr>
            <a:r>
              <a:t>Researcher Portal (Frontend &amp; Backend)</a:t>
            </a:r>
          </a:p>
        </p:txBody>
      </p:sp>
      <p:sp>
        <p:nvSpPr>
          <p:cNvPr id="12" name="TextBox 11"/>
          <p:cNvSpPr txBox="1"/>
          <p:nvPr/>
        </p:nvSpPr>
        <p:spPr>
          <a:xfrm>
            <a:off x="4023360" y="3840480"/>
            <a:ext cx="7315200" cy="914400"/>
          </a:xfrm>
          <a:prstGeom prst="rect">
            <a:avLst/>
          </a:prstGeom>
          <a:noFill/>
        </p:spPr>
        <p:txBody>
          <a:bodyPr wrap="square">
            <a:spAutoFit/>
          </a:bodyPr>
          <a:lstStyle/>
          <a:p>
            <a:pPr>
              <a:defRPr sz="850">
                <a:solidFill>
                  <a:srgbClr val="94A3B8"/>
                </a:solidFill>
                <a:latin typeface="Arial"/>
              </a:defRPr>
            </a:pPr>
            <a:r>
              <a:t>• Full-Stack Researcher Portal: Developed AuthPortal.jsx, SubmissionPortal.jsx, and the new Audit History table.</a:t>
            </a:r>
          </a:p>
          <a:p>
            <a:pPr>
              <a:defRPr sz="850">
                <a:solidFill>
                  <a:srgbClr val="94A3B8"/>
                </a:solidFill>
                <a:latin typeface="Arial"/>
              </a:defRPr>
            </a:pPr>
            <a:r>
              <a:t>• Authentication Backend: Engineered Bcrypt password hashing, RFC 6749 JWT tokens, and /auth/me session probe.</a:t>
            </a:r>
          </a:p>
          <a:p>
            <a:pPr>
              <a:defRPr sz="850" b="1">
                <a:solidFill>
                  <a:srgbClr val="E2E8F0"/>
                </a:solidFill>
                <a:latin typeface="Arial"/>
              </a:defRPr>
            </a:pPr>
            <a:r>
              <a:t>• Website Impact: Delivers seamless researcher onboarding, secure credential management, and past submission tracking.</a:t>
            </a:r>
          </a:p>
        </p:txBody>
      </p:sp>
      <p:sp>
        <p:nvSpPr>
          <p:cNvPr id="13" name="Rounded Rectangle 12"/>
          <p:cNvSpPr/>
          <p:nvPr/>
        </p:nvSpPr>
        <p:spPr>
          <a:xfrm>
            <a:off x="731520" y="4983480"/>
            <a:ext cx="10728655" cy="1115568"/>
          </a:xfrm>
          <a:prstGeom prst="roundRect">
            <a:avLst/>
          </a:prstGeom>
          <a:solidFill>
            <a:srgbClr val="0F16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093208"/>
            <a:ext cx="2926080" cy="896112"/>
          </a:xfrm>
          <a:prstGeom prst="rect">
            <a:avLst/>
          </a:prstGeom>
          <a:noFill/>
        </p:spPr>
        <p:txBody>
          <a:bodyPr wrap="square">
            <a:spAutoFit/>
          </a:bodyPr>
          <a:lstStyle/>
          <a:p>
            <a:pPr>
              <a:defRPr sz="1200" b="1">
                <a:solidFill>
                  <a:srgbClr val="FFFFFF"/>
                </a:solidFill>
                <a:latin typeface="Arial"/>
              </a:defRPr>
            </a:pPr>
            <a:r>
              <a:t>Israt Jahan Susmi</a:t>
            </a:r>
          </a:p>
          <a:p>
            <a:pPr>
              <a:defRPr sz="1000" b="1">
                <a:solidFill>
                  <a:srgbClr val="F59E0B"/>
                </a:solidFill>
                <a:latin typeface="Arial"/>
              </a:defRPr>
            </a:pPr>
            <a:r>
              <a:t>Docker &amp; PostgreSQL DevOps Lead</a:t>
            </a:r>
          </a:p>
        </p:txBody>
      </p:sp>
      <p:sp>
        <p:nvSpPr>
          <p:cNvPr id="15" name="TextBox 14"/>
          <p:cNvSpPr txBox="1"/>
          <p:nvPr/>
        </p:nvSpPr>
        <p:spPr>
          <a:xfrm>
            <a:off x="4023360" y="5074920"/>
            <a:ext cx="7315200" cy="914400"/>
          </a:xfrm>
          <a:prstGeom prst="rect">
            <a:avLst/>
          </a:prstGeom>
          <a:noFill/>
        </p:spPr>
        <p:txBody>
          <a:bodyPr wrap="square">
            <a:spAutoFit/>
          </a:bodyPr>
          <a:lstStyle/>
          <a:p>
            <a:pPr>
              <a:defRPr sz="850">
                <a:solidFill>
                  <a:srgbClr val="94A3B8"/>
                </a:solidFill>
                <a:latin typeface="Arial"/>
              </a:defRPr>
            </a:pPr>
            <a:r>
              <a:t>• Multi-Container Docker Environment: Wrote production Dockerfile with C++ build headers and docker-compose.yml.</a:t>
            </a:r>
          </a:p>
          <a:p>
            <a:pPr>
              <a:defRPr sz="850">
                <a:solidFill>
                  <a:srgbClr val="94A3B8"/>
                </a:solidFill>
                <a:latin typeface="Arial"/>
              </a:defRPr>
            </a:pPr>
            <a:r>
              <a:t>• PostgreSQL Database Engine: Configured PostgreSQL 16 Alpine, persistent NVMe volumes (pg_data), and connection pool.</a:t>
            </a:r>
          </a:p>
          <a:p>
            <a:pPr>
              <a:defRPr sz="850" b="1">
                <a:solidFill>
                  <a:srgbClr val="E2E8F0"/>
                </a:solidFill>
                <a:latin typeface="Arial"/>
              </a:defRPr>
            </a:pPr>
            <a:r>
              <a:t>• Website Impact: Ensures 100% reliable containerized database persistence, health-check self-healing, and zero environment drift.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0A12"/>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000" b="1">
                <a:solidFill>
                  <a:srgbClr val="F97316"/>
                </a:solidFill>
                <a:latin typeface="Arial"/>
              </a:defRPr>
            </a:pPr>
            <a:r>
              <a:t>COMPONENT 1: INFRASTRUCTURE</a:t>
            </a:r>
          </a:p>
        </p:txBody>
      </p:sp>
      <p:sp>
        <p:nvSpPr>
          <p:cNvPr id="3" name="TextBox 2"/>
          <p:cNvSpPr txBox="1"/>
          <p:nvPr/>
        </p:nvSpPr>
        <p:spPr>
          <a:xfrm>
            <a:off x="731520" y="658368"/>
            <a:ext cx="10515600" cy="502920"/>
          </a:xfrm>
          <a:prstGeom prst="rect">
            <a:avLst/>
          </a:prstGeom>
          <a:noFill/>
        </p:spPr>
        <p:txBody>
          <a:bodyPr wrap="square" lIns="0" tIns="0" rIns="0" bIns="0">
            <a:spAutoFit/>
          </a:bodyPr>
          <a:lstStyle/>
          <a:p>
            <a:pPr>
              <a:defRPr sz="2000" b="1">
                <a:solidFill>
                  <a:srgbClr val="FFFFFF"/>
                </a:solidFill>
                <a:latin typeface="Arial"/>
              </a:defRPr>
            </a:pPr>
            <a:r>
              <a:t>Multi-Container Docker Environment (`docker-compose.yml`)</a:t>
            </a:r>
          </a:p>
          <a:p>
            <a:pPr>
              <a:defRPr sz="1050">
                <a:solidFill>
                  <a:srgbClr val="38BDF8"/>
                </a:solidFill>
                <a:latin typeface="Arial"/>
              </a:defRPr>
            </a:pPr>
            <a:r>
              <a:t>Isolated, production-grade containerization with native compilation headers</a:t>
            </a:r>
          </a:p>
        </p:txBody>
      </p:sp>
      <p:sp>
        <p:nvSpPr>
          <p:cNvPr id="4" name="Rounded Rectangle 3"/>
          <p:cNvSpPr/>
          <p:nvPr/>
        </p:nvSpPr>
        <p:spPr>
          <a:xfrm>
            <a:off x="731520" y="1371600"/>
            <a:ext cx="5669280" cy="4846320"/>
          </a:xfrm>
          <a:prstGeom prst="roundRect">
            <a:avLst/>
          </a:prstGeom>
          <a:solidFill>
            <a:srgbClr val="0B0F19"/>
          </a:solidFill>
          <a:ln w="12700">
            <a:solidFill>
              <a:srgbClr val="1822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81328"/>
            <a:ext cx="5303520" cy="274320"/>
          </a:xfrm>
          <a:prstGeom prst="rect">
            <a:avLst/>
          </a:prstGeom>
          <a:noFill/>
        </p:spPr>
        <p:txBody>
          <a:bodyPr wrap="square" lIns="0" tIns="0" rIns="0" bIns="0">
            <a:spAutoFit/>
          </a:bodyPr>
          <a:lstStyle/>
          <a:p>
            <a:pPr>
              <a:defRPr sz="950" b="1">
                <a:solidFill>
                  <a:srgbClr val="38BDF8"/>
                </a:solidFill>
                <a:latin typeface="Consolas"/>
              </a:defRPr>
            </a:pPr>
            <a:r>
              <a:t>&gt; docker-compose.yml</a:t>
            </a:r>
          </a:p>
        </p:txBody>
      </p:sp>
      <p:sp>
        <p:nvSpPr>
          <p:cNvPr id="6" name="TextBox 5"/>
          <p:cNvSpPr txBox="1"/>
          <p:nvPr/>
        </p:nvSpPr>
        <p:spPr>
          <a:xfrm>
            <a:off x="914400" y="1755648"/>
            <a:ext cx="5303520" cy="4343400"/>
          </a:xfrm>
          <a:prstGeom prst="rect">
            <a:avLst/>
          </a:prstGeom>
          <a:noFill/>
        </p:spPr>
        <p:txBody>
          <a:bodyPr wrap="square" lIns="0" tIns="0" rIns="0" bIns="0">
            <a:spAutoFit/>
          </a:bodyPr>
          <a:lstStyle/>
          <a:p>
            <a:pPr>
              <a:defRPr sz="800">
                <a:solidFill>
                  <a:srgbClr val="E2E8F0"/>
                </a:solidFill>
                <a:latin typeface="Consolas"/>
              </a:defRPr>
            </a:pPr>
            <a:r>
              <a:t># docker-compose.yml: Microservice Orchestration</a:t>
            </a:r>
          </a:p>
          <a:p>
            <a:pPr>
              <a:defRPr sz="800">
                <a:solidFill>
                  <a:srgbClr val="E2E8F0"/>
                </a:solidFill>
                <a:latin typeface="Consolas"/>
              </a:defRPr>
            </a:pPr>
            <a:r>
              <a:t>version: '3.9'</a:t>
            </a:r>
          </a:p>
          <a:p>
            <a:pPr>
              <a:defRPr sz="800">
                <a:solidFill>
                  <a:srgbClr val="E2E8F0"/>
                </a:solidFill>
                <a:latin typeface="Consolas"/>
              </a:defRPr>
            </a:pPr>
            <a:r>
              <a:t>services:</a:t>
            </a:r>
          </a:p>
          <a:p>
            <a:pPr>
              <a:defRPr sz="800">
                <a:solidFill>
                  <a:srgbClr val="E2E8F0"/>
                </a:solidFill>
                <a:latin typeface="Consolas"/>
              </a:defRPr>
            </a:pPr>
            <a:r>
              <a:t>  db:</a:t>
            </a:r>
          </a:p>
          <a:p>
            <a:pPr>
              <a:defRPr sz="800">
                <a:solidFill>
                  <a:srgbClr val="E2E8F0"/>
                </a:solidFill>
                <a:latin typeface="Consolas"/>
              </a:defRPr>
            </a:pPr>
            <a:r>
              <a:t>    image: postgres:16-alpine</a:t>
            </a:r>
          </a:p>
          <a:p>
            <a:pPr>
              <a:defRPr sz="800">
                <a:solidFill>
                  <a:srgbClr val="E2E8F0"/>
                </a:solidFill>
                <a:latin typeface="Consolas"/>
              </a:defRPr>
            </a:pPr>
            <a:r>
              <a:t>    container_name: grantlens_postgres_db</a:t>
            </a:r>
          </a:p>
          <a:p>
            <a:pPr>
              <a:defRPr sz="800">
                <a:solidFill>
                  <a:srgbClr val="E2E8F0"/>
                </a:solidFill>
                <a:latin typeface="Consolas"/>
              </a:defRPr>
            </a:pPr>
            <a:r>
              <a:t>    environment:</a:t>
            </a:r>
          </a:p>
          <a:p>
            <a:pPr>
              <a:defRPr sz="800">
                <a:solidFill>
                  <a:srgbClr val="E2E8F0"/>
                </a:solidFill>
                <a:latin typeface="Consolas"/>
              </a:defRPr>
            </a:pPr>
            <a:r>
              <a:t>      POSTGRES_USER: grantlens_admin</a:t>
            </a:r>
          </a:p>
          <a:p>
            <a:pPr>
              <a:defRPr sz="800">
                <a:solidFill>
                  <a:srgbClr val="E2E8F0"/>
                </a:solidFill>
                <a:latin typeface="Consolas"/>
              </a:defRPr>
            </a:pPr>
            <a:r>
              <a:t>      POSTGRES_PASSWORD: secure_grant_pwd_962</a:t>
            </a:r>
          </a:p>
          <a:p>
            <a:pPr>
              <a:defRPr sz="800">
                <a:solidFill>
                  <a:srgbClr val="E2E8F0"/>
                </a:solidFill>
                <a:latin typeface="Consolas"/>
              </a:defRPr>
            </a:pPr>
            <a:r>
              <a:t>      POSTGRES_DB: grantlens_db</a:t>
            </a:r>
          </a:p>
          <a:p>
            <a:pPr>
              <a:defRPr sz="800">
                <a:solidFill>
                  <a:srgbClr val="E2E8F0"/>
                </a:solidFill>
                <a:latin typeface="Consolas"/>
              </a:defRPr>
            </a:pPr>
            <a:r>
              <a:t>    ports: ["5432:5432"]</a:t>
            </a:r>
          </a:p>
          <a:p>
            <a:pPr>
              <a:defRPr sz="800">
                <a:solidFill>
                  <a:srgbClr val="E2E8F0"/>
                </a:solidFill>
                <a:latin typeface="Consolas"/>
              </a:defRPr>
            </a:pPr>
            <a:r>
              <a:t>    volumes: [ pg_data:/var/lib/postgresql/data ]</a:t>
            </a:r>
          </a:p>
          <a:p>
            <a:pPr>
              <a:defRPr sz="800">
                <a:solidFill>
                  <a:srgbClr val="E2E8F0"/>
                </a:solidFill>
                <a:latin typeface="Consolas"/>
              </a:defRPr>
            </a:pPr>
            <a:r>
              <a:t>    healthcheck:</a:t>
            </a:r>
          </a:p>
          <a:p>
            <a:pPr>
              <a:defRPr sz="800">
                <a:solidFill>
                  <a:srgbClr val="E2E8F0"/>
                </a:solidFill>
                <a:latin typeface="Consolas"/>
              </a:defRPr>
            </a:pPr>
            <a:r>
              <a:t>      test: ["CMD-SHELL", "pg_isready -U grantlens_admin -d grantlens_db"]</a:t>
            </a:r>
          </a:p>
          <a:p>
            <a:pPr>
              <a:defRPr sz="800">
                <a:solidFill>
                  <a:srgbClr val="E2E8F0"/>
                </a:solidFill>
                <a:latin typeface="Consolas"/>
              </a:defRPr>
            </a:pPr>
            <a:r>
              <a:t>      interval: 5s</a:t>
            </a:r>
          </a:p>
          <a:p>
            <a:pPr>
              <a:defRPr sz="800">
                <a:solidFill>
                  <a:srgbClr val="E2E8F0"/>
                </a:solidFill>
                <a:latin typeface="Consolas"/>
              </a:defRPr>
            </a:pPr>
            <a:r>
              <a:t>      timeout: 5s</a:t>
            </a:r>
          </a:p>
          <a:p>
            <a:pPr>
              <a:defRPr sz="800">
                <a:solidFill>
                  <a:srgbClr val="E2E8F0"/>
                </a:solidFill>
                <a:latin typeface="Consolas"/>
              </a:defRPr>
            </a:pPr>
            <a:r>
              <a:t>      retries: 5</a:t>
            </a:r>
          </a:p>
          <a:p>
            <a:pPr>
              <a:defRPr sz="800">
                <a:solidFill>
                  <a:srgbClr val="E2E8F0"/>
                </a:solidFill>
                <a:latin typeface="Consolas"/>
              </a:defRPr>
            </a:pPr>
          </a:p>
          <a:p>
            <a:pPr>
              <a:defRPr sz="800">
                <a:solidFill>
                  <a:srgbClr val="E2E8F0"/>
                </a:solidFill>
                <a:latin typeface="Consolas"/>
              </a:defRPr>
            </a:pPr>
            <a:r>
              <a:t>  web:</a:t>
            </a:r>
          </a:p>
          <a:p>
            <a:pPr>
              <a:defRPr sz="800">
                <a:solidFill>
                  <a:srgbClr val="E2E8F0"/>
                </a:solidFill>
                <a:latin typeface="Consolas"/>
              </a:defRPr>
            </a:pPr>
            <a:r>
              <a:t>    build: { context: ./backend, dockerfile: Dockerfile }</a:t>
            </a:r>
          </a:p>
          <a:p>
            <a:pPr>
              <a:defRPr sz="800">
                <a:solidFill>
                  <a:srgbClr val="E2E8F0"/>
                </a:solidFill>
                <a:latin typeface="Consolas"/>
              </a:defRPr>
            </a:pPr>
            <a:r>
              <a:t>    container_name: grantlens_fastapi_web</a:t>
            </a:r>
          </a:p>
          <a:p>
            <a:pPr>
              <a:defRPr sz="800">
                <a:solidFill>
                  <a:srgbClr val="E2E8F0"/>
                </a:solidFill>
                <a:latin typeface="Consolas"/>
              </a:defRPr>
            </a:pPr>
            <a:r>
              <a:t>    ports: ["8000:8000"]</a:t>
            </a:r>
          </a:p>
          <a:p>
            <a:pPr>
              <a:defRPr sz="800">
                <a:solidFill>
                  <a:srgbClr val="E2E8F0"/>
                </a:solidFill>
                <a:latin typeface="Consolas"/>
              </a:defRPr>
            </a:pPr>
            <a:r>
              <a:t>    volumes: [ ./backend:/app, upload_cache:/app/storage/uploads ]</a:t>
            </a:r>
          </a:p>
          <a:p>
            <a:pPr>
              <a:defRPr sz="800">
                <a:solidFill>
                  <a:srgbClr val="E2E8F0"/>
                </a:solidFill>
                <a:latin typeface="Consolas"/>
              </a:defRPr>
            </a:pPr>
            <a:r>
              <a:t>    environment:</a:t>
            </a:r>
          </a:p>
          <a:p>
            <a:pPr>
              <a:defRPr sz="800">
                <a:solidFill>
                  <a:srgbClr val="E2E8F0"/>
                </a:solidFill>
                <a:latin typeface="Consolas"/>
              </a:defRPr>
            </a:pPr>
            <a:r>
              <a:t>      - DATABASE_URL=postgresql+asyncpg://grantlens_admin:pwd@db:5432/grantlens_db</a:t>
            </a:r>
          </a:p>
          <a:p>
            <a:pPr>
              <a:defRPr sz="800">
                <a:solidFill>
                  <a:srgbClr val="E2E8F0"/>
                </a:solidFill>
                <a:latin typeface="Consolas"/>
              </a:defRPr>
            </a:pPr>
            <a:r>
              <a:t>      - JWT_SECRET_KEY=e3b0c44298fc1c149afbf4c8996fb92427ae41e4649b...</a:t>
            </a:r>
          </a:p>
          <a:p>
            <a:pPr>
              <a:defRPr sz="800">
                <a:solidFill>
                  <a:srgbClr val="E2E8F0"/>
                </a:solidFill>
                <a:latin typeface="Consolas"/>
              </a:defRPr>
            </a:pPr>
            <a:r>
              <a:t>    depends_on:</a:t>
            </a:r>
          </a:p>
          <a:p>
            <a:pPr>
              <a:defRPr sz="800">
                <a:solidFill>
                  <a:srgbClr val="E2E8F0"/>
                </a:solidFill>
                <a:latin typeface="Consolas"/>
              </a:defRPr>
            </a:pPr>
            <a:r>
              <a:t>      db: { condition: service_healthy }</a:t>
            </a:r>
          </a:p>
        </p:txBody>
      </p:sp>
      <p:sp>
        <p:nvSpPr>
          <p:cNvPr id="7" name="Rounded Rectangle 6"/>
          <p:cNvSpPr/>
          <p:nvPr/>
        </p:nvSpPr>
        <p:spPr>
          <a:xfrm>
            <a:off x="6583680" y="1371600"/>
            <a:ext cx="4876495" cy="4846320"/>
          </a:xfrm>
          <a:prstGeom prst="roundRect">
            <a:avLst/>
          </a:prstGeom>
          <a:solidFill>
            <a:srgbClr val="121E31"/>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12280" y="1554480"/>
            <a:ext cx="4419295" cy="4480560"/>
          </a:xfrm>
          <a:prstGeom prst="rect">
            <a:avLst/>
          </a:prstGeom>
          <a:noFill/>
        </p:spPr>
        <p:txBody>
          <a:bodyPr wrap="square" lIns="0" tIns="0" rIns="0" bIns="0">
            <a:spAutoFit/>
          </a:bodyPr>
          <a:lstStyle/>
          <a:p>
            <a:pPr>
              <a:defRPr sz="1100" b="1">
                <a:solidFill>
                  <a:srgbClr val="F97316"/>
                </a:solidFill>
                <a:latin typeface="Arial"/>
              </a:defRPr>
            </a:pPr>
            <a:r>
              <a:t>⚡ IMPACT ON WEBSITE &amp; USER EXPERIENCE</a:t>
            </a:r>
          </a:p>
          <a:p>
            <a:pPr>
              <a:defRPr sz="1300" b="1">
                <a:solidFill>
                  <a:srgbClr val="FFFFFF"/>
                </a:solidFill>
                <a:latin typeface="Arial"/>
              </a:defRPr>
            </a:pPr>
            <a:r>
              <a:t>How Docker Containerization Impacts the Website</a:t>
            </a:r>
          </a:p>
          <a:p>
            <a:pPr>
              <a:defRPr sz="950" b="1">
                <a:solidFill>
                  <a:srgbClr val="38BDF8"/>
                </a:solidFill>
                <a:latin typeface="Arial"/>
              </a:defRPr>
            </a:pPr>
            <a:r>
              <a:t>• Zero 'Works on My Machine' Inconsistencies: </a:t>
            </a:r>
          </a:p>
          <a:p>
            <a:pPr>
              <a:defRPr sz="900">
                <a:solidFill>
                  <a:srgbClr val="94A3B8"/>
                </a:solidFill>
                <a:latin typeface="Arial"/>
              </a:defRPr>
            </a:pPr>
            <a:r>
              <a:t>  Every developer, researcher, and university grant reviewer runs the exact same Python 3.11 Debian environment with identical font rendering libraries.</a:t>
            </a:r>
          </a:p>
          <a:p>
            <a:pPr>
              <a:defRPr sz="950" b="1">
                <a:solidFill>
                  <a:srgbClr val="38BDF8"/>
                </a:solidFill>
                <a:latin typeface="Arial"/>
              </a:defRPr>
            </a:pPr>
            <a:r>
              <a:t>• Native C Compilation Toolchain: </a:t>
            </a:r>
          </a:p>
          <a:p>
            <a:pPr>
              <a:defRPr sz="900">
                <a:solidFill>
                  <a:srgbClr val="94A3B8"/>
                </a:solidFill>
                <a:latin typeface="Arial"/>
              </a:defRPr>
            </a:pPr>
            <a:r>
              <a:t>  PyMuPDF (fitz) and pdfplumber rely on compiled C libraries (libmupdf-dev, zlib1g-dev). Docker guarantees these libraries exist, preventing runtime server crashes on PDF uploads.</a:t>
            </a:r>
          </a:p>
          <a:p>
            <a:pPr>
              <a:defRPr sz="950" b="1">
                <a:solidFill>
                  <a:srgbClr val="38BDF8"/>
                </a:solidFill>
                <a:latin typeface="Arial"/>
              </a:defRPr>
            </a:pPr>
            <a:r>
              <a:t>• Persistent Audit History Across Restarts: </a:t>
            </a:r>
          </a:p>
          <a:p>
            <a:pPr>
              <a:defRPr sz="900">
                <a:solidFill>
                  <a:srgbClr val="94A3B8"/>
                </a:solidFill>
                <a:latin typeface="Arial"/>
              </a:defRPr>
            </a:pPr>
            <a:r>
              <a:t>  Named Docker volumes (pg_data) persist submissions, user accounts, and compliance scores even if containers are stopped or rebooted.</a:t>
            </a:r>
          </a:p>
          <a:p>
            <a:pPr>
              <a:defRPr sz="950" b="1">
                <a:solidFill>
                  <a:srgbClr val="38BDF8"/>
                </a:solidFill>
                <a:latin typeface="Arial"/>
              </a:defRPr>
            </a:pPr>
            <a:r>
              <a:t>• Automatic Service Self-Healing: </a:t>
            </a:r>
          </a:p>
          <a:p>
            <a:pPr>
              <a:defRPr sz="900">
                <a:solidFill>
                  <a:srgbClr val="94A3B8"/>
                </a:solidFill>
                <a:latin typeface="Arial"/>
              </a:defRPr>
            </a:pPr>
            <a:r>
              <a:t>  Health-check conditions prevent the web backend from booting until PostgreSQL is verified healthy, eliminating 500 Internal Server Errors on cold boot.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0A12"/>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000" b="1">
                <a:solidFill>
                  <a:srgbClr val="F97316"/>
                </a:solidFill>
                <a:latin typeface="Arial"/>
              </a:defRPr>
            </a:pPr>
            <a:r>
              <a:t>COMPONENT 2: DATA PERSISTENCE</a:t>
            </a:r>
          </a:p>
        </p:txBody>
      </p:sp>
      <p:sp>
        <p:nvSpPr>
          <p:cNvPr id="3" name="TextBox 2"/>
          <p:cNvSpPr txBox="1"/>
          <p:nvPr/>
        </p:nvSpPr>
        <p:spPr>
          <a:xfrm>
            <a:off x="731520" y="658368"/>
            <a:ext cx="10515600" cy="502920"/>
          </a:xfrm>
          <a:prstGeom prst="rect">
            <a:avLst/>
          </a:prstGeom>
          <a:noFill/>
        </p:spPr>
        <p:txBody>
          <a:bodyPr wrap="square" lIns="0" tIns="0" rIns="0" bIns="0">
            <a:spAutoFit/>
          </a:bodyPr>
          <a:lstStyle/>
          <a:p>
            <a:pPr>
              <a:defRPr sz="2000" b="1">
                <a:solidFill>
                  <a:srgbClr val="FFFFFF"/>
                </a:solidFill>
                <a:latin typeface="Arial"/>
              </a:defRPr>
            </a:pPr>
            <a:r>
              <a:t>SQLAlchemy 2.0 Async Session Pool (`database.py`)</a:t>
            </a:r>
          </a:p>
          <a:p>
            <a:pPr>
              <a:defRPr sz="1050">
                <a:solidFill>
                  <a:srgbClr val="38BDF8"/>
                </a:solidFill>
                <a:latin typeface="Arial"/>
              </a:defRPr>
            </a:pPr>
            <a:r>
              <a:t>High-throughput asynchronous connection pooling for concurrent grant audits</a:t>
            </a:r>
          </a:p>
        </p:txBody>
      </p:sp>
      <p:sp>
        <p:nvSpPr>
          <p:cNvPr id="4" name="Rounded Rectangle 3"/>
          <p:cNvSpPr/>
          <p:nvPr/>
        </p:nvSpPr>
        <p:spPr>
          <a:xfrm>
            <a:off x="731520" y="1371600"/>
            <a:ext cx="5669280" cy="4846320"/>
          </a:xfrm>
          <a:prstGeom prst="roundRect">
            <a:avLst/>
          </a:prstGeom>
          <a:solidFill>
            <a:srgbClr val="0B0F19"/>
          </a:solidFill>
          <a:ln w="12700">
            <a:solidFill>
              <a:srgbClr val="1822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81328"/>
            <a:ext cx="5303520" cy="274320"/>
          </a:xfrm>
          <a:prstGeom prst="rect">
            <a:avLst/>
          </a:prstGeom>
          <a:noFill/>
        </p:spPr>
        <p:txBody>
          <a:bodyPr wrap="square" lIns="0" tIns="0" rIns="0" bIns="0">
            <a:spAutoFit/>
          </a:bodyPr>
          <a:lstStyle/>
          <a:p>
            <a:pPr>
              <a:defRPr sz="950" b="1">
                <a:solidFill>
                  <a:srgbClr val="38BDF8"/>
                </a:solidFill>
                <a:latin typeface="Consolas"/>
              </a:defRPr>
            </a:pPr>
            <a:r>
              <a:t>&gt; backend/database.py</a:t>
            </a:r>
          </a:p>
        </p:txBody>
      </p:sp>
      <p:sp>
        <p:nvSpPr>
          <p:cNvPr id="6" name="TextBox 5"/>
          <p:cNvSpPr txBox="1"/>
          <p:nvPr/>
        </p:nvSpPr>
        <p:spPr>
          <a:xfrm>
            <a:off x="914400" y="1755648"/>
            <a:ext cx="5303520" cy="4343400"/>
          </a:xfrm>
          <a:prstGeom prst="rect">
            <a:avLst/>
          </a:prstGeom>
          <a:noFill/>
        </p:spPr>
        <p:txBody>
          <a:bodyPr wrap="square" lIns="0" tIns="0" rIns="0" bIns="0">
            <a:spAutoFit/>
          </a:bodyPr>
          <a:lstStyle/>
          <a:p>
            <a:pPr>
              <a:defRPr sz="800">
                <a:solidFill>
                  <a:srgbClr val="E2E8F0"/>
                </a:solidFill>
                <a:latin typeface="Consolas"/>
              </a:defRPr>
            </a:pPr>
            <a:r>
              <a:t># backend/database.py: Async Engine &amp; Session Factory</a:t>
            </a:r>
          </a:p>
          <a:p>
            <a:pPr>
              <a:defRPr sz="800">
                <a:solidFill>
                  <a:srgbClr val="E2E8F0"/>
                </a:solidFill>
                <a:latin typeface="Consolas"/>
              </a:defRPr>
            </a:pPr>
            <a:r>
              <a:t>from sqlalchemy.ext.asyncio import (</a:t>
            </a:r>
          </a:p>
          <a:p>
            <a:pPr>
              <a:defRPr sz="800">
                <a:solidFill>
                  <a:srgbClr val="E2E8F0"/>
                </a:solidFill>
                <a:latin typeface="Consolas"/>
              </a:defRPr>
            </a:pPr>
            <a:r>
              <a:t>    AsyncSession, async_sessionmaker, create_async_engine</a:t>
            </a:r>
          </a:p>
          <a:p>
            <a:pPr>
              <a:defRPr sz="800">
                <a:solidFill>
                  <a:srgbClr val="E2E8F0"/>
                </a:solidFill>
                <a:latin typeface="Consolas"/>
              </a:defRPr>
            </a:pPr>
            <a:r>
              <a:t>)</a:t>
            </a:r>
          </a:p>
          <a:p>
            <a:pPr>
              <a:defRPr sz="800">
                <a:solidFill>
                  <a:srgbClr val="E2E8F0"/>
                </a:solidFill>
                <a:latin typeface="Consolas"/>
              </a:defRPr>
            </a:pPr>
            <a:r>
              <a:t>from sqlalchemy.orm import DeclarativeBase</a:t>
            </a:r>
          </a:p>
          <a:p>
            <a:pPr>
              <a:defRPr sz="800">
                <a:solidFill>
                  <a:srgbClr val="E2E8F0"/>
                </a:solidFill>
                <a:latin typeface="Consolas"/>
              </a:defRPr>
            </a:pPr>
          </a:p>
          <a:p>
            <a:pPr>
              <a:defRPr sz="800">
                <a:solidFill>
                  <a:srgbClr val="E2E8F0"/>
                </a:solidFill>
                <a:latin typeface="Consolas"/>
              </a:defRPr>
            </a:pPr>
            <a:r>
              <a:t>DATABASE_URL = os.getenv("DATABASE_URL", "sqlite+aiosqlite:///./grantlens.db")</a:t>
            </a:r>
          </a:p>
          <a:p>
            <a:pPr>
              <a:defRPr sz="800">
                <a:solidFill>
                  <a:srgbClr val="E2E8F0"/>
                </a:solidFill>
                <a:latin typeface="Consolas"/>
              </a:defRPr>
            </a:pPr>
          </a:p>
          <a:p>
            <a:pPr>
              <a:defRPr sz="800">
                <a:solidFill>
                  <a:srgbClr val="E2E8F0"/>
                </a:solidFill>
                <a:latin typeface="Consolas"/>
              </a:defRPr>
            </a:pPr>
            <a:r>
              <a:t>engine_kwargs = {"echo": os.getenv("ENVIRONMENT") == "development", "future": True}</a:t>
            </a:r>
          </a:p>
          <a:p>
            <a:pPr>
              <a:defRPr sz="800">
                <a:solidFill>
                  <a:srgbClr val="E2E8F0"/>
                </a:solidFill>
                <a:latin typeface="Consolas"/>
              </a:defRPr>
            </a:pPr>
            <a:r>
              <a:t>if "sqlite" not in DATABASE_URL:</a:t>
            </a:r>
          </a:p>
          <a:p>
            <a:pPr>
              <a:defRPr sz="800">
                <a:solidFill>
                  <a:srgbClr val="E2E8F0"/>
                </a:solidFill>
                <a:latin typeface="Consolas"/>
              </a:defRPr>
            </a:pPr>
            <a:r>
              <a:t>    engine_kwargs.update({</a:t>
            </a:r>
          </a:p>
          <a:p>
            <a:pPr>
              <a:defRPr sz="800">
                <a:solidFill>
                  <a:srgbClr val="E2E8F0"/>
                </a:solidFill>
                <a:latin typeface="Consolas"/>
              </a:defRPr>
            </a:pPr>
            <a:r>
              <a:t>        "pool_size": 20,       # 20 steady worker connections</a:t>
            </a:r>
          </a:p>
          <a:p>
            <a:pPr>
              <a:defRPr sz="800">
                <a:solidFill>
                  <a:srgbClr val="E2E8F0"/>
                </a:solidFill>
                <a:latin typeface="Consolas"/>
              </a:defRPr>
            </a:pPr>
            <a:r>
              <a:t>        "max_overflow": 10,    # 10 burst connections during rush</a:t>
            </a:r>
          </a:p>
          <a:p>
            <a:pPr>
              <a:defRPr sz="800">
                <a:solidFill>
                  <a:srgbClr val="E2E8F0"/>
                </a:solidFill>
                <a:latin typeface="Consolas"/>
              </a:defRPr>
            </a:pPr>
            <a:r>
              <a:t>        "pool_pre_ping": True  # Tests socket health before query</a:t>
            </a:r>
          </a:p>
          <a:p>
            <a:pPr>
              <a:defRPr sz="800">
                <a:solidFill>
                  <a:srgbClr val="E2E8F0"/>
                </a:solidFill>
                <a:latin typeface="Consolas"/>
              </a:defRPr>
            </a:pPr>
            <a:r>
              <a:t>    })</a:t>
            </a:r>
          </a:p>
          <a:p>
            <a:pPr>
              <a:defRPr sz="800">
                <a:solidFill>
                  <a:srgbClr val="E2E8F0"/>
                </a:solidFill>
                <a:latin typeface="Consolas"/>
              </a:defRPr>
            </a:pPr>
          </a:p>
          <a:p>
            <a:pPr>
              <a:defRPr sz="800">
                <a:solidFill>
                  <a:srgbClr val="E2E8F0"/>
                </a:solidFill>
                <a:latin typeface="Consolas"/>
              </a:defRPr>
            </a:pPr>
            <a:r>
              <a:t>engine = create_async_engine(DATABASE_URL, **engine_kwargs)</a:t>
            </a:r>
          </a:p>
          <a:p>
            <a:pPr>
              <a:defRPr sz="800">
                <a:solidFill>
                  <a:srgbClr val="E2E8F0"/>
                </a:solidFill>
                <a:latin typeface="Consolas"/>
              </a:defRPr>
            </a:pPr>
            <a:r>
              <a:t>AsyncSessionLocal = async_sessionmaker(</a:t>
            </a:r>
          </a:p>
          <a:p>
            <a:pPr>
              <a:defRPr sz="800">
                <a:solidFill>
                  <a:srgbClr val="E2E8F0"/>
                </a:solidFill>
                <a:latin typeface="Consolas"/>
              </a:defRPr>
            </a:pPr>
            <a:r>
              <a:t>    bind=engine, class_=AsyncSession, expire_on_commit=False</a:t>
            </a:r>
          </a:p>
          <a:p>
            <a:pPr>
              <a:defRPr sz="800">
                <a:solidFill>
                  <a:srgbClr val="E2E8F0"/>
                </a:solidFill>
                <a:latin typeface="Consolas"/>
              </a:defRPr>
            </a:pPr>
            <a:r>
              <a:t>)</a:t>
            </a:r>
          </a:p>
          <a:p>
            <a:pPr>
              <a:defRPr sz="800">
                <a:solidFill>
                  <a:srgbClr val="E2E8F0"/>
                </a:solidFill>
                <a:latin typeface="Consolas"/>
              </a:defRPr>
            </a:pPr>
          </a:p>
          <a:p>
            <a:pPr>
              <a:defRPr sz="800">
                <a:solidFill>
                  <a:srgbClr val="E2E8F0"/>
                </a:solidFill>
                <a:latin typeface="Consolas"/>
              </a:defRPr>
            </a:pPr>
            <a:r>
              <a:t>async def get_db() -&gt; AsyncGenerator[AsyncSession, None]:</a:t>
            </a:r>
          </a:p>
          <a:p>
            <a:pPr>
              <a:defRPr sz="800">
                <a:solidFill>
                  <a:srgbClr val="E2E8F0"/>
                </a:solidFill>
                <a:latin typeface="Consolas"/>
              </a:defRPr>
            </a:pPr>
            <a:r>
              <a:t>    async with AsyncSessionLocal() as session:</a:t>
            </a:r>
          </a:p>
          <a:p>
            <a:pPr>
              <a:defRPr sz="800">
                <a:solidFill>
                  <a:srgbClr val="E2E8F0"/>
                </a:solidFill>
                <a:latin typeface="Consolas"/>
              </a:defRPr>
            </a:pPr>
            <a:r>
              <a:t>        try:</a:t>
            </a:r>
          </a:p>
          <a:p>
            <a:pPr>
              <a:defRPr sz="800">
                <a:solidFill>
                  <a:srgbClr val="E2E8F0"/>
                </a:solidFill>
                <a:latin typeface="Consolas"/>
              </a:defRPr>
            </a:pPr>
            <a:r>
              <a:t>            yield session</a:t>
            </a:r>
          </a:p>
          <a:p>
            <a:pPr>
              <a:defRPr sz="800">
                <a:solidFill>
                  <a:srgbClr val="E2E8F0"/>
                </a:solidFill>
                <a:latin typeface="Consolas"/>
              </a:defRPr>
            </a:pPr>
            <a:r>
              <a:t>            await session.commit()</a:t>
            </a:r>
          </a:p>
          <a:p>
            <a:pPr>
              <a:defRPr sz="800">
                <a:solidFill>
                  <a:srgbClr val="E2E8F0"/>
                </a:solidFill>
                <a:latin typeface="Consolas"/>
              </a:defRPr>
            </a:pPr>
            <a:r>
              <a:t>        except Exception:</a:t>
            </a:r>
          </a:p>
          <a:p>
            <a:pPr>
              <a:defRPr sz="800">
                <a:solidFill>
                  <a:srgbClr val="E2E8F0"/>
                </a:solidFill>
                <a:latin typeface="Consolas"/>
              </a:defRPr>
            </a:pPr>
            <a:r>
              <a:t>            await session.rollback(); raise</a:t>
            </a:r>
          </a:p>
        </p:txBody>
      </p:sp>
      <p:sp>
        <p:nvSpPr>
          <p:cNvPr id="7" name="Rounded Rectangle 6"/>
          <p:cNvSpPr/>
          <p:nvPr/>
        </p:nvSpPr>
        <p:spPr>
          <a:xfrm>
            <a:off x="6583680" y="1371600"/>
            <a:ext cx="4876495" cy="4846320"/>
          </a:xfrm>
          <a:prstGeom prst="roundRect">
            <a:avLst/>
          </a:prstGeom>
          <a:solidFill>
            <a:srgbClr val="121E31"/>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12280" y="1554480"/>
            <a:ext cx="4419295" cy="4480560"/>
          </a:xfrm>
          <a:prstGeom prst="rect">
            <a:avLst/>
          </a:prstGeom>
          <a:noFill/>
        </p:spPr>
        <p:txBody>
          <a:bodyPr wrap="square" lIns="0" tIns="0" rIns="0" bIns="0">
            <a:spAutoFit/>
          </a:bodyPr>
          <a:lstStyle/>
          <a:p>
            <a:pPr>
              <a:defRPr sz="1100" b="1">
                <a:solidFill>
                  <a:srgbClr val="F97316"/>
                </a:solidFill>
                <a:latin typeface="Arial"/>
              </a:defRPr>
            </a:pPr>
            <a:r>
              <a:t>⚡ IMPACT ON WEBSITE &amp; USER EXPERIENCE</a:t>
            </a:r>
          </a:p>
          <a:p>
            <a:pPr>
              <a:defRPr sz="1300" b="1">
                <a:solidFill>
                  <a:srgbClr val="FFFFFF"/>
                </a:solidFill>
                <a:latin typeface="Arial"/>
              </a:defRPr>
            </a:pPr>
            <a:r>
              <a:t>How Async Database Architecture Impacts the Website</a:t>
            </a:r>
          </a:p>
          <a:p>
            <a:pPr>
              <a:defRPr sz="950" b="1">
                <a:solidFill>
                  <a:srgbClr val="38BDF8"/>
                </a:solidFill>
                <a:latin typeface="Arial"/>
              </a:defRPr>
            </a:pPr>
            <a:r>
              <a:t>• Non-Blocking UI Responses: </a:t>
            </a:r>
          </a:p>
          <a:p>
            <a:pPr>
              <a:defRPr sz="900">
                <a:solidFill>
                  <a:srgbClr val="94A3B8"/>
                </a:solidFill>
                <a:latin typeface="Arial"/>
              </a:defRPr>
            </a:pPr>
            <a:r>
              <a:t>  While a 50-page PDF proposal is being parsed and stored, the async database engine does not block other researchers from logging in or loading their dashboard.</a:t>
            </a:r>
          </a:p>
          <a:p>
            <a:pPr>
              <a:defRPr sz="950" b="1">
                <a:solidFill>
                  <a:srgbClr val="38BDF8"/>
                </a:solidFill>
                <a:latin typeface="Arial"/>
              </a:defRPr>
            </a:pPr>
            <a:r>
              <a:t>• Connection Pool Pre-Ping: </a:t>
            </a:r>
          </a:p>
          <a:p>
            <a:pPr>
              <a:defRPr sz="900">
                <a:solidFill>
                  <a:srgbClr val="94A3B8"/>
                </a:solidFill>
                <a:latin typeface="Arial"/>
              </a:defRPr>
            </a:pPr>
            <a:r>
              <a:t>  pool_pre_ping=True automatically discards broken or dropped database sockets, preventing researchers from seeing random connection drop errors.</a:t>
            </a:r>
          </a:p>
          <a:p>
            <a:pPr>
              <a:defRPr sz="950" b="1">
                <a:solidFill>
                  <a:srgbClr val="38BDF8"/>
                </a:solidFill>
                <a:latin typeface="Arial"/>
              </a:defRPr>
            </a:pPr>
            <a:r>
              <a:t>• Automatic Transaction Rollbacks: </a:t>
            </a:r>
          </a:p>
          <a:p>
            <a:pPr>
              <a:defRPr sz="900">
                <a:solidFill>
                  <a:srgbClr val="94A3B8"/>
                </a:solidFill>
                <a:latin typeface="Arial"/>
              </a:defRPr>
            </a:pPr>
            <a:r>
              <a:t>  If an error occurs while writing an audit finding, the entire submission transaction rolls back safely, preventing corrupted half-saved submissions in the UI.</a:t>
            </a:r>
          </a:p>
          <a:p>
            <a:pPr>
              <a:defRPr sz="950" b="1">
                <a:solidFill>
                  <a:srgbClr val="38BDF8"/>
                </a:solidFill>
                <a:latin typeface="Arial"/>
              </a:defRPr>
            </a:pPr>
            <a:r>
              <a:t>• Dual PostgreSQL &amp; SQLite Dev Support: </a:t>
            </a:r>
          </a:p>
          <a:p>
            <a:pPr>
              <a:defRPr sz="900">
                <a:solidFill>
                  <a:srgbClr val="94A3B8"/>
                </a:solidFill>
                <a:latin typeface="Arial"/>
              </a:defRPr>
            </a:pPr>
            <a:r>
              <a:t>  Seamlessly falls back to local SQLite when Docker is offline, ensuring continuous offline development for frontend engineers.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0A12"/>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000" b="1">
                <a:solidFill>
                  <a:srgbClr val="F97316"/>
                </a:solidFill>
                <a:latin typeface="Arial"/>
              </a:defRPr>
            </a:pPr>
            <a:r>
              <a:t>COMPONENT 3: RELATIONAL MODELING</a:t>
            </a:r>
          </a:p>
        </p:txBody>
      </p:sp>
      <p:sp>
        <p:nvSpPr>
          <p:cNvPr id="3" name="TextBox 2"/>
          <p:cNvSpPr txBox="1"/>
          <p:nvPr/>
        </p:nvSpPr>
        <p:spPr>
          <a:xfrm>
            <a:off x="731520" y="658368"/>
            <a:ext cx="10515600" cy="502920"/>
          </a:xfrm>
          <a:prstGeom prst="rect">
            <a:avLst/>
          </a:prstGeom>
          <a:noFill/>
        </p:spPr>
        <p:txBody>
          <a:bodyPr wrap="square" lIns="0" tIns="0" rIns="0" bIns="0">
            <a:spAutoFit/>
          </a:bodyPr>
          <a:lstStyle/>
          <a:p>
            <a:pPr>
              <a:defRPr sz="2000" b="1">
                <a:solidFill>
                  <a:srgbClr val="FFFFFF"/>
                </a:solidFill>
                <a:latin typeface="Arial"/>
              </a:defRPr>
            </a:pPr>
            <a:r>
              <a:t>Normalized Schemas &amp; UUID Primary Keys (`models.py`)</a:t>
            </a:r>
          </a:p>
          <a:p>
            <a:pPr>
              <a:defRPr sz="1050">
                <a:solidFill>
                  <a:srgbClr val="38BDF8"/>
                </a:solidFill>
                <a:latin typeface="Arial"/>
              </a:defRPr>
            </a:pPr>
            <a:r>
              <a:t>Structuring submissions, documents, findings, and budget line items</a:t>
            </a:r>
          </a:p>
        </p:txBody>
      </p:sp>
      <p:sp>
        <p:nvSpPr>
          <p:cNvPr id="4" name="Rounded Rectangle 3"/>
          <p:cNvSpPr/>
          <p:nvPr/>
        </p:nvSpPr>
        <p:spPr>
          <a:xfrm>
            <a:off x="731520" y="1371600"/>
            <a:ext cx="5669280" cy="4846320"/>
          </a:xfrm>
          <a:prstGeom prst="roundRect">
            <a:avLst/>
          </a:prstGeom>
          <a:solidFill>
            <a:srgbClr val="0B0F19"/>
          </a:solidFill>
          <a:ln w="12700">
            <a:solidFill>
              <a:srgbClr val="1822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81328"/>
            <a:ext cx="5303520" cy="274320"/>
          </a:xfrm>
          <a:prstGeom prst="rect">
            <a:avLst/>
          </a:prstGeom>
          <a:noFill/>
        </p:spPr>
        <p:txBody>
          <a:bodyPr wrap="square" lIns="0" tIns="0" rIns="0" bIns="0">
            <a:spAutoFit/>
          </a:bodyPr>
          <a:lstStyle/>
          <a:p>
            <a:pPr>
              <a:defRPr sz="950" b="1">
                <a:solidFill>
                  <a:srgbClr val="38BDF8"/>
                </a:solidFill>
                <a:latin typeface="Consolas"/>
              </a:defRPr>
            </a:pPr>
            <a:r>
              <a:t>&gt; backend/models.py</a:t>
            </a:r>
          </a:p>
        </p:txBody>
      </p:sp>
      <p:sp>
        <p:nvSpPr>
          <p:cNvPr id="6" name="TextBox 5"/>
          <p:cNvSpPr txBox="1"/>
          <p:nvPr/>
        </p:nvSpPr>
        <p:spPr>
          <a:xfrm>
            <a:off x="914400" y="1755648"/>
            <a:ext cx="5303520" cy="4343400"/>
          </a:xfrm>
          <a:prstGeom prst="rect">
            <a:avLst/>
          </a:prstGeom>
          <a:noFill/>
        </p:spPr>
        <p:txBody>
          <a:bodyPr wrap="square" lIns="0" tIns="0" rIns="0" bIns="0">
            <a:spAutoFit/>
          </a:bodyPr>
          <a:lstStyle/>
          <a:p>
            <a:pPr>
              <a:defRPr sz="800">
                <a:solidFill>
                  <a:srgbClr val="E2E8F0"/>
                </a:solidFill>
                <a:latin typeface="Consolas"/>
              </a:defRPr>
            </a:pPr>
            <a:r>
              <a:t># backend/models.py: Relational Schema Definition</a:t>
            </a:r>
          </a:p>
          <a:p>
            <a:pPr>
              <a:defRPr sz="800">
                <a:solidFill>
                  <a:srgbClr val="E2E8F0"/>
                </a:solidFill>
                <a:latin typeface="Consolas"/>
              </a:defRPr>
            </a:pPr>
            <a:r>
              <a:t>class GrantSubmission(Base):</a:t>
            </a:r>
          </a:p>
          <a:p>
            <a:pPr>
              <a:defRPr sz="800">
                <a:solidFill>
                  <a:srgbClr val="E2E8F0"/>
                </a:solidFill>
                <a:latin typeface="Consolas"/>
              </a:defRPr>
            </a:pPr>
            <a:r>
              <a:t>    __tablename__ = "grant_submissions"</a:t>
            </a:r>
          </a:p>
          <a:p>
            <a:pPr>
              <a:defRPr sz="800">
                <a:solidFill>
                  <a:srgbClr val="E2E8F0"/>
                </a:solidFill>
                <a:latin typeface="Consolas"/>
              </a:defRPr>
            </a:pPr>
            <a:r>
              <a:t>    id: Mapped[uuid.UUID] = mapped_column(UUID(as_uuid=True), primary_key=True, default=uuid.uuid4)</a:t>
            </a:r>
          </a:p>
          <a:p>
            <a:pPr>
              <a:defRPr sz="800">
                <a:solidFill>
                  <a:srgbClr val="E2E8F0"/>
                </a:solidFill>
                <a:latin typeface="Consolas"/>
              </a:defRPr>
            </a:pPr>
            <a:r>
              <a:t>    user_id: Mapped[uuid.UUID] = mapped_column(ForeignKey("users.id", ondelete="CASCADE"))</a:t>
            </a:r>
          </a:p>
          <a:p>
            <a:pPr>
              <a:defRPr sz="800">
                <a:solidFill>
                  <a:srgbClr val="E2E8F0"/>
                </a:solidFill>
                <a:latin typeface="Consolas"/>
              </a:defRPr>
            </a:pPr>
            <a:r>
              <a:t>    title: Mapped[str] = mapped_column(String(500))</a:t>
            </a:r>
          </a:p>
          <a:p>
            <a:pPr>
              <a:defRPr sz="800">
                <a:solidFill>
                  <a:srgbClr val="E2E8F0"/>
                </a:solidFill>
                <a:latin typeface="Consolas"/>
              </a:defRPr>
            </a:pPr>
            <a:r>
              <a:t>    funding_agency: Mapped[str] = mapped_column(String(255), index=True)</a:t>
            </a:r>
          </a:p>
          <a:p>
            <a:pPr>
              <a:defRPr sz="800">
                <a:solidFill>
                  <a:srgbClr val="E2E8F0"/>
                </a:solidFill>
                <a:latin typeface="Consolas"/>
              </a:defRPr>
            </a:pPr>
            <a:r>
              <a:t>    status: Mapped[str] = mapped_column(String(50), default="INGESTED")</a:t>
            </a:r>
          </a:p>
          <a:p>
            <a:pPr>
              <a:defRPr sz="800">
                <a:solidFill>
                  <a:srgbClr val="E2E8F0"/>
                </a:solidFill>
                <a:latin typeface="Consolas"/>
              </a:defRPr>
            </a:pPr>
            <a:r>
              <a:t>    documents: Mapped[List["Document"]] = relationship(back_populates="submission", cascade="all, delete-orphan")</a:t>
            </a:r>
          </a:p>
          <a:p>
            <a:pPr>
              <a:defRPr sz="800">
                <a:solidFill>
                  <a:srgbClr val="E2E8F0"/>
                </a:solidFill>
                <a:latin typeface="Consolas"/>
              </a:defRPr>
            </a:pPr>
            <a:r>
              <a:t>    audit_reports: Mapped[List["AuditReport"]] = relationship(back_populates="submission", cascade="all, delete-orphan")</a:t>
            </a:r>
          </a:p>
          <a:p>
            <a:pPr>
              <a:defRPr sz="800">
                <a:solidFill>
                  <a:srgbClr val="E2E8F0"/>
                </a:solidFill>
                <a:latin typeface="Consolas"/>
              </a:defRPr>
            </a:pPr>
            <a:r>
              <a:t>    budget_items: Mapped[List["BudgetLineItem"]] = relationship(back_populates="submission", cascade="all, delete-orphan")</a:t>
            </a:r>
          </a:p>
          <a:p>
            <a:pPr>
              <a:defRPr sz="800">
                <a:solidFill>
                  <a:srgbClr val="E2E8F0"/>
                </a:solidFill>
                <a:latin typeface="Consolas"/>
              </a:defRPr>
            </a:pPr>
          </a:p>
          <a:p>
            <a:pPr>
              <a:defRPr sz="800">
                <a:solidFill>
                  <a:srgbClr val="E2E8F0"/>
                </a:solidFill>
                <a:latin typeface="Consolas"/>
              </a:defRPr>
            </a:pPr>
            <a:r>
              <a:t>class AuditReport(Base):</a:t>
            </a:r>
          </a:p>
          <a:p>
            <a:pPr>
              <a:defRPr sz="800">
                <a:solidFill>
                  <a:srgbClr val="E2E8F0"/>
                </a:solidFill>
                <a:latin typeface="Consolas"/>
              </a:defRPr>
            </a:pPr>
            <a:r>
              <a:t>    __tablename__ = "audit_reports"</a:t>
            </a:r>
          </a:p>
          <a:p>
            <a:pPr>
              <a:defRPr sz="800">
                <a:solidFill>
                  <a:srgbClr val="E2E8F0"/>
                </a:solidFill>
                <a:latin typeface="Consolas"/>
              </a:defRPr>
            </a:pPr>
            <a:r>
              <a:t>    total_score: Mapped[float] = mapped_column(Float, default=100.0)</a:t>
            </a:r>
          </a:p>
          <a:p>
            <a:pPr>
              <a:defRPr sz="800">
                <a:solidFill>
                  <a:srgbClr val="E2E8F0"/>
                </a:solidFill>
                <a:latin typeface="Consolas"/>
              </a:defRPr>
            </a:pPr>
            <a:r>
              <a:t>    status: Mapped[AuditStatus] = mapped_column(Enum(AuditStatus), default=AuditStatus.PASSED)</a:t>
            </a:r>
          </a:p>
          <a:p>
            <a:pPr>
              <a:defRPr sz="800">
                <a:solidFill>
                  <a:srgbClr val="E2E8F0"/>
                </a:solidFill>
                <a:latin typeface="Consolas"/>
              </a:defRPr>
            </a:pPr>
            <a:r>
              <a:t>    institutional_signoff_ready: Mapped[bool] = mapped_column(Boolean, default=False)</a:t>
            </a:r>
          </a:p>
          <a:p>
            <a:pPr>
              <a:defRPr sz="800">
                <a:solidFill>
                  <a:srgbClr val="E2E8F0"/>
                </a:solidFill>
                <a:latin typeface="Consolas"/>
              </a:defRPr>
            </a:pPr>
            <a:r>
              <a:t>    findings: Mapped[List["AuditFinding"]] = relationship(cascade="all, delete-orphan")</a:t>
            </a:r>
          </a:p>
        </p:txBody>
      </p:sp>
      <p:sp>
        <p:nvSpPr>
          <p:cNvPr id="7" name="Rounded Rectangle 6"/>
          <p:cNvSpPr/>
          <p:nvPr/>
        </p:nvSpPr>
        <p:spPr>
          <a:xfrm>
            <a:off x="6583680" y="1371600"/>
            <a:ext cx="4876495" cy="4846320"/>
          </a:xfrm>
          <a:prstGeom prst="roundRect">
            <a:avLst/>
          </a:prstGeom>
          <a:solidFill>
            <a:srgbClr val="121E31"/>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12280" y="1554480"/>
            <a:ext cx="4419295" cy="4480560"/>
          </a:xfrm>
          <a:prstGeom prst="rect">
            <a:avLst/>
          </a:prstGeom>
          <a:noFill/>
        </p:spPr>
        <p:txBody>
          <a:bodyPr wrap="square" lIns="0" tIns="0" rIns="0" bIns="0">
            <a:spAutoFit/>
          </a:bodyPr>
          <a:lstStyle/>
          <a:p>
            <a:pPr>
              <a:defRPr sz="1100" b="1">
                <a:solidFill>
                  <a:srgbClr val="F97316"/>
                </a:solidFill>
                <a:latin typeface="Arial"/>
              </a:defRPr>
            </a:pPr>
            <a:r>
              <a:t>⚡ IMPACT ON WEBSITE &amp; USER EXPERIENCE</a:t>
            </a:r>
          </a:p>
          <a:p>
            <a:pPr>
              <a:defRPr sz="1300" b="1">
                <a:solidFill>
                  <a:srgbClr val="FFFFFF"/>
                </a:solidFill>
                <a:latin typeface="Arial"/>
              </a:defRPr>
            </a:pPr>
            <a:r>
              <a:t>How Data Modeling Impacts the Website</a:t>
            </a:r>
          </a:p>
          <a:p>
            <a:pPr>
              <a:defRPr sz="950" b="1">
                <a:solidFill>
                  <a:srgbClr val="38BDF8"/>
                </a:solidFill>
                <a:latin typeface="Arial"/>
              </a:defRPr>
            </a:pPr>
            <a:r>
              <a:t>• Audit Traceability &amp; Compliance History: </a:t>
            </a:r>
          </a:p>
          <a:p>
            <a:pPr>
              <a:defRPr sz="900">
                <a:solidFill>
                  <a:srgbClr val="94A3B8"/>
                </a:solidFill>
                <a:latin typeface="Arial"/>
              </a:defRPr>
            </a:pPr>
            <a:r>
              <a:t>  Every uploaded proposal maintains a permanent relational link to its exact audit report, findings, and parsed budget sheet for university SRO auditing.</a:t>
            </a:r>
          </a:p>
          <a:p>
            <a:pPr>
              <a:defRPr sz="950" b="1">
                <a:solidFill>
                  <a:srgbClr val="38BDF8"/>
                </a:solidFill>
                <a:latin typeface="Arial"/>
              </a:defRPr>
            </a:pPr>
            <a:r>
              <a:t>• UUID Security Over Sequential IDs: </a:t>
            </a:r>
          </a:p>
          <a:p>
            <a:pPr>
              <a:defRPr sz="900">
                <a:solidFill>
                  <a:srgbClr val="94A3B8"/>
                </a:solidFill>
                <a:latin typeface="Arial"/>
              </a:defRPr>
            </a:pPr>
            <a:r>
              <a:t>  Using UUIDv4 (e.g. ede43f85-...) prevents malicious users from guessing URL endpoints like /submissions/1 or /submissions/2, protecting research privacy.</a:t>
            </a:r>
          </a:p>
          <a:p>
            <a:pPr>
              <a:defRPr sz="950" b="1">
                <a:solidFill>
                  <a:srgbClr val="38BDF8"/>
                </a:solidFill>
                <a:latin typeface="Arial"/>
              </a:defRPr>
            </a:pPr>
            <a:r>
              <a:t>• Cascade Deletions Keep Workspace Clean: </a:t>
            </a:r>
          </a:p>
          <a:p>
            <a:pPr>
              <a:defRPr sz="900">
                <a:solidFill>
                  <a:srgbClr val="94A3B8"/>
                </a:solidFill>
                <a:latin typeface="Arial"/>
              </a:defRPr>
            </a:pPr>
            <a:r>
              <a:t>  When a researcher deletes a draft submission from the portal, all associated documents, findings, and budget items are automatically purged.</a:t>
            </a:r>
          </a:p>
          <a:p>
            <a:pPr>
              <a:defRPr sz="950" b="1">
                <a:solidFill>
                  <a:srgbClr val="38BDF8"/>
                </a:solidFill>
                <a:latin typeface="Arial"/>
              </a:defRPr>
            </a:pPr>
            <a:r>
              <a:t>• Semi-Structured JSON Storage: </a:t>
            </a:r>
          </a:p>
          <a:p>
            <a:pPr>
              <a:defRPr sz="900">
                <a:solidFill>
                  <a:srgbClr val="94A3B8"/>
                </a:solidFill>
                <a:latin typeface="Arial"/>
              </a:defRPr>
            </a:pPr>
            <a:r>
              <a:t>  Raw page bounding boxes and font metadata are indexed in JSONB columns, allowing instant retrieval without re-parsing the original PDF.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0A12"/>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000" b="1">
                <a:solidFill>
                  <a:srgbClr val="F97316"/>
                </a:solidFill>
                <a:latin typeface="Arial"/>
              </a:defRPr>
            </a:pPr>
            <a:r>
              <a:t>COMPONENT 4: GEOMETRY ENGINE</a:t>
            </a:r>
          </a:p>
        </p:txBody>
      </p:sp>
      <p:sp>
        <p:nvSpPr>
          <p:cNvPr id="3" name="TextBox 2"/>
          <p:cNvSpPr txBox="1"/>
          <p:nvPr/>
        </p:nvSpPr>
        <p:spPr>
          <a:xfrm>
            <a:off x="731520" y="658368"/>
            <a:ext cx="10515600" cy="502920"/>
          </a:xfrm>
          <a:prstGeom prst="rect">
            <a:avLst/>
          </a:prstGeom>
          <a:noFill/>
        </p:spPr>
        <p:txBody>
          <a:bodyPr wrap="square" lIns="0" tIns="0" rIns="0" bIns="0">
            <a:spAutoFit/>
          </a:bodyPr>
          <a:lstStyle/>
          <a:p>
            <a:pPr>
              <a:defRPr sz="2000" b="1">
                <a:solidFill>
                  <a:srgbClr val="FFFFFF"/>
                </a:solidFill>
                <a:latin typeface="Arial"/>
              </a:defRPr>
            </a:pPr>
            <a:r>
              <a:t>Sub-Millimeter Margin &amp; Font Inspection (`ingestion_service.py`)</a:t>
            </a:r>
          </a:p>
          <a:p>
            <a:pPr>
              <a:defRPr sz="1050">
                <a:solidFill>
                  <a:srgbClr val="38BDF8"/>
                </a:solidFill>
                <a:latin typeface="Arial"/>
              </a:defRPr>
            </a:pPr>
            <a:r>
              <a:t>Extracting physical layout metrics across every text span in the proposal</a:t>
            </a:r>
          </a:p>
        </p:txBody>
      </p:sp>
      <p:sp>
        <p:nvSpPr>
          <p:cNvPr id="4" name="Rounded Rectangle 3"/>
          <p:cNvSpPr/>
          <p:nvPr/>
        </p:nvSpPr>
        <p:spPr>
          <a:xfrm>
            <a:off x="731520" y="1371600"/>
            <a:ext cx="5669280" cy="4846320"/>
          </a:xfrm>
          <a:prstGeom prst="roundRect">
            <a:avLst/>
          </a:prstGeom>
          <a:solidFill>
            <a:srgbClr val="0B0F19"/>
          </a:solidFill>
          <a:ln w="12700">
            <a:solidFill>
              <a:srgbClr val="1822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81328"/>
            <a:ext cx="5303520" cy="274320"/>
          </a:xfrm>
          <a:prstGeom prst="rect">
            <a:avLst/>
          </a:prstGeom>
          <a:noFill/>
        </p:spPr>
        <p:txBody>
          <a:bodyPr wrap="square" lIns="0" tIns="0" rIns="0" bIns="0">
            <a:spAutoFit/>
          </a:bodyPr>
          <a:lstStyle/>
          <a:p>
            <a:pPr>
              <a:defRPr sz="950" b="1">
                <a:solidFill>
                  <a:srgbClr val="38BDF8"/>
                </a:solidFill>
                <a:latin typeface="Consolas"/>
              </a:defRPr>
            </a:pPr>
            <a:r>
              <a:t>&gt; backend/ingestion_service.py</a:t>
            </a:r>
          </a:p>
        </p:txBody>
      </p:sp>
      <p:sp>
        <p:nvSpPr>
          <p:cNvPr id="6" name="TextBox 5"/>
          <p:cNvSpPr txBox="1"/>
          <p:nvPr/>
        </p:nvSpPr>
        <p:spPr>
          <a:xfrm>
            <a:off x="914400" y="1755648"/>
            <a:ext cx="5303520" cy="4343400"/>
          </a:xfrm>
          <a:prstGeom prst="rect">
            <a:avLst/>
          </a:prstGeom>
          <a:noFill/>
        </p:spPr>
        <p:txBody>
          <a:bodyPr wrap="square" lIns="0" tIns="0" rIns="0" bIns="0">
            <a:spAutoFit/>
          </a:bodyPr>
          <a:lstStyle/>
          <a:p>
            <a:pPr>
              <a:defRPr sz="800">
                <a:solidFill>
                  <a:srgbClr val="E2E8F0"/>
                </a:solidFill>
                <a:latin typeface="Consolas"/>
              </a:defRPr>
            </a:pPr>
            <a:r>
              <a:t># backend/ingestion_service.py: PyMuPDF Extraction Routine</a:t>
            </a:r>
          </a:p>
          <a:p>
            <a:pPr>
              <a:defRPr sz="800">
                <a:solidFill>
                  <a:srgbClr val="E2E8F0"/>
                </a:solidFill>
                <a:latin typeface="Consolas"/>
              </a:defRPr>
            </a:pPr>
            <a:r>
              <a:t>def _extract_pymupdf_geometry(cls, file_bytes: bytes):</a:t>
            </a:r>
          </a:p>
          <a:p>
            <a:pPr>
              <a:defRPr sz="800">
                <a:solidFill>
                  <a:srgbClr val="E2E8F0"/>
                </a:solidFill>
                <a:latin typeface="Consolas"/>
              </a:defRPr>
            </a:pPr>
            <a:r>
              <a:t>    doc = fitz.open(stream=file_bytes, filetype="pdf")</a:t>
            </a:r>
          </a:p>
          <a:p>
            <a:pPr>
              <a:defRPr sz="800">
                <a:solidFill>
                  <a:srgbClr val="E2E8F0"/>
                </a:solidFill>
                <a:latin typeface="Consolas"/>
              </a:defRPr>
            </a:pPr>
            <a:r>
              <a:t>    font_counts = Counter()</a:t>
            </a:r>
          </a:p>
          <a:p>
            <a:pPr>
              <a:defRPr sz="800">
                <a:solidFill>
                  <a:srgbClr val="E2E8F0"/>
                </a:solidFill>
                <a:latin typeface="Consolas"/>
              </a:defRPr>
            </a:pPr>
            <a:r>
              <a:t>    min_top = min_bottom = min_left = min_right = 999.0</a:t>
            </a:r>
          </a:p>
          <a:p>
            <a:pPr>
              <a:defRPr sz="800">
                <a:solidFill>
                  <a:srgbClr val="E2E8F0"/>
                </a:solidFill>
                <a:latin typeface="Consolas"/>
              </a:defRPr>
            </a:pPr>
          </a:p>
          <a:p>
            <a:pPr>
              <a:defRPr sz="800">
                <a:solidFill>
                  <a:srgbClr val="E2E8F0"/>
                </a:solidFill>
                <a:latin typeface="Consolas"/>
              </a:defRPr>
            </a:pPr>
            <a:r>
              <a:t>    for page_idx in range(len(doc)):</a:t>
            </a:r>
          </a:p>
          <a:p>
            <a:pPr>
              <a:defRPr sz="800">
                <a:solidFill>
                  <a:srgbClr val="E2E8F0"/>
                </a:solidFill>
                <a:latin typeface="Consolas"/>
              </a:defRPr>
            </a:pPr>
            <a:r>
              <a:t>        page = doc[page_idx]</a:t>
            </a:r>
          </a:p>
          <a:p>
            <a:pPr>
              <a:defRPr sz="800">
                <a:solidFill>
                  <a:srgbClr val="E2E8F0"/>
                </a:solidFill>
                <a:latin typeface="Consolas"/>
              </a:defRPr>
            </a:pPr>
            <a:r>
              <a:t>        text_dict = page.get_text("dict")</a:t>
            </a:r>
          </a:p>
          <a:p>
            <a:pPr>
              <a:defRPr sz="800">
                <a:solidFill>
                  <a:srgbClr val="E2E8F0"/>
                </a:solidFill>
                <a:latin typeface="Consolas"/>
              </a:defRPr>
            </a:pPr>
            <a:r>
              <a:t>        for block in text_dict.get("blocks", []):</a:t>
            </a:r>
          </a:p>
          <a:p>
            <a:pPr>
              <a:defRPr sz="800">
                <a:solidFill>
                  <a:srgbClr val="E2E8F0"/>
                </a:solidFill>
                <a:latin typeface="Consolas"/>
              </a:defRPr>
            </a:pPr>
            <a:r>
              <a:t>            if block.get("type") == 0:  # Text block</a:t>
            </a:r>
          </a:p>
          <a:p>
            <a:pPr>
              <a:defRPr sz="800">
                <a:solidFill>
                  <a:srgbClr val="E2E8F0"/>
                </a:solidFill>
                <a:latin typeface="Consolas"/>
              </a:defRPr>
            </a:pPr>
            <a:r>
              <a:t>                for line in block.get("lines", []):</a:t>
            </a:r>
          </a:p>
          <a:p>
            <a:pPr>
              <a:defRPr sz="800">
                <a:solidFill>
                  <a:srgbClr val="E2E8F0"/>
                </a:solidFill>
                <a:latin typeface="Consolas"/>
              </a:defRPr>
            </a:pPr>
            <a:r>
              <a:t>                    for span in line.get("spans", []):</a:t>
            </a:r>
          </a:p>
          <a:p>
            <a:pPr>
              <a:defRPr sz="800">
                <a:solidFill>
                  <a:srgbClr val="E2E8F0"/>
                </a:solidFill>
                <a:latin typeface="Consolas"/>
              </a:defRPr>
            </a:pPr>
            <a:r>
              <a:t>                        font_size = round(span.get("size", 10.0), 2)</a:t>
            </a:r>
          </a:p>
          <a:p>
            <a:pPr>
              <a:defRPr sz="800">
                <a:solidFill>
                  <a:srgbClr val="E2E8F0"/>
                </a:solidFill>
                <a:latin typeface="Consolas"/>
              </a:defRPr>
            </a:pPr>
            <a:r>
              <a:t>                        font_counts[(span.get("font"), font_size)] += len(span.get("text", ""))</a:t>
            </a:r>
          </a:p>
          <a:p>
            <a:pPr>
              <a:defRPr sz="800">
                <a:solidFill>
                  <a:srgbClr val="E2E8F0"/>
                </a:solidFill>
                <a:latin typeface="Consolas"/>
              </a:defRPr>
            </a:pPr>
            <a:r>
              <a:t>                        </a:t>
            </a:r>
          </a:p>
          <a:p>
            <a:pPr>
              <a:defRPr sz="800">
                <a:solidFill>
                  <a:srgbClr val="E2E8F0"/>
                </a:solidFill>
                <a:latin typeface="Consolas"/>
              </a:defRPr>
            </a:pPr>
            <a:r>
              <a:t>                        # Physical Margin Calculation (72 points = 1.0 inch)</a:t>
            </a:r>
          </a:p>
          <a:p>
            <a:pPr>
              <a:defRPr sz="800">
                <a:solidFill>
                  <a:srgbClr val="E2E8F0"/>
                </a:solidFill>
                <a:latin typeface="Consolas"/>
              </a:defRPr>
            </a:pPr>
            <a:r>
              <a:t>                        bbox = span.get("bbox")  # (x0, y0, x1, y1)</a:t>
            </a:r>
          </a:p>
          <a:p>
            <a:pPr>
              <a:defRPr sz="800">
                <a:solidFill>
                  <a:srgbClr val="E2E8F0"/>
                </a:solidFill>
                <a:latin typeface="Consolas"/>
              </a:defRPr>
            </a:pPr>
            <a:r>
              <a:t>                        if bbox:</a:t>
            </a:r>
          </a:p>
          <a:p>
            <a:pPr>
              <a:defRPr sz="800">
                <a:solidFill>
                  <a:srgbClr val="E2E8F0"/>
                </a:solidFill>
                <a:latin typeface="Consolas"/>
              </a:defRPr>
            </a:pPr>
            <a:r>
              <a:t>                            min_top = min(min_top, bbox[1] / 72.0)</a:t>
            </a:r>
          </a:p>
          <a:p>
            <a:pPr>
              <a:defRPr sz="800">
                <a:solidFill>
                  <a:srgbClr val="E2E8F0"/>
                </a:solidFill>
                <a:latin typeface="Consolas"/>
              </a:defRPr>
            </a:pPr>
            <a:r>
              <a:t>                            min_left = min(min_left, bbox[0] / 72.0)</a:t>
            </a:r>
          </a:p>
          <a:p>
            <a:pPr>
              <a:defRPr sz="800">
                <a:solidFill>
                  <a:srgbClr val="E2E8F0"/>
                </a:solidFill>
                <a:latin typeface="Consolas"/>
              </a:defRPr>
            </a:pPr>
            <a:r>
              <a:t>                            min_right = min(min_right, (page.rect.width - bbox[2]) / 72.0)</a:t>
            </a:r>
          </a:p>
        </p:txBody>
      </p:sp>
      <p:sp>
        <p:nvSpPr>
          <p:cNvPr id="7" name="Rounded Rectangle 6"/>
          <p:cNvSpPr/>
          <p:nvPr/>
        </p:nvSpPr>
        <p:spPr>
          <a:xfrm>
            <a:off x="6583680" y="1371600"/>
            <a:ext cx="4876495" cy="4846320"/>
          </a:xfrm>
          <a:prstGeom prst="roundRect">
            <a:avLst/>
          </a:prstGeom>
          <a:solidFill>
            <a:srgbClr val="121E31"/>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12280" y="1554480"/>
            <a:ext cx="4419295" cy="4480560"/>
          </a:xfrm>
          <a:prstGeom prst="rect">
            <a:avLst/>
          </a:prstGeom>
          <a:noFill/>
        </p:spPr>
        <p:txBody>
          <a:bodyPr wrap="square" lIns="0" tIns="0" rIns="0" bIns="0">
            <a:spAutoFit/>
          </a:bodyPr>
          <a:lstStyle/>
          <a:p>
            <a:pPr>
              <a:defRPr sz="1100" b="1">
                <a:solidFill>
                  <a:srgbClr val="F97316"/>
                </a:solidFill>
                <a:latin typeface="Arial"/>
              </a:defRPr>
            </a:pPr>
            <a:r>
              <a:t>⚡ IMPACT ON WEBSITE &amp; USER EXPERIENCE</a:t>
            </a:r>
          </a:p>
          <a:p>
            <a:pPr>
              <a:defRPr sz="1300" b="1">
                <a:solidFill>
                  <a:srgbClr val="FFFFFF"/>
                </a:solidFill>
                <a:latin typeface="Arial"/>
              </a:defRPr>
            </a:pPr>
            <a:r>
              <a:t>How Geometry Extraction Impacts the Website</a:t>
            </a:r>
          </a:p>
          <a:p>
            <a:pPr>
              <a:defRPr sz="950" b="1">
                <a:solidFill>
                  <a:srgbClr val="38BDF8"/>
                </a:solidFill>
                <a:latin typeface="Arial"/>
              </a:defRPr>
            </a:pPr>
            <a:r>
              <a:t>• Sub-Millimeter Margin Inspection: </a:t>
            </a:r>
          </a:p>
          <a:p>
            <a:pPr>
              <a:defRPr sz="900">
                <a:solidFill>
                  <a:srgbClr val="94A3B8"/>
                </a:solidFill>
                <a:latin typeface="Arial"/>
              </a:defRPr>
            </a:pPr>
            <a:r>
              <a:t>  Measures the distance from text spans to physical page boundaries. If a diagram encroaches within 0.75" of the edge, the website flags an immediate margin violation.</a:t>
            </a:r>
          </a:p>
          <a:p>
            <a:pPr>
              <a:defRPr sz="950" b="1">
                <a:solidFill>
                  <a:srgbClr val="38BDF8"/>
                </a:solidFill>
                <a:latin typeface="Arial"/>
              </a:defRPr>
            </a:pPr>
            <a:r>
              <a:t>• Font Point-Size Screening: </a:t>
            </a:r>
          </a:p>
          <a:p>
            <a:pPr>
              <a:defRPr sz="900">
                <a:solidFill>
                  <a:srgbClr val="94A3B8"/>
                </a:solidFill>
                <a:latin typeface="Arial"/>
              </a:defRPr>
            </a:pPr>
            <a:r>
              <a:t>  Detects microscopic 8.5 pt footnotes or sub-captions. Prevents administrative desk-rejections before proposal packets reach federal review panels.</a:t>
            </a:r>
          </a:p>
          <a:p>
            <a:pPr>
              <a:defRPr sz="950" b="1">
                <a:solidFill>
                  <a:srgbClr val="38BDF8"/>
                </a:solidFill>
                <a:latin typeface="Arial"/>
              </a:defRPr>
            </a:pPr>
            <a:r>
              <a:t>• Real-Time Metric Dashboard: </a:t>
            </a:r>
          </a:p>
          <a:p>
            <a:pPr>
              <a:defRPr sz="900">
                <a:solidFill>
                  <a:srgbClr val="94A3B8"/>
                </a:solidFill>
                <a:latin typeface="Arial"/>
              </a:defRPr>
            </a:pPr>
            <a:r>
              <a:t>  Directly populates the portal's top metrics: Proposal Page Count, Dominant Font Family (e.g. Times-Roman 11 pt), and Minimum Margin Bounds.</a:t>
            </a:r>
          </a:p>
          <a:p>
            <a:pPr>
              <a:defRPr sz="950" b="1">
                <a:solidFill>
                  <a:srgbClr val="38BDF8"/>
                </a:solidFill>
                <a:latin typeface="Arial"/>
              </a:defRPr>
            </a:pPr>
            <a:r>
              <a:t>• Eliminates Manual Ruler Checks: </a:t>
            </a:r>
          </a:p>
          <a:p>
            <a:pPr>
              <a:defRPr sz="900">
                <a:solidFill>
                  <a:srgbClr val="94A3B8"/>
                </a:solidFill>
                <a:latin typeface="Arial"/>
              </a:defRPr>
            </a:pPr>
            <a:r>
              <a:t>  Saves grant administrators hours of manual PDF inspection by automating compliance with strict NSF PAPPG and NIH guidelines.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0A12"/>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000" b="1">
                <a:solidFill>
                  <a:srgbClr val="F97316"/>
                </a:solidFill>
                <a:latin typeface="Arial"/>
              </a:defRPr>
            </a:pPr>
            <a:r>
              <a:t>COMPONENT 5: FINANCIAL INGESTION</a:t>
            </a:r>
          </a:p>
        </p:txBody>
      </p:sp>
      <p:sp>
        <p:nvSpPr>
          <p:cNvPr id="3" name="TextBox 2"/>
          <p:cNvSpPr txBox="1"/>
          <p:nvPr/>
        </p:nvSpPr>
        <p:spPr>
          <a:xfrm>
            <a:off x="731520" y="658368"/>
            <a:ext cx="10515600" cy="502920"/>
          </a:xfrm>
          <a:prstGeom prst="rect">
            <a:avLst/>
          </a:prstGeom>
          <a:noFill/>
        </p:spPr>
        <p:txBody>
          <a:bodyPr wrap="square" lIns="0" tIns="0" rIns="0" bIns="0">
            <a:spAutoFit/>
          </a:bodyPr>
          <a:lstStyle/>
          <a:p>
            <a:pPr>
              <a:defRPr sz="2000" b="1">
                <a:solidFill>
                  <a:srgbClr val="FFFFFF"/>
                </a:solidFill>
                <a:latin typeface="Arial"/>
              </a:defRPr>
            </a:pPr>
            <a:r>
              <a:t>Tabular Line-Item &amp; Budget Extraction (`ingestion_service.py`)</a:t>
            </a:r>
          </a:p>
          <a:p>
            <a:pPr>
              <a:defRPr sz="1050">
                <a:solidFill>
                  <a:srgbClr val="38BDF8"/>
                </a:solidFill>
                <a:latin typeface="Arial"/>
              </a:defRPr>
            </a:pPr>
            <a:r>
              <a:t>Converting unstructured PDF table grids into structured key-value financial rows</a:t>
            </a:r>
          </a:p>
        </p:txBody>
      </p:sp>
      <p:sp>
        <p:nvSpPr>
          <p:cNvPr id="4" name="Rounded Rectangle 3"/>
          <p:cNvSpPr/>
          <p:nvPr/>
        </p:nvSpPr>
        <p:spPr>
          <a:xfrm>
            <a:off x="731520" y="1371600"/>
            <a:ext cx="5669280" cy="4846320"/>
          </a:xfrm>
          <a:prstGeom prst="roundRect">
            <a:avLst/>
          </a:prstGeom>
          <a:solidFill>
            <a:srgbClr val="0B0F19"/>
          </a:solidFill>
          <a:ln w="12700">
            <a:solidFill>
              <a:srgbClr val="1822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81328"/>
            <a:ext cx="5303520" cy="274320"/>
          </a:xfrm>
          <a:prstGeom prst="rect">
            <a:avLst/>
          </a:prstGeom>
          <a:noFill/>
        </p:spPr>
        <p:txBody>
          <a:bodyPr wrap="square" lIns="0" tIns="0" rIns="0" bIns="0">
            <a:spAutoFit/>
          </a:bodyPr>
          <a:lstStyle/>
          <a:p>
            <a:pPr>
              <a:defRPr sz="950" b="1">
                <a:solidFill>
                  <a:srgbClr val="38BDF8"/>
                </a:solidFill>
                <a:latin typeface="Consolas"/>
              </a:defRPr>
            </a:pPr>
            <a:r>
              <a:t>&gt; backend/ingestion_service.py</a:t>
            </a:r>
          </a:p>
        </p:txBody>
      </p:sp>
      <p:sp>
        <p:nvSpPr>
          <p:cNvPr id="6" name="TextBox 5"/>
          <p:cNvSpPr txBox="1"/>
          <p:nvPr/>
        </p:nvSpPr>
        <p:spPr>
          <a:xfrm>
            <a:off x="914400" y="1755648"/>
            <a:ext cx="5303520" cy="4343400"/>
          </a:xfrm>
          <a:prstGeom prst="rect">
            <a:avLst/>
          </a:prstGeom>
          <a:noFill/>
        </p:spPr>
        <p:txBody>
          <a:bodyPr wrap="square" lIns="0" tIns="0" rIns="0" bIns="0">
            <a:spAutoFit/>
          </a:bodyPr>
          <a:lstStyle/>
          <a:p>
            <a:pPr>
              <a:defRPr sz="800">
                <a:solidFill>
                  <a:srgbClr val="E2E8F0"/>
                </a:solidFill>
                <a:latin typeface="Consolas"/>
              </a:defRPr>
            </a:pPr>
            <a:r>
              <a:t># backend/ingestion_service.py: Table &amp; Budget Ingestion</a:t>
            </a:r>
          </a:p>
          <a:p>
            <a:pPr>
              <a:defRPr sz="800">
                <a:solidFill>
                  <a:srgbClr val="E2E8F0"/>
                </a:solidFill>
                <a:latin typeface="Consolas"/>
              </a:defRPr>
            </a:pPr>
            <a:r>
              <a:t>def _extract_pdfplumber_tables(cls, file_bytes: bytes):</a:t>
            </a:r>
          </a:p>
          <a:p>
            <a:pPr>
              <a:defRPr sz="800">
                <a:solidFill>
                  <a:srgbClr val="E2E8F0"/>
                </a:solidFill>
                <a:latin typeface="Consolas"/>
              </a:defRPr>
            </a:pPr>
            <a:r>
              <a:t>    parsed_tables = []; budget_items = []; total_requested = Decimal("0.00")</a:t>
            </a:r>
          </a:p>
          <a:p>
            <a:pPr>
              <a:defRPr sz="800">
                <a:solidFill>
                  <a:srgbClr val="E2E8F0"/>
                </a:solidFill>
                <a:latin typeface="Consolas"/>
              </a:defRPr>
            </a:pPr>
          </a:p>
          <a:p>
            <a:pPr>
              <a:defRPr sz="800">
                <a:solidFill>
                  <a:srgbClr val="E2E8F0"/>
                </a:solidFill>
                <a:latin typeface="Consolas"/>
              </a:defRPr>
            </a:pPr>
            <a:r>
              <a:t>    with pdfplumber.open(io.BytesIO(file_bytes)) as pdf:</a:t>
            </a:r>
          </a:p>
          <a:p>
            <a:pPr>
              <a:defRPr sz="800">
                <a:solidFill>
                  <a:srgbClr val="E2E8F0"/>
                </a:solidFill>
                <a:latin typeface="Consolas"/>
              </a:defRPr>
            </a:pPr>
            <a:r>
              <a:t>        for page_idx, page in enumerate(pdf.pages):</a:t>
            </a:r>
          </a:p>
          <a:p>
            <a:pPr>
              <a:defRPr sz="800">
                <a:solidFill>
                  <a:srgbClr val="E2E8F0"/>
                </a:solidFill>
                <a:latin typeface="Consolas"/>
              </a:defRPr>
            </a:pPr>
            <a:r>
              <a:t>            for table_idx, raw_table in enumerate(page.extract_tables()):</a:t>
            </a:r>
          </a:p>
          <a:p>
            <a:pPr>
              <a:defRPr sz="800">
                <a:solidFill>
                  <a:srgbClr val="E2E8F0"/>
                </a:solidFill>
                <a:latin typeface="Consolas"/>
              </a:defRPr>
            </a:pPr>
            <a:r>
              <a:t>                headers = [re.sub(r"\s+", " ", str(col or "")).strip() for col in raw_table[0]]</a:t>
            </a:r>
          </a:p>
          <a:p>
            <a:pPr>
              <a:defRPr sz="800">
                <a:solidFill>
                  <a:srgbClr val="E2E8F0"/>
                </a:solidFill>
                <a:latin typeface="Consolas"/>
              </a:defRPr>
            </a:pPr>
            <a:r>
              <a:t>                is_budget = any(BUDGET_KEYWORD_REGEX.search(h) for h in headers)</a:t>
            </a:r>
          </a:p>
          <a:p>
            <a:pPr>
              <a:defRPr sz="800">
                <a:solidFill>
                  <a:srgbClr val="E2E8F0"/>
                </a:solidFill>
                <a:latin typeface="Consolas"/>
              </a:defRPr>
            </a:pPr>
          </a:p>
          <a:p>
            <a:pPr>
              <a:defRPr sz="800">
                <a:solidFill>
                  <a:srgbClr val="E2E8F0"/>
                </a:solidFill>
                <a:latin typeface="Consolas"/>
              </a:defRPr>
            </a:pPr>
            <a:r>
              <a:t>                for raw_row in raw_table[1:]:</a:t>
            </a:r>
          </a:p>
          <a:p>
            <a:pPr>
              <a:defRPr sz="800">
                <a:solidFill>
                  <a:srgbClr val="E2E8F0"/>
                </a:solidFill>
                <a:latin typeface="Consolas"/>
              </a:defRPr>
            </a:pPr>
            <a:r>
              <a:t>                    cleaned_row = [re.sub(r"\s+", " ", str(c or "")).strip() for c in raw_row]</a:t>
            </a:r>
          </a:p>
          <a:p>
            <a:pPr>
              <a:defRPr sz="800">
                <a:solidFill>
                  <a:srgbClr val="E2E8F0"/>
                </a:solidFill>
                <a:latin typeface="Consolas"/>
              </a:defRPr>
            </a:pPr>
            <a:r>
              <a:t>                    if is_budget:</a:t>
            </a:r>
          </a:p>
          <a:p>
            <a:pPr>
              <a:defRPr sz="800">
                <a:solidFill>
                  <a:srgbClr val="E2E8F0"/>
                </a:solidFill>
                <a:latin typeface="Consolas"/>
              </a:defRPr>
            </a:pPr>
            <a:r>
              <a:t>                        desc = cleaned_row[0]</a:t>
            </a:r>
          </a:p>
          <a:p>
            <a:pPr>
              <a:defRPr sz="800">
                <a:solidFill>
                  <a:srgbClr val="E2E8F0"/>
                </a:solidFill>
                <a:latin typeface="Consolas"/>
              </a:defRPr>
            </a:pPr>
            <a:r>
              <a:t>                        numeric_candidates = [cls._clean_numeric(c) for c in cleaned_row[1:]]</a:t>
            </a:r>
          </a:p>
          <a:p>
            <a:pPr>
              <a:defRPr sz="800">
                <a:solidFill>
                  <a:srgbClr val="E2E8F0"/>
                </a:solidFill>
                <a:latin typeface="Consolas"/>
              </a:defRPr>
            </a:pPr>
            <a:r>
              <a:t>                        valid_nums = [n for n in numeric_candidates if n is not None]</a:t>
            </a:r>
          </a:p>
          <a:p>
            <a:pPr>
              <a:defRPr sz="800">
                <a:solidFill>
                  <a:srgbClr val="E2E8F0"/>
                </a:solidFill>
                <a:latin typeface="Consolas"/>
              </a:defRPr>
            </a:pPr>
            <a:r>
              <a:t>                        if valid_nums:</a:t>
            </a:r>
          </a:p>
          <a:p>
            <a:pPr>
              <a:defRPr sz="800">
                <a:solidFill>
                  <a:srgbClr val="E2E8F0"/>
                </a:solidFill>
                <a:latin typeface="Consolas"/>
              </a:defRPr>
            </a:pPr>
            <a:r>
              <a:t>                            line_amt = valid_nums[-1]</a:t>
            </a:r>
          </a:p>
          <a:p>
            <a:pPr>
              <a:defRPr sz="800">
                <a:solidFill>
                  <a:srgbClr val="E2E8F0"/>
                </a:solidFill>
                <a:latin typeface="Consolas"/>
              </a:defRPr>
            </a:pPr>
            <a:r>
              <a:t>                            if "total" in desc.lower() and line_amt &gt; total_requested:</a:t>
            </a:r>
          </a:p>
          <a:p>
            <a:pPr>
              <a:defRPr sz="800">
                <a:solidFill>
                  <a:srgbClr val="E2E8F0"/>
                </a:solidFill>
                <a:latin typeface="Consolas"/>
              </a:defRPr>
            </a:pPr>
            <a:r>
              <a:t>                                total_requested = line_amt</a:t>
            </a:r>
          </a:p>
          <a:p>
            <a:pPr>
              <a:defRPr sz="800">
                <a:solidFill>
                  <a:srgbClr val="E2E8F0"/>
                </a:solidFill>
                <a:latin typeface="Consolas"/>
              </a:defRPr>
            </a:pPr>
            <a:r>
              <a:t>                            elif "total" not in desc.lower():</a:t>
            </a:r>
          </a:p>
          <a:p>
            <a:pPr>
              <a:defRPr sz="800">
                <a:solidFill>
                  <a:srgbClr val="E2E8F0"/>
                </a:solidFill>
                <a:latin typeface="Consolas"/>
              </a:defRPr>
            </a:pPr>
            <a:r>
              <a:t>                                budget_items.append(ExtractedBudgetLine(category=desc, amount=line_amt))</a:t>
            </a:r>
          </a:p>
        </p:txBody>
      </p:sp>
      <p:sp>
        <p:nvSpPr>
          <p:cNvPr id="7" name="Rounded Rectangle 6"/>
          <p:cNvSpPr/>
          <p:nvPr/>
        </p:nvSpPr>
        <p:spPr>
          <a:xfrm>
            <a:off x="6583680" y="1371600"/>
            <a:ext cx="4876495" cy="4846320"/>
          </a:xfrm>
          <a:prstGeom prst="roundRect">
            <a:avLst/>
          </a:prstGeom>
          <a:solidFill>
            <a:srgbClr val="121E31"/>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12280" y="1554480"/>
            <a:ext cx="4419295" cy="4480560"/>
          </a:xfrm>
          <a:prstGeom prst="rect">
            <a:avLst/>
          </a:prstGeom>
          <a:noFill/>
        </p:spPr>
        <p:txBody>
          <a:bodyPr wrap="square" lIns="0" tIns="0" rIns="0" bIns="0">
            <a:spAutoFit/>
          </a:bodyPr>
          <a:lstStyle/>
          <a:p>
            <a:pPr>
              <a:defRPr sz="1100" b="1">
                <a:solidFill>
                  <a:srgbClr val="F97316"/>
                </a:solidFill>
                <a:latin typeface="Arial"/>
              </a:defRPr>
            </a:pPr>
            <a:r>
              <a:t>⚡ IMPACT ON WEBSITE &amp; USER EXPERIENCE</a:t>
            </a:r>
          </a:p>
          <a:p>
            <a:pPr>
              <a:defRPr sz="1300" b="1">
                <a:solidFill>
                  <a:srgbClr val="FFFFFF"/>
                </a:solidFill>
                <a:latin typeface="Arial"/>
              </a:defRPr>
            </a:pPr>
            <a:r>
              <a:t>How Table Parsing Impacts the Website</a:t>
            </a:r>
          </a:p>
          <a:p>
            <a:pPr>
              <a:defRPr sz="950" b="1">
                <a:solidFill>
                  <a:srgbClr val="38BDF8"/>
                </a:solidFill>
                <a:latin typeface="Arial"/>
              </a:defRPr>
            </a:pPr>
            <a:r>
              <a:t>• Automatic Budget Metric Display: </a:t>
            </a:r>
          </a:p>
          <a:p>
            <a:pPr>
              <a:defRPr sz="900">
                <a:solidFill>
                  <a:srgbClr val="94A3B8"/>
                </a:solidFill>
                <a:latin typeface="Arial"/>
              </a:defRPr>
            </a:pPr>
            <a:r>
              <a:t>  Powers the live '$185,000.00 Reconciled Budget' tile in the SubmissionPortal.jsx dashboard without requiring manual data re-entry.</a:t>
            </a:r>
          </a:p>
          <a:p>
            <a:pPr>
              <a:defRPr sz="950" b="1">
                <a:solidFill>
                  <a:srgbClr val="38BDF8"/>
                </a:solidFill>
                <a:latin typeface="Arial"/>
              </a:defRPr>
            </a:pPr>
            <a:r>
              <a:t>• Cross-Document Budget Reconciliation: </a:t>
            </a:r>
          </a:p>
          <a:p>
            <a:pPr>
              <a:defRPr sz="900">
                <a:solidFill>
                  <a:srgbClr val="94A3B8"/>
                </a:solidFill>
                <a:latin typeface="Arial"/>
              </a:defRPr>
            </a:pPr>
            <a:r>
              <a:t>  Cross-references tabular line items against solicitation funding caps (e.g. verifying budget &lt;= $500,000 ceiling).</a:t>
            </a:r>
          </a:p>
          <a:p>
            <a:pPr>
              <a:defRPr sz="950" b="1">
                <a:solidFill>
                  <a:srgbClr val="38BDF8"/>
                </a:solidFill>
                <a:latin typeface="Arial"/>
              </a:defRPr>
            </a:pPr>
            <a:r>
              <a:t>• Line-Item Detail in Institutional Reports: </a:t>
            </a:r>
          </a:p>
          <a:p>
            <a:pPr>
              <a:defRPr sz="900">
                <a:solidFill>
                  <a:srgbClr val="94A3B8"/>
                </a:solidFill>
                <a:latin typeface="Arial"/>
              </a:defRPr>
            </a:pPr>
            <a:r>
              <a:t>  Stores each extracted personnel, equipment, and indirect cost row into database records for institutional grant reporting.</a:t>
            </a:r>
          </a:p>
          <a:p>
            <a:pPr>
              <a:defRPr sz="950" b="1">
                <a:solidFill>
                  <a:srgbClr val="38BDF8"/>
                </a:solidFill>
                <a:latin typeface="Arial"/>
              </a:defRPr>
            </a:pPr>
            <a:r>
              <a:t>• Resilient Regex Cleaning: </a:t>
            </a:r>
          </a:p>
          <a:p>
            <a:pPr>
              <a:defRPr sz="900">
                <a:solidFill>
                  <a:srgbClr val="94A3B8"/>
                </a:solidFill>
                <a:latin typeface="Arial"/>
              </a:defRPr>
            </a:pPr>
            <a:r>
              <a:t>  Cleans noisy table formatting, stripping currency symbols, commas, and whitespace variations cleanly into Python Decimal types.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0A12"/>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000" b="1">
                <a:solidFill>
                  <a:srgbClr val="F97316"/>
                </a:solidFill>
                <a:latin typeface="Arial"/>
              </a:defRPr>
            </a:pPr>
            <a:r>
              <a:t>COMPONENT 6: AUTH &amp; SECURITY</a:t>
            </a:r>
          </a:p>
        </p:txBody>
      </p:sp>
      <p:sp>
        <p:nvSpPr>
          <p:cNvPr id="3" name="TextBox 2"/>
          <p:cNvSpPr txBox="1"/>
          <p:nvPr/>
        </p:nvSpPr>
        <p:spPr>
          <a:xfrm>
            <a:off x="731520" y="658368"/>
            <a:ext cx="10515600" cy="502920"/>
          </a:xfrm>
          <a:prstGeom prst="rect">
            <a:avLst/>
          </a:prstGeom>
          <a:noFill/>
        </p:spPr>
        <p:txBody>
          <a:bodyPr wrap="square" lIns="0" tIns="0" rIns="0" bIns="0">
            <a:spAutoFit/>
          </a:bodyPr>
          <a:lstStyle/>
          <a:p>
            <a:pPr>
              <a:defRPr sz="2000" b="1">
                <a:solidFill>
                  <a:srgbClr val="FFFFFF"/>
                </a:solidFill>
                <a:latin typeface="Arial"/>
              </a:defRPr>
            </a:pPr>
            <a:r>
              <a:t>Researcher Authentication &amp; OAuth2 Bearer Tokens (`auth.py`)</a:t>
            </a:r>
          </a:p>
          <a:p>
            <a:pPr>
              <a:defRPr sz="1050">
                <a:solidFill>
                  <a:srgbClr val="38BDF8"/>
                </a:solidFill>
                <a:latin typeface="Arial"/>
              </a:defRPr>
            </a:pPr>
            <a:r>
              <a:t>Stateful credentials encryption and stateless JWT token authorization</a:t>
            </a:r>
          </a:p>
        </p:txBody>
      </p:sp>
      <p:sp>
        <p:nvSpPr>
          <p:cNvPr id="4" name="Rounded Rectangle 3"/>
          <p:cNvSpPr/>
          <p:nvPr/>
        </p:nvSpPr>
        <p:spPr>
          <a:xfrm>
            <a:off x="731520" y="1371600"/>
            <a:ext cx="5669280" cy="4846320"/>
          </a:xfrm>
          <a:prstGeom prst="roundRect">
            <a:avLst/>
          </a:prstGeom>
          <a:solidFill>
            <a:srgbClr val="0B0F19"/>
          </a:solidFill>
          <a:ln w="12700">
            <a:solidFill>
              <a:srgbClr val="1822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81328"/>
            <a:ext cx="5303520" cy="274320"/>
          </a:xfrm>
          <a:prstGeom prst="rect">
            <a:avLst/>
          </a:prstGeom>
          <a:noFill/>
        </p:spPr>
        <p:txBody>
          <a:bodyPr wrap="square" lIns="0" tIns="0" rIns="0" bIns="0">
            <a:spAutoFit/>
          </a:bodyPr>
          <a:lstStyle/>
          <a:p>
            <a:pPr>
              <a:defRPr sz="950" b="1">
                <a:solidFill>
                  <a:srgbClr val="38BDF8"/>
                </a:solidFill>
                <a:latin typeface="Consolas"/>
              </a:defRPr>
            </a:pPr>
            <a:r>
              <a:t>&gt; backend/auth.py</a:t>
            </a:r>
          </a:p>
        </p:txBody>
      </p:sp>
      <p:sp>
        <p:nvSpPr>
          <p:cNvPr id="6" name="TextBox 5"/>
          <p:cNvSpPr txBox="1"/>
          <p:nvPr/>
        </p:nvSpPr>
        <p:spPr>
          <a:xfrm>
            <a:off x="914400" y="1755648"/>
            <a:ext cx="5303520" cy="4343400"/>
          </a:xfrm>
          <a:prstGeom prst="rect">
            <a:avLst/>
          </a:prstGeom>
          <a:noFill/>
        </p:spPr>
        <p:txBody>
          <a:bodyPr wrap="square" lIns="0" tIns="0" rIns="0" bIns="0">
            <a:spAutoFit/>
          </a:bodyPr>
          <a:lstStyle/>
          <a:p>
            <a:pPr>
              <a:defRPr sz="800">
                <a:solidFill>
                  <a:srgbClr val="E2E8F0"/>
                </a:solidFill>
                <a:latin typeface="Consolas"/>
              </a:defRPr>
            </a:pPr>
            <a:r>
              <a:t># backend/auth.py &amp; routes.py: Native Bcrypt &amp; PyJWT Bearer Auth</a:t>
            </a:r>
          </a:p>
          <a:p>
            <a:pPr>
              <a:defRPr sz="800">
                <a:solidFill>
                  <a:srgbClr val="E2E8F0"/>
                </a:solidFill>
                <a:latin typeface="Consolas"/>
              </a:defRPr>
            </a:pPr>
            <a:r>
              <a:t>oauth2_scheme = OAuth2PasswordBearer(tokenUrl="/api/v1/auth/login")</a:t>
            </a:r>
          </a:p>
          <a:p>
            <a:pPr>
              <a:defRPr sz="800">
                <a:solidFill>
                  <a:srgbClr val="E2E8F0"/>
                </a:solidFill>
                <a:latin typeface="Consolas"/>
              </a:defRPr>
            </a:pPr>
          </a:p>
          <a:p>
            <a:pPr>
              <a:defRPr sz="800">
                <a:solidFill>
                  <a:srgbClr val="E2E8F0"/>
                </a:solidFill>
                <a:latin typeface="Consolas"/>
              </a:defRPr>
            </a:pPr>
            <a:r>
              <a:t>def get_password_hash(password: str) -&gt; str:</a:t>
            </a:r>
          </a:p>
          <a:p>
            <a:pPr>
              <a:defRPr sz="800">
                <a:solidFill>
                  <a:srgbClr val="E2E8F0"/>
                </a:solidFill>
                <a:latin typeface="Consolas"/>
              </a:defRPr>
            </a:pPr>
            <a:r>
              <a:t>    salt = bcrypt.gensalt()</a:t>
            </a:r>
          </a:p>
          <a:p>
            <a:pPr>
              <a:defRPr sz="800">
                <a:solidFill>
                  <a:srgbClr val="E2E8F0"/>
                </a:solidFill>
                <a:latin typeface="Consolas"/>
              </a:defRPr>
            </a:pPr>
            <a:r>
              <a:t>    return bcrypt.hashpw(password.encode("utf-8")[:72], salt).decode("utf-8")</a:t>
            </a:r>
          </a:p>
          <a:p>
            <a:pPr>
              <a:defRPr sz="800">
                <a:solidFill>
                  <a:srgbClr val="E2E8F0"/>
                </a:solidFill>
                <a:latin typeface="Consolas"/>
              </a:defRPr>
            </a:pPr>
          </a:p>
          <a:p>
            <a:pPr>
              <a:defRPr sz="800">
                <a:solidFill>
                  <a:srgbClr val="E2E8F0"/>
                </a:solidFill>
                <a:latin typeface="Consolas"/>
              </a:defRPr>
            </a:pPr>
            <a:r>
              <a:t>def create_access_token(data: dict) -&gt; str:</a:t>
            </a:r>
          </a:p>
          <a:p>
            <a:pPr>
              <a:defRPr sz="800">
                <a:solidFill>
                  <a:srgbClr val="E2E8F0"/>
                </a:solidFill>
                <a:latin typeface="Consolas"/>
              </a:defRPr>
            </a:pPr>
            <a:r>
              <a:t>    expire = datetime.now(timezone.utc) + timedelta(minutes=60)</a:t>
            </a:r>
          </a:p>
          <a:p>
            <a:pPr>
              <a:defRPr sz="800">
                <a:solidFill>
                  <a:srgbClr val="E2E8F0"/>
                </a:solidFill>
                <a:latin typeface="Consolas"/>
              </a:defRPr>
            </a:pPr>
            <a:r>
              <a:t>    return jwt.encode({**data, "exp": expire, "type": "access"}, SECRET_KEY, algorithm="HS256")</a:t>
            </a:r>
          </a:p>
          <a:p>
            <a:pPr>
              <a:defRPr sz="800">
                <a:solidFill>
                  <a:srgbClr val="E2E8F0"/>
                </a:solidFill>
                <a:latin typeface="Consolas"/>
              </a:defRPr>
            </a:pPr>
          </a:p>
          <a:p>
            <a:pPr>
              <a:defRPr sz="800">
                <a:solidFill>
                  <a:srgbClr val="E2E8F0"/>
                </a:solidFill>
                <a:latin typeface="Consolas"/>
              </a:defRPr>
            </a:pPr>
            <a:r>
              <a:t># Real-time session probe for frontend auto-validation</a:t>
            </a:r>
          </a:p>
          <a:p>
            <a:pPr>
              <a:defRPr sz="800">
                <a:solidFill>
                  <a:srgbClr val="E2E8F0"/>
                </a:solidFill>
                <a:latin typeface="Consolas"/>
              </a:defRPr>
            </a:pPr>
            <a:r>
              <a:t>@router.get("/auth/me", response_model=UserResponse)</a:t>
            </a:r>
          </a:p>
          <a:p>
            <a:pPr>
              <a:defRPr sz="800">
                <a:solidFill>
                  <a:srgbClr val="E2E8F0"/>
                </a:solidFill>
                <a:latin typeface="Consolas"/>
              </a:defRPr>
            </a:pPr>
            <a:r>
              <a:t>async def get_current_user_profile(current_user: User = Depends(get_current_user)):</a:t>
            </a:r>
          </a:p>
          <a:p>
            <a:pPr>
              <a:defRPr sz="800">
                <a:solidFill>
                  <a:srgbClr val="E2E8F0"/>
                </a:solidFill>
                <a:latin typeface="Consolas"/>
              </a:defRPr>
            </a:pPr>
            <a:r>
              <a:t>    return current_user</a:t>
            </a:r>
          </a:p>
        </p:txBody>
      </p:sp>
      <p:sp>
        <p:nvSpPr>
          <p:cNvPr id="7" name="Rounded Rectangle 6"/>
          <p:cNvSpPr/>
          <p:nvPr/>
        </p:nvSpPr>
        <p:spPr>
          <a:xfrm>
            <a:off x="6583680" y="1371600"/>
            <a:ext cx="4876495" cy="4846320"/>
          </a:xfrm>
          <a:prstGeom prst="roundRect">
            <a:avLst/>
          </a:prstGeom>
          <a:solidFill>
            <a:srgbClr val="121E31"/>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12280" y="1554480"/>
            <a:ext cx="4419295" cy="4480560"/>
          </a:xfrm>
          <a:prstGeom prst="rect">
            <a:avLst/>
          </a:prstGeom>
          <a:noFill/>
        </p:spPr>
        <p:txBody>
          <a:bodyPr wrap="square" lIns="0" tIns="0" rIns="0" bIns="0">
            <a:spAutoFit/>
          </a:bodyPr>
          <a:lstStyle/>
          <a:p>
            <a:pPr>
              <a:defRPr sz="1100" b="1">
                <a:solidFill>
                  <a:srgbClr val="F97316"/>
                </a:solidFill>
                <a:latin typeface="Arial"/>
              </a:defRPr>
            </a:pPr>
            <a:r>
              <a:t>⚡ IMPACT ON WEBSITE &amp; USER EXPERIENCE</a:t>
            </a:r>
          </a:p>
          <a:p>
            <a:pPr>
              <a:defRPr sz="1300" b="1">
                <a:solidFill>
                  <a:srgbClr val="FFFFFF"/>
                </a:solidFill>
                <a:latin typeface="Arial"/>
              </a:defRPr>
            </a:pPr>
            <a:r>
              <a:t>How Authentication Impacts the Website</a:t>
            </a:r>
          </a:p>
          <a:p>
            <a:pPr>
              <a:defRPr sz="950" b="1">
                <a:solidFill>
                  <a:srgbClr val="38BDF8"/>
                </a:solidFill>
                <a:latin typeface="Arial"/>
              </a:defRPr>
            </a:pPr>
            <a:r>
              <a:t>• Private Researcher Workspaces: </a:t>
            </a:r>
          </a:p>
          <a:p>
            <a:pPr>
              <a:defRPr sz="900">
                <a:solidFill>
                  <a:srgbClr val="94A3B8"/>
                </a:solidFill>
                <a:latin typeface="Arial"/>
              </a:defRPr>
            </a:pPr>
            <a:r>
              <a:t>  Proposals, unpublished manuscripts, and compliance findings are strictly scoped to the authenticated researcher's UUID.</a:t>
            </a:r>
          </a:p>
          <a:p>
            <a:pPr>
              <a:defRPr sz="950" b="1">
                <a:solidFill>
                  <a:srgbClr val="38BDF8"/>
                </a:solidFill>
                <a:latin typeface="Arial"/>
              </a:defRPr>
            </a:pPr>
            <a:r>
              <a:t>• Persistent Logged-In Sessions: </a:t>
            </a:r>
          </a:p>
          <a:p>
            <a:pPr>
              <a:defRPr sz="900">
                <a:solidFill>
                  <a:srgbClr val="94A3B8"/>
                </a:solidFill>
                <a:latin typeface="Arial"/>
              </a:defRPr>
            </a:pPr>
            <a:r>
              <a:t>  JWT access tokens stored in localStorage allow researchers to refresh or revisit the portal without losing their active audit workspace.</a:t>
            </a:r>
          </a:p>
          <a:p>
            <a:pPr>
              <a:defRPr sz="950" b="1">
                <a:solidFill>
                  <a:srgbClr val="38BDF8"/>
                </a:solidFill>
                <a:latin typeface="Arial"/>
              </a:defRPr>
            </a:pPr>
            <a:r>
              <a:t>• Navbar Identity Indicators: </a:t>
            </a:r>
          </a:p>
          <a:p>
            <a:pPr>
              <a:defRPr sz="900">
                <a:solidFill>
                  <a:srgbClr val="94A3B8"/>
                </a:solidFill>
                <a:latin typeface="Arial"/>
              </a:defRPr>
            </a:pPr>
            <a:r>
              <a:t>  Displays the researcher's name (e.g. 'msrb Portal') and an active session badge with a one-click Sign Out option in the header.</a:t>
            </a:r>
          </a:p>
          <a:p>
            <a:pPr>
              <a:defRPr sz="950" b="1">
                <a:solidFill>
                  <a:srgbClr val="38BDF8"/>
                </a:solidFill>
                <a:latin typeface="Arial"/>
              </a:defRPr>
            </a:pPr>
            <a:r>
              <a:t>• FERPA &amp; Data Protection Compliance: </a:t>
            </a:r>
          </a:p>
          <a:p>
            <a:pPr>
              <a:defRPr sz="900">
                <a:solidFill>
                  <a:srgbClr val="94A3B8"/>
                </a:solidFill>
                <a:latin typeface="Arial"/>
              </a:defRPr>
            </a:pPr>
            <a:r>
              <a:t>  Passwords hashed with bcrypt + salt prevents plaintext leaks, fulfilling university grant security requirements.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0A12"/>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000" b="1">
                <a:solidFill>
                  <a:srgbClr val="F97316"/>
                </a:solidFill>
                <a:latin typeface="Arial"/>
              </a:defRPr>
            </a:pPr>
            <a:r>
              <a:t>COMPONENT 7: COMPLIANCE LOGIC</a:t>
            </a:r>
          </a:p>
        </p:txBody>
      </p:sp>
      <p:sp>
        <p:nvSpPr>
          <p:cNvPr id="3" name="TextBox 2"/>
          <p:cNvSpPr txBox="1"/>
          <p:nvPr/>
        </p:nvSpPr>
        <p:spPr>
          <a:xfrm>
            <a:off x="731520" y="658368"/>
            <a:ext cx="10515600" cy="502920"/>
          </a:xfrm>
          <a:prstGeom prst="rect">
            <a:avLst/>
          </a:prstGeom>
          <a:noFill/>
        </p:spPr>
        <p:txBody>
          <a:bodyPr wrap="square" lIns="0" tIns="0" rIns="0" bIns="0">
            <a:spAutoFit/>
          </a:bodyPr>
          <a:lstStyle/>
          <a:p>
            <a:pPr>
              <a:defRPr sz="2000" b="1">
                <a:solidFill>
                  <a:srgbClr val="FFFFFF"/>
                </a:solidFill>
                <a:latin typeface="Arial"/>
              </a:defRPr>
            </a:pPr>
            <a:r>
              <a:t>Pre-Flight Heuristic Audit Scanner Core (`routes.py`)</a:t>
            </a:r>
          </a:p>
          <a:p>
            <a:pPr>
              <a:defRPr sz="1050">
                <a:solidFill>
                  <a:srgbClr val="38BDF8"/>
                </a:solidFill>
                <a:latin typeface="Arial"/>
              </a:defRPr>
            </a:pPr>
            <a:r>
              <a:t>Evaluating agency constraints and classifying findings into color-coded risk flags</a:t>
            </a:r>
          </a:p>
        </p:txBody>
      </p:sp>
      <p:sp>
        <p:nvSpPr>
          <p:cNvPr id="4" name="Rounded Rectangle 3"/>
          <p:cNvSpPr/>
          <p:nvPr/>
        </p:nvSpPr>
        <p:spPr>
          <a:xfrm>
            <a:off x="731520" y="1371600"/>
            <a:ext cx="5669280" cy="4846320"/>
          </a:xfrm>
          <a:prstGeom prst="roundRect">
            <a:avLst/>
          </a:prstGeom>
          <a:solidFill>
            <a:srgbClr val="0B0F19"/>
          </a:solidFill>
          <a:ln w="12700">
            <a:solidFill>
              <a:srgbClr val="1822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81328"/>
            <a:ext cx="5303520" cy="274320"/>
          </a:xfrm>
          <a:prstGeom prst="rect">
            <a:avLst/>
          </a:prstGeom>
          <a:noFill/>
        </p:spPr>
        <p:txBody>
          <a:bodyPr wrap="square" lIns="0" tIns="0" rIns="0" bIns="0">
            <a:spAutoFit/>
          </a:bodyPr>
          <a:lstStyle/>
          <a:p>
            <a:pPr>
              <a:defRPr sz="950" b="1">
                <a:solidFill>
                  <a:srgbClr val="38BDF8"/>
                </a:solidFill>
                <a:latin typeface="Consolas"/>
              </a:defRPr>
            </a:pPr>
            <a:r>
              <a:t>&gt; backend/routes.py</a:t>
            </a:r>
          </a:p>
        </p:txBody>
      </p:sp>
      <p:sp>
        <p:nvSpPr>
          <p:cNvPr id="6" name="TextBox 5"/>
          <p:cNvSpPr txBox="1"/>
          <p:nvPr/>
        </p:nvSpPr>
        <p:spPr>
          <a:xfrm>
            <a:off x="914400" y="1755648"/>
            <a:ext cx="5303520" cy="4343400"/>
          </a:xfrm>
          <a:prstGeom prst="rect">
            <a:avLst/>
          </a:prstGeom>
          <a:noFill/>
        </p:spPr>
        <p:txBody>
          <a:bodyPr wrap="square" lIns="0" tIns="0" rIns="0" bIns="0">
            <a:spAutoFit/>
          </a:bodyPr>
          <a:lstStyle/>
          <a:p>
            <a:pPr>
              <a:defRPr sz="800">
                <a:solidFill>
                  <a:srgbClr val="E2E8F0"/>
                </a:solidFill>
                <a:latin typeface="Consolas"/>
              </a:defRPr>
            </a:pPr>
            <a:r>
              <a:t># backend/routes.py: Pre-Flight Rule Evaluation Engine</a:t>
            </a:r>
          </a:p>
          <a:p>
            <a:pPr>
              <a:defRPr sz="800">
                <a:solidFill>
                  <a:srgbClr val="E2E8F0"/>
                </a:solidFill>
                <a:latin typeface="Consolas"/>
              </a:defRPr>
            </a:pPr>
            <a:r>
              <a:t>@router.post("/submissions/upload", response_model=SubmissionUploadResponse)</a:t>
            </a:r>
          </a:p>
          <a:p>
            <a:pPr>
              <a:defRPr sz="800">
                <a:solidFill>
                  <a:srgbClr val="E2E8F0"/>
                </a:solidFill>
                <a:latin typeface="Consolas"/>
              </a:defRPr>
            </a:pPr>
            <a:r>
              <a:t>async def upload_and_ingest_grant(...):</a:t>
            </a:r>
          </a:p>
          <a:p>
            <a:pPr>
              <a:defRPr sz="800">
                <a:solidFill>
                  <a:srgbClr val="E2E8F0"/>
                </a:solidFill>
                <a:latin typeface="Consolas"/>
              </a:defRPr>
            </a:pPr>
            <a:r>
              <a:t>    findings = []; audit_score = 100.0</a:t>
            </a:r>
          </a:p>
          <a:p>
            <a:pPr>
              <a:defRPr sz="800">
                <a:solidFill>
                  <a:srgbClr val="E2E8F0"/>
                </a:solidFill>
                <a:latin typeface="Consolas"/>
              </a:defRPr>
            </a:pPr>
          </a:p>
          <a:p>
            <a:pPr>
              <a:defRPr sz="800">
                <a:solidFill>
                  <a:srgbClr val="E2E8F0"/>
                </a:solidFill>
                <a:latin typeface="Consolas"/>
              </a:defRPr>
            </a:pPr>
            <a:r>
              <a:t>    # Rule 1: Minimum Font Size (Federal threshold: 10.0 pt)</a:t>
            </a:r>
          </a:p>
          <a:p>
            <a:pPr>
              <a:defRPr sz="800">
                <a:solidFill>
                  <a:srgbClr val="E2E8F0"/>
                </a:solidFill>
                <a:latin typeface="Consolas"/>
              </a:defRPr>
            </a:pPr>
            <a:r>
              <a:t>    if proposal_ingest.min_font_size &lt; 10.0:</a:t>
            </a:r>
          </a:p>
          <a:p>
            <a:pPr>
              <a:defRPr sz="800">
                <a:solidFill>
                  <a:srgbClr val="E2E8F0"/>
                </a:solidFill>
                <a:latin typeface="Consolas"/>
              </a:defRPr>
            </a:pPr>
            <a:r>
              <a:t>        audit_score -= 25.0</a:t>
            </a:r>
          </a:p>
          <a:p>
            <a:pPr>
              <a:defRPr sz="800">
                <a:solidFill>
                  <a:srgbClr val="E2E8F0"/>
                </a:solidFill>
                <a:latin typeface="Consolas"/>
              </a:defRPr>
            </a:pPr>
            <a:r>
              <a:t>        findings.append(AuditFinding(</a:t>
            </a:r>
          </a:p>
          <a:p>
            <a:pPr>
              <a:defRPr sz="800">
                <a:solidFill>
                  <a:srgbClr val="E2E8F0"/>
                </a:solidFill>
                <a:latin typeface="Consolas"/>
              </a:defRPr>
            </a:pPr>
            <a:r>
              <a:t>            severity=FindingSeverity.RED, category=FindingCategory.FONT_MARGIN,</a:t>
            </a:r>
          </a:p>
          <a:p>
            <a:pPr>
              <a:defRPr sz="800">
                <a:solidFill>
                  <a:srgbClr val="E2E8F0"/>
                </a:solidFill>
                <a:latin typeface="Consolas"/>
              </a:defRPr>
            </a:pPr>
            <a:r>
              <a:t>            message=f"Non-compliant font ({proposal_ingest.min_font_size} pt). Federal minimum is 10 pt.",</a:t>
            </a:r>
          </a:p>
          <a:p>
            <a:pPr>
              <a:defRPr sz="800">
                <a:solidFill>
                  <a:srgbClr val="E2E8F0"/>
                </a:solidFill>
                <a:latin typeface="Consolas"/>
              </a:defRPr>
            </a:pPr>
            <a:r>
              <a:t>            remediation_advice="Reformat sub-captions/footnotes to &gt;=10 pt Arial or 11 pt Times."</a:t>
            </a:r>
          </a:p>
          <a:p>
            <a:pPr>
              <a:defRPr sz="800">
                <a:solidFill>
                  <a:srgbClr val="E2E8F0"/>
                </a:solidFill>
                <a:latin typeface="Consolas"/>
              </a:defRPr>
            </a:pPr>
            <a:r>
              <a:t>        ))</a:t>
            </a:r>
          </a:p>
          <a:p>
            <a:pPr>
              <a:defRPr sz="800">
                <a:solidFill>
                  <a:srgbClr val="E2E8F0"/>
                </a:solidFill>
                <a:latin typeface="Consolas"/>
              </a:defRPr>
            </a:pPr>
          </a:p>
          <a:p>
            <a:pPr>
              <a:defRPr sz="800">
                <a:solidFill>
                  <a:srgbClr val="E2E8F0"/>
                </a:solidFill>
                <a:latin typeface="Consolas"/>
              </a:defRPr>
            </a:pPr>
            <a:r>
              <a:t>    # Rule 2: Margin Bound Check (Threshold: &gt;= 0.75 in)</a:t>
            </a:r>
          </a:p>
          <a:p>
            <a:pPr>
              <a:defRPr sz="800">
                <a:solidFill>
                  <a:srgbClr val="E2E8F0"/>
                </a:solidFill>
                <a:latin typeface="Consolas"/>
              </a:defRPr>
            </a:pPr>
            <a:r>
              <a:t>    if margins["left_in"] &lt; 0.75 or margins["top_in"] &lt; 0.75:</a:t>
            </a:r>
          </a:p>
          <a:p>
            <a:pPr>
              <a:defRPr sz="800">
                <a:solidFill>
                  <a:srgbClr val="E2E8F0"/>
                </a:solidFill>
                <a:latin typeface="Consolas"/>
              </a:defRPr>
            </a:pPr>
            <a:r>
              <a:t>        audit_score -= 20.0</a:t>
            </a:r>
          </a:p>
          <a:p>
            <a:pPr>
              <a:defRPr sz="800">
                <a:solidFill>
                  <a:srgbClr val="E2E8F0"/>
                </a:solidFill>
                <a:latin typeface="Consolas"/>
              </a:defRPr>
            </a:pPr>
            <a:r>
              <a:t>        findings.append(AuditFinding(severity=FindingSeverity.RED, category=FindingCategory.FONT_MARGIN, ...))</a:t>
            </a:r>
          </a:p>
          <a:p>
            <a:pPr>
              <a:defRPr sz="800">
                <a:solidFill>
                  <a:srgbClr val="E2E8F0"/>
                </a:solidFill>
                <a:latin typeface="Consolas"/>
              </a:defRPr>
            </a:pPr>
          </a:p>
          <a:p>
            <a:pPr>
              <a:defRPr sz="800">
                <a:solidFill>
                  <a:srgbClr val="E2E8F0"/>
                </a:solidFill>
                <a:latin typeface="Consolas"/>
              </a:defRPr>
            </a:pPr>
            <a:r>
              <a:t>    # Rule 3: Missing Required Sections (References, Budget)</a:t>
            </a:r>
          </a:p>
          <a:p>
            <a:pPr>
              <a:defRPr sz="800">
                <a:solidFill>
                  <a:srgbClr val="E2E8F0"/>
                </a:solidFill>
                <a:latin typeface="Consolas"/>
              </a:defRPr>
            </a:pPr>
            <a:r>
              <a:t>    for sec in ["references", "budget justification"]:</a:t>
            </a:r>
          </a:p>
          <a:p>
            <a:pPr>
              <a:defRPr sz="800">
                <a:solidFill>
                  <a:srgbClr val="E2E8F0"/>
                </a:solidFill>
                <a:latin typeface="Consolas"/>
              </a:defRPr>
            </a:pPr>
            <a:r>
              <a:t>        if sec not in proposal_ingest.sections_detected:</a:t>
            </a:r>
          </a:p>
          <a:p>
            <a:pPr>
              <a:defRPr sz="800">
                <a:solidFill>
                  <a:srgbClr val="E2E8F0"/>
                </a:solidFill>
                <a:latin typeface="Consolas"/>
              </a:defRPr>
            </a:pPr>
            <a:r>
              <a:t>            audit_score -= 10.0</a:t>
            </a:r>
          </a:p>
          <a:p>
            <a:pPr>
              <a:defRPr sz="800">
                <a:solidFill>
                  <a:srgbClr val="E2E8F0"/>
                </a:solidFill>
                <a:latin typeface="Consolas"/>
              </a:defRPr>
            </a:pPr>
            <a:r>
              <a:t>            findings.append(AuditFinding(severity=FindingSeverity.YELLOW, category=FindingCategory.MANDATORY_SECTION, ...))</a:t>
            </a:r>
          </a:p>
        </p:txBody>
      </p:sp>
      <p:sp>
        <p:nvSpPr>
          <p:cNvPr id="7" name="Rounded Rectangle 6"/>
          <p:cNvSpPr/>
          <p:nvPr/>
        </p:nvSpPr>
        <p:spPr>
          <a:xfrm>
            <a:off x="6583680" y="1371600"/>
            <a:ext cx="4876495" cy="4846320"/>
          </a:xfrm>
          <a:prstGeom prst="roundRect">
            <a:avLst/>
          </a:prstGeom>
          <a:solidFill>
            <a:srgbClr val="121E31"/>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12280" y="1554480"/>
            <a:ext cx="4419295" cy="4480560"/>
          </a:xfrm>
          <a:prstGeom prst="rect">
            <a:avLst/>
          </a:prstGeom>
          <a:noFill/>
        </p:spPr>
        <p:txBody>
          <a:bodyPr wrap="square" lIns="0" tIns="0" rIns="0" bIns="0">
            <a:spAutoFit/>
          </a:bodyPr>
          <a:lstStyle/>
          <a:p>
            <a:pPr>
              <a:defRPr sz="1100" b="1">
                <a:solidFill>
                  <a:srgbClr val="F97316"/>
                </a:solidFill>
                <a:latin typeface="Arial"/>
              </a:defRPr>
            </a:pPr>
            <a:r>
              <a:t>⚡ IMPACT ON WEBSITE &amp; USER EXPERIENCE</a:t>
            </a:r>
          </a:p>
          <a:p>
            <a:pPr>
              <a:defRPr sz="1300" b="1">
                <a:solidFill>
                  <a:srgbClr val="FFFFFF"/>
                </a:solidFill>
                <a:latin typeface="Arial"/>
              </a:defRPr>
            </a:pPr>
            <a:r>
              <a:t>How the Scanner Impacts the Website</a:t>
            </a:r>
          </a:p>
          <a:p>
            <a:pPr>
              <a:defRPr sz="950" b="1">
                <a:solidFill>
                  <a:srgbClr val="38BDF8"/>
                </a:solidFill>
                <a:latin typeface="Arial"/>
              </a:defRPr>
            </a:pPr>
            <a:r>
              <a:t>• Color-Coded Risk Banners in UI: </a:t>
            </a:r>
          </a:p>
          <a:p>
            <a:pPr>
              <a:defRPr sz="900">
                <a:solidFill>
                  <a:srgbClr val="94A3B8"/>
                </a:solidFill>
                <a:latin typeface="Arial"/>
              </a:defRPr>
            </a:pPr>
            <a:r>
              <a:t>  Renders RED alert cards for fatal desk-rejection errors (e.g. font &lt; 10pt) and YELLOW advisory cards for warnings.</a:t>
            </a:r>
          </a:p>
          <a:p>
            <a:pPr>
              <a:defRPr sz="950" b="1">
                <a:solidFill>
                  <a:srgbClr val="38BDF8"/>
                </a:solidFill>
                <a:latin typeface="Arial"/>
              </a:defRPr>
            </a:pPr>
            <a:r>
              <a:t>• Real-Time Compliance Score Meter: </a:t>
            </a:r>
          </a:p>
          <a:p>
            <a:pPr>
              <a:defRPr sz="900">
                <a:solidFill>
                  <a:srgbClr val="94A3B8"/>
                </a:solidFill>
                <a:latin typeface="Arial"/>
              </a:defRPr>
            </a:pPr>
            <a:r>
              <a:t>  Dynamically updates the score pill (e.g. '75.0%') in emerald green (&gt;=80%) or amber yellow (&lt;80%).</a:t>
            </a:r>
          </a:p>
          <a:p>
            <a:pPr>
              <a:defRPr sz="950" b="1">
                <a:solidFill>
                  <a:srgbClr val="38BDF8"/>
                </a:solidFill>
                <a:latin typeface="Arial"/>
              </a:defRPr>
            </a:pPr>
            <a:r>
              <a:t>• Actionable Remediation Guidance: </a:t>
            </a:r>
          </a:p>
          <a:p>
            <a:pPr>
              <a:defRPr sz="900">
                <a:solidFill>
                  <a:srgbClr val="94A3B8"/>
                </a:solidFill>
                <a:latin typeface="Arial"/>
              </a:defRPr>
            </a:pPr>
            <a:r>
              <a:t>  Every finding card displays a concrete 'Remediation' box telling the author exactly how to modify their document.</a:t>
            </a:r>
          </a:p>
          <a:p>
            <a:pPr>
              <a:defRPr sz="950" b="1">
                <a:solidFill>
                  <a:srgbClr val="38BDF8"/>
                </a:solidFill>
                <a:latin typeface="Arial"/>
              </a:defRPr>
            </a:pPr>
            <a:r>
              <a:t>• Institutional Clearance Badge: </a:t>
            </a:r>
          </a:p>
          <a:p>
            <a:pPr>
              <a:defRPr sz="900">
                <a:solidFill>
                  <a:srgbClr val="94A3B8"/>
                </a:solidFill>
                <a:latin typeface="Arial"/>
              </a:defRPr>
            </a:pPr>
            <a:r>
              <a:t>  Renders '✓ SRO Clearance Ready' (Green) or '⚠ Action Required' (Red) for university grant officers.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70A12"/>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000" b="1">
                <a:solidFill>
                  <a:srgbClr val="F97316"/>
                </a:solidFill>
                <a:latin typeface="Arial"/>
              </a:defRPr>
            </a:pPr>
            <a:r>
              <a:t>COMPONENT 8: UI ARCHITECTURE</a:t>
            </a:r>
          </a:p>
        </p:txBody>
      </p:sp>
      <p:sp>
        <p:nvSpPr>
          <p:cNvPr id="3" name="TextBox 2"/>
          <p:cNvSpPr txBox="1"/>
          <p:nvPr/>
        </p:nvSpPr>
        <p:spPr>
          <a:xfrm>
            <a:off x="731520" y="658368"/>
            <a:ext cx="10515600" cy="502920"/>
          </a:xfrm>
          <a:prstGeom prst="rect">
            <a:avLst/>
          </a:prstGeom>
          <a:noFill/>
        </p:spPr>
        <p:txBody>
          <a:bodyPr wrap="square" lIns="0" tIns="0" rIns="0" bIns="0">
            <a:spAutoFit/>
          </a:bodyPr>
          <a:lstStyle/>
          <a:p>
            <a:pPr>
              <a:defRPr sz="2000" b="1">
                <a:solidFill>
                  <a:srgbClr val="FFFFFF"/>
                </a:solidFill>
                <a:latin typeface="Arial"/>
              </a:defRPr>
            </a:pPr>
            <a:r>
              <a:t>Researcher Portal &amp; Auth Components (`AuthPortal.jsx` &amp; `App.jsx`)</a:t>
            </a:r>
          </a:p>
          <a:p>
            <a:pPr>
              <a:defRPr sz="1050">
                <a:solidFill>
                  <a:srgbClr val="38BDF8"/>
                </a:solidFill>
                <a:latin typeface="Arial"/>
              </a:defRPr>
            </a:pPr>
            <a:r>
              <a:t>Tailwind CSS dark obsidian portal with reactive view routing</a:t>
            </a:r>
          </a:p>
        </p:txBody>
      </p:sp>
      <p:sp>
        <p:nvSpPr>
          <p:cNvPr id="4" name="Rounded Rectangle 3"/>
          <p:cNvSpPr/>
          <p:nvPr/>
        </p:nvSpPr>
        <p:spPr>
          <a:xfrm>
            <a:off x="731520" y="1371600"/>
            <a:ext cx="5669280" cy="4846320"/>
          </a:xfrm>
          <a:prstGeom prst="roundRect">
            <a:avLst/>
          </a:prstGeom>
          <a:solidFill>
            <a:srgbClr val="0B0F19"/>
          </a:solidFill>
          <a:ln w="12700">
            <a:solidFill>
              <a:srgbClr val="1822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81328"/>
            <a:ext cx="5303520" cy="274320"/>
          </a:xfrm>
          <a:prstGeom prst="rect">
            <a:avLst/>
          </a:prstGeom>
          <a:noFill/>
        </p:spPr>
        <p:txBody>
          <a:bodyPr wrap="square" lIns="0" tIns="0" rIns="0" bIns="0">
            <a:spAutoFit/>
          </a:bodyPr>
          <a:lstStyle/>
          <a:p>
            <a:pPr>
              <a:defRPr sz="950" b="1">
                <a:solidFill>
                  <a:srgbClr val="38BDF8"/>
                </a:solidFill>
                <a:latin typeface="Consolas"/>
              </a:defRPr>
            </a:pPr>
            <a:r>
              <a:t>&gt; frontend/src/components/portal/AuthPortal.jsx</a:t>
            </a:r>
          </a:p>
        </p:txBody>
      </p:sp>
      <p:sp>
        <p:nvSpPr>
          <p:cNvPr id="6" name="TextBox 5"/>
          <p:cNvSpPr txBox="1"/>
          <p:nvPr/>
        </p:nvSpPr>
        <p:spPr>
          <a:xfrm>
            <a:off x="914400" y="1755648"/>
            <a:ext cx="5303520" cy="4343400"/>
          </a:xfrm>
          <a:prstGeom prst="rect">
            <a:avLst/>
          </a:prstGeom>
          <a:noFill/>
        </p:spPr>
        <p:txBody>
          <a:bodyPr wrap="square" lIns="0" tIns="0" rIns="0" bIns="0">
            <a:spAutoFit/>
          </a:bodyPr>
          <a:lstStyle/>
          <a:p>
            <a:pPr>
              <a:defRPr sz="800">
                <a:solidFill>
                  <a:srgbClr val="E2E8F0"/>
                </a:solidFill>
                <a:latin typeface="Consolas"/>
              </a:defRPr>
            </a:pPr>
            <a:r>
              <a:t>// frontend/src/App.jsx &amp; AuthPortal.jsx: Reactive Session Lifecycle</a:t>
            </a:r>
          </a:p>
          <a:p>
            <a:pPr>
              <a:defRPr sz="800">
                <a:solidFill>
                  <a:srgbClr val="E2E8F0"/>
                </a:solidFill>
                <a:latin typeface="Consolas"/>
              </a:defRPr>
            </a:pPr>
            <a:r>
              <a:t>// App.jsx automatically validates stored token against backend on mount</a:t>
            </a:r>
          </a:p>
          <a:p>
            <a:pPr>
              <a:defRPr sz="800">
                <a:solidFill>
                  <a:srgbClr val="E2E8F0"/>
                </a:solidFill>
                <a:latin typeface="Consolas"/>
              </a:defRPr>
            </a:pPr>
            <a:r>
              <a:t>useEffect(() =&gt; {</a:t>
            </a:r>
          </a:p>
          <a:p>
            <a:pPr>
              <a:defRPr sz="800">
                <a:solidFill>
                  <a:srgbClr val="E2E8F0"/>
                </a:solidFill>
                <a:latin typeface="Consolas"/>
              </a:defRPr>
            </a:pPr>
            <a:r>
              <a:t>  const validateSession = async () =&gt; {</a:t>
            </a:r>
          </a:p>
          <a:p>
            <a:pPr>
              <a:defRPr sz="800">
                <a:solidFill>
                  <a:srgbClr val="E2E8F0"/>
                </a:solidFill>
                <a:latin typeface="Consolas"/>
              </a:defRPr>
            </a:pPr>
            <a:r>
              <a:t>    const token = localStorage.getItem('grantlens_token');</a:t>
            </a:r>
          </a:p>
          <a:p>
            <a:pPr>
              <a:defRPr sz="800">
                <a:solidFill>
                  <a:srgbClr val="E2E8F0"/>
                </a:solidFill>
                <a:latin typeface="Consolas"/>
              </a:defRPr>
            </a:pPr>
            <a:r>
              <a:t>    if (!token) return;</a:t>
            </a:r>
          </a:p>
          <a:p>
            <a:pPr>
              <a:defRPr sz="800">
                <a:solidFill>
                  <a:srgbClr val="E2E8F0"/>
                </a:solidFill>
                <a:latin typeface="Consolas"/>
              </a:defRPr>
            </a:pPr>
            <a:r>
              <a:t>    const res = await fetch(`${API_BASE}/api/v1/auth/me`, {</a:t>
            </a:r>
          </a:p>
          <a:p>
            <a:pPr>
              <a:defRPr sz="800">
                <a:solidFill>
                  <a:srgbClr val="E2E8F0"/>
                </a:solidFill>
                <a:latin typeface="Consolas"/>
              </a:defRPr>
            </a:pPr>
            <a:r>
              <a:t>      headers: { 'Authorization': `Bearer ${token}` }</a:t>
            </a:r>
          </a:p>
          <a:p>
            <a:pPr>
              <a:defRPr sz="800">
                <a:solidFill>
                  <a:srgbClr val="E2E8F0"/>
                </a:solidFill>
                <a:latin typeface="Consolas"/>
              </a:defRPr>
            </a:pPr>
            <a:r>
              <a:t>    });</a:t>
            </a:r>
          </a:p>
          <a:p>
            <a:pPr>
              <a:defRPr sz="800">
                <a:solidFill>
                  <a:srgbClr val="E2E8F0"/>
                </a:solidFill>
                <a:latin typeface="Consolas"/>
              </a:defRPr>
            </a:pPr>
            <a:r>
              <a:t>    if (!res.ok) { // Expired or stale token -&gt; automatically purge</a:t>
            </a:r>
          </a:p>
          <a:p>
            <a:pPr>
              <a:defRPr sz="800">
                <a:solidFill>
                  <a:srgbClr val="E2E8F0"/>
                </a:solidFill>
                <a:latin typeface="Consolas"/>
              </a:defRPr>
            </a:pPr>
            <a:r>
              <a:t>      localStorage.removeItem('grantlens_token');</a:t>
            </a:r>
          </a:p>
          <a:p>
            <a:pPr>
              <a:defRPr sz="800">
                <a:solidFill>
                  <a:srgbClr val="E2E8F0"/>
                </a:solidFill>
                <a:latin typeface="Consolas"/>
              </a:defRPr>
            </a:pPr>
            <a:r>
              <a:t>      localStorage.removeItem('grantlens_user');</a:t>
            </a:r>
          </a:p>
          <a:p>
            <a:pPr>
              <a:defRPr sz="800">
                <a:solidFill>
                  <a:srgbClr val="E2E8F0"/>
                </a:solidFill>
                <a:latin typeface="Consolas"/>
              </a:defRPr>
            </a:pPr>
            <a:r>
              <a:t>      setCurrentUser(null);</a:t>
            </a:r>
          </a:p>
          <a:p>
            <a:pPr>
              <a:defRPr sz="800">
                <a:solidFill>
                  <a:srgbClr val="E2E8F0"/>
                </a:solidFill>
                <a:latin typeface="Consolas"/>
              </a:defRPr>
            </a:pPr>
            <a:r>
              <a:t>    }</a:t>
            </a:r>
          </a:p>
          <a:p>
            <a:pPr>
              <a:defRPr sz="800">
                <a:solidFill>
                  <a:srgbClr val="E2E8F0"/>
                </a:solidFill>
                <a:latin typeface="Consolas"/>
              </a:defRPr>
            </a:pPr>
            <a:r>
              <a:t>  };</a:t>
            </a:r>
          </a:p>
          <a:p>
            <a:pPr>
              <a:defRPr sz="800">
                <a:solidFill>
                  <a:srgbClr val="E2E8F0"/>
                </a:solidFill>
                <a:latin typeface="Consolas"/>
              </a:defRPr>
            </a:pPr>
            <a:r>
              <a:t>  validateSession();</a:t>
            </a:r>
          </a:p>
          <a:p>
            <a:pPr>
              <a:defRPr sz="800">
                <a:solidFill>
                  <a:srgbClr val="E2E8F0"/>
                </a:solidFill>
                <a:latin typeface="Consolas"/>
              </a:defRPr>
            </a:pPr>
            <a:r>
              <a:t>}, []);</a:t>
            </a:r>
          </a:p>
        </p:txBody>
      </p:sp>
      <p:sp>
        <p:nvSpPr>
          <p:cNvPr id="7" name="Rounded Rectangle 6"/>
          <p:cNvSpPr/>
          <p:nvPr/>
        </p:nvSpPr>
        <p:spPr>
          <a:xfrm>
            <a:off x="6583680" y="1371600"/>
            <a:ext cx="4876495" cy="4846320"/>
          </a:xfrm>
          <a:prstGeom prst="roundRect">
            <a:avLst/>
          </a:prstGeom>
          <a:solidFill>
            <a:srgbClr val="121E31"/>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12280" y="1554480"/>
            <a:ext cx="4419295" cy="4480560"/>
          </a:xfrm>
          <a:prstGeom prst="rect">
            <a:avLst/>
          </a:prstGeom>
          <a:noFill/>
        </p:spPr>
        <p:txBody>
          <a:bodyPr wrap="square" lIns="0" tIns="0" rIns="0" bIns="0">
            <a:spAutoFit/>
          </a:bodyPr>
          <a:lstStyle/>
          <a:p>
            <a:pPr>
              <a:defRPr sz="1100" b="1">
                <a:solidFill>
                  <a:srgbClr val="F97316"/>
                </a:solidFill>
                <a:latin typeface="Arial"/>
              </a:defRPr>
            </a:pPr>
            <a:r>
              <a:t>⚡ IMPACT ON WEBSITE &amp; USER EXPERIENCE</a:t>
            </a:r>
          </a:p>
          <a:p>
            <a:pPr>
              <a:defRPr sz="1300" b="1">
                <a:solidFill>
                  <a:srgbClr val="FFFFFF"/>
                </a:solidFill>
                <a:latin typeface="Arial"/>
              </a:defRPr>
            </a:pPr>
            <a:r>
              <a:t>How Portal UI Architecture Impacts the Website</a:t>
            </a:r>
          </a:p>
          <a:p>
            <a:pPr>
              <a:defRPr sz="950" b="1">
                <a:solidFill>
                  <a:srgbClr val="38BDF8"/>
                </a:solidFill>
                <a:latin typeface="Arial"/>
              </a:defRPr>
            </a:pPr>
            <a:r>
              <a:t>• Single-Page Seamless Navigation: </a:t>
            </a:r>
          </a:p>
          <a:p>
            <a:pPr>
              <a:defRPr sz="900">
                <a:solidFill>
                  <a:srgbClr val="94A3B8"/>
                </a:solidFill>
                <a:latin typeface="Arial"/>
              </a:defRPr>
            </a:pPr>
            <a:r>
              <a:t>  Researchers seamlessly transition between the public landing overview and private audit portal without full page reloads.</a:t>
            </a:r>
          </a:p>
          <a:p>
            <a:pPr>
              <a:defRPr sz="950" b="1">
                <a:solidFill>
                  <a:srgbClr val="38BDF8"/>
                </a:solidFill>
                <a:latin typeface="Arial"/>
              </a:defRPr>
            </a:pPr>
            <a:r>
              <a:t>• Institutional Single Sign-On (SSO) Ready: </a:t>
            </a:r>
          </a:p>
          <a:p>
            <a:pPr>
              <a:defRPr sz="900">
                <a:solidFill>
                  <a:srgbClr val="94A3B8"/>
                </a:solidFill>
                <a:latin typeface="Arial"/>
              </a:defRPr>
            </a:pPr>
            <a:r>
              <a:t>  Includes a dedicated button for InCommon / EduGAIN SAML university federation login alongside standard password auth.</a:t>
            </a:r>
          </a:p>
          <a:p>
            <a:pPr>
              <a:defRPr sz="950" b="1">
                <a:solidFill>
                  <a:srgbClr val="38BDF8"/>
                </a:solidFill>
                <a:latin typeface="Arial"/>
              </a:defRPr>
            </a:pPr>
            <a:r>
              <a:t>• Form Validation &amp; Feedback: </a:t>
            </a:r>
          </a:p>
          <a:p>
            <a:pPr>
              <a:defRPr sz="900">
                <a:solidFill>
                  <a:srgbClr val="94A3B8"/>
                </a:solidFill>
                <a:latin typeface="Arial"/>
              </a:defRPr>
            </a:pPr>
            <a:r>
              <a:t>  Provides immediate inline validation cues, animated loading spinners, and clear error banners (e.g. duplicate email alerts).</a:t>
            </a:r>
          </a:p>
          <a:p>
            <a:pPr>
              <a:defRPr sz="950" b="1">
                <a:solidFill>
                  <a:srgbClr val="38BDF8"/>
                </a:solidFill>
                <a:latin typeface="Arial"/>
              </a:defRPr>
            </a:pPr>
            <a:r>
              <a:t>• Accessible &amp; Responsive Design: </a:t>
            </a:r>
          </a:p>
          <a:p>
            <a:pPr>
              <a:defRPr sz="900">
                <a:solidFill>
                  <a:srgbClr val="94A3B8"/>
                </a:solidFill>
                <a:latin typeface="Arial"/>
              </a:defRPr>
            </a:pPr>
            <a:r>
              <a:t>  Fully responsive across laptop and mobile displays using Tailwind's dark slate palette (#070A12, #0F1626).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70A12"/>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000" b="1">
                <a:solidFill>
                  <a:srgbClr val="F97316"/>
                </a:solidFill>
                <a:latin typeface="Arial"/>
              </a:defRPr>
            </a:pPr>
            <a:r>
              <a:t>COMPONENT 9: UPLOAD EXPERIENCE</a:t>
            </a:r>
          </a:p>
        </p:txBody>
      </p:sp>
      <p:sp>
        <p:nvSpPr>
          <p:cNvPr id="3" name="TextBox 2"/>
          <p:cNvSpPr txBox="1"/>
          <p:nvPr/>
        </p:nvSpPr>
        <p:spPr>
          <a:xfrm>
            <a:off x="731520" y="658368"/>
            <a:ext cx="10515600" cy="502920"/>
          </a:xfrm>
          <a:prstGeom prst="rect">
            <a:avLst/>
          </a:prstGeom>
          <a:noFill/>
        </p:spPr>
        <p:txBody>
          <a:bodyPr wrap="square" lIns="0" tIns="0" rIns="0" bIns="0">
            <a:spAutoFit/>
          </a:bodyPr>
          <a:lstStyle/>
          <a:p>
            <a:pPr>
              <a:defRPr sz="2000" b="1">
                <a:solidFill>
                  <a:srgbClr val="FFFFFF"/>
                </a:solidFill>
                <a:latin typeface="Arial"/>
              </a:defRPr>
            </a:pPr>
            <a:r>
              <a:t>Interactive Dual PDF Upload Workspace (`SubmissionPortal.jsx`)</a:t>
            </a:r>
          </a:p>
          <a:p>
            <a:pPr>
              <a:defRPr sz="1050">
                <a:solidFill>
                  <a:srgbClr val="38BDF8"/>
                </a:solidFill>
                <a:latin typeface="Arial"/>
              </a:defRPr>
            </a:pPr>
            <a:r>
              <a:t>Dual dropzone for call guidelines and draft manuscript submission</a:t>
            </a:r>
          </a:p>
        </p:txBody>
      </p:sp>
      <p:sp>
        <p:nvSpPr>
          <p:cNvPr id="4" name="Rounded Rectangle 3"/>
          <p:cNvSpPr/>
          <p:nvPr/>
        </p:nvSpPr>
        <p:spPr>
          <a:xfrm>
            <a:off x="731520" y="1371600"/>
            <a:ext cx="5669280" cy="4846320"/>
          </a:xfrm>
          <a:prstGeom prst="roundRect">
            <a:avLst/>
          </a:prstGeom>
          <a:solidFill>
            <a:srgbClr val="0B0F19"/>
          </a:solidFill>
          <a:ln w="12700">
            <a:solidFill>
              <a:srgbClr val="1822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81328"/>
            <a:ext cx="5303520" cy="274320"/>
          </a:xfrm>
          <a:prstGeom prst="rect">
            <a:avLst/>
          </a:prstGeom>
          <a:noFill/>
        </p:spPr>
        <p:txBody>
          <a:bodyPr wrap="square" lIns="0" tIns="0" rIns="0" bIns="0">
            <a:spAutoFit/>
          </a:bodyPr>
          <a:lstStyle/>
          <a:p>
            <a:pPr>
              <a:defRPr sz="950" b="1">
                <a:solidFill>
                  <a:srgbClr val="38BDF8"/>
                </a:solidFill>
                <a:latin typeface="Consolas"/>
              </a:defRPr>
            </a:pPr>
            <a:r>
              <a:t>&gt; frontend/src/components/portal/SubmissionPortal.jsx</a:t>
            </a:r>
          </a:p>
        </p:txBody>
      </p:sp>
      <p:sp>
        <p:nvSpPr>
          <p:cNvPr id="6" name="TextBox 5"/>
          <p:cNvSpPr txBox="1"/>
          <p:nvPr/>
        </p:nvSpPr>
        <p:spPr>
          <a:xfrm>
            <a:off x="914400" y="1755648"/>
            <a:ext cx="5303520" cy="4343400"/>
          </a:xfrm>
          <a:prstGeom prst="rect">
            <a:avLst/>
          </a:prstGeom>
          <a:noFill/>
        </p:spPr>
        <p:txBody>
          <a:bodyPr wrap="square" lIns="0" tIns="0" rIns="0" bIns="0">
            <a:spAutoFit/>
          </a:bodyPr>
          <a:lstStyle/>
          <a:p>
            <a:pPr>
              <a:defRPr sz="800">
                <a:solidFill>
                  <a:srgbClr val="E2E8F0"/>
                </a:solidFill>
                <a:latin typeface="Consolas"/>
              </a:defRPr>
            </a:pPr>
            <a:r>
              <a:t>// frontend/src/components/portal/SubmissionPortal.jsx</a:t>
            </a:r>
          </a:p>
          <a:p>
            <a:pPr>
              <a:defRPr sz="800">
                <a:solidFill>
                  <a:srgbClr val="E2E8F0"/>
                </a:solidFill>
                <a:latin typeface="Consolas"/>
              </a:defRPr>
            </a:pPr>
            <a:r>
              <a:t>export default function SubmissionPortal({ user, token, onSignOut }) {</a:t>
            </a:r>
          </a:p>
          <a:p>
            <a:pPr>
              <a:defRPr sz="800">
                <a:solidFill>
                  <a:srgbClr val="E2E8F0"/>
                </a:solidFill>
                <a:latin typeface="Consolas"/>
              </a:defRPr>
            </a:pPr>
            <a:r>
              <a:t>  // Interactive error banner with 1-click session recovery</a:t>
            </a:r>
          </a:p>
          <a:p>
            <a:pPr>
              <a:defRPr sz="800">
                <a:solidFill>
                  <a:srgbClr val="E2E8F0"/>
                </a:solidFill>
                <a:latin typeface="Consolas"/>
              </a:defRPr>
            </a:pPr>
            <a:r>
              <a:t>  {error &amp;&amp; (</a:t>
            </a:r>
          </a:p>
          <a:p>
            <a:pPr>
              <a:defRPr sz="800">
                <a:solidFill>
                  <a:srgbClr val="E2E8F0"/>
                </a:solidFill>
                <a:latin typeface="Consolas"/>
              </a:defRPr>
            </a:pPr>
            <a:r>
              <a:t>    &lt;div className="p-4 rounded-xl bg-red-500/10 border border-red-500/30 flex justify-between"&gt;</a:t>
            </a:r>
          </a:p>
          <a:p>
            <a:pPr>
              <a:defRPr sz="800">
                <a:solidFill>
                  <a:srgbClr val="E2E8F0"/>
                </a:solidFill>
                <a:latin typeface="Consolas"/>
              </a:defRPr>
            </a:pPr>
            <a:r>
              <a:t>      &lt;span&gt;{error}&lt;/span&gt;</a:t>
            </a:r>
          </a:p>
          <a:p>
            <a:pPr>
              <a:defRPr sz="800">
                <a:solidFill>
                  <a:srgbClr val="E2E8F0"/>
                </a:solidFill>
                <a:latin typeface="Consolas"/>
              </a:defRPr>
            </a:pPr>
            <a:r>
              <a:t>      {(error.includes('expired') || error.includes('credentials')) &amp;&amp; (</a:t>
            </a:r>
          </a:p>
          <a:p>
            <a:pPr>
              <a:defRPr sz="800">
                <a:solidFill>
                  <a:srgbClr val="E2E8F0"/>
                </a:solidFill>
                <a:latin typeface="Consolas"/>
              </a:defRPr>
            </a:pPr>
            <a:r>
              <a:t>        &lt;button onClick={onSignOut} className="px-3 py-1 bg-red-500/20 rounded-lg"&gt;</a:t>
            </a:r>
          </a:p>
          <a:p>
            <a:pPr>
              <a:defRPr sz="800">
                <a:solidFill>
                  <a:srgbClr val="E2E8F0"/>
                </a:solidFill>
                <a:latin typeface="Consolas"/>
              </a:defRPr>
            </a:pPr>
            <a:r>
              <a:t>          Sign Out &amp; Re-Login</a:t>
            </a:r>
          </a:p>
          <a:p>
            <a:pPr>
              <a:defRPr sz="800">
                <a:solidFill>
                  <a:srgbClr val="E2E8F0"/>
                </a:solidFill>
                <a:latin typeface="Consolas"/>
              </a:defRPr>
            </a:pPr>
            <a:r>
              <a:t>        &lt;/button&gt;</a:t>
            </a:r>
          </a:p>
          <a:p>
            <a:pPr>
              <a:defRPr sz="800">
                <a:solidFill>
                  <a:srgbClr val="E2E8F0"/>
                </a:solidFill>
                <a:latin typeface="Consolas"/>
              </a:defRPr>
            </a:pPr>
            <a:r>
              <a:t>      )}</a:t>
            </a:r>
          </a:p>
          <a:p>
            <a:pPr>
              <a:defRPr sz="800">
                <a:solidFill>
                  <a:srgbClr val="E2E8F0"/>
                </a:solidFill>
                <a:latin typeface="Consolas"/>
              </a:defRPr>
            </a:pPr>
            <a:r>
              <a:t>    &lt;/div&gt;</a:t>
            </a:r>
          </a:p>
          <a:p>
            <a:pPr>
              <a:defRPr sz="800">
                <a:solidFill>
                  <a:srgbClr val="E2E8F0"/>
                </a:solidFill>
                <a:latin typeface="Consolas"/>
              </a:defRPr>
            </a:pPr>
            <a:r>
              <a:t>  )}</a:t>
            </a:r>
          </a:p>
          <a:p>
            <a:pPr>
              <a:defRPr sz="800">
                <a:solidFill>
                  <a:srgbClr val="E2E8F0"/>
                </a:solidFill>
                <a:latin typeface="Consolas"/>
              </a:defRPr>
            </a:pPr>
          </a:p>
          <a:p>
            <a:pPr>
              <a:defRPr sz="800">
                <a:solidFill>
                  <a:srgbClr val="E2E8F0"/>
                </a:solidFill>
                <a:latin typeface="Consolas"/>
              </a:defRPr>
            </a:pPr>
            <a:r>
              <a:t>  // Dual-file multipart payload dispatch</a:t>
            </a:r>
          </a:p>
          <a:p>
            <a:pPr>
              <a:defRPr sz="800">
                <a:solidFill>
                  <a:srgbClr val="E2E8F0"/>
                </a:solidFill>
                <a:latin typeface="Consolas"/>
              </a:defRPr>
            </a:pPr>
            <a:r>
              <a:t>  const res = await fetch(`${API_BASE}/api/v1/submissions/upload`, {</a:t>
            </a:r>
          </a:p>
          <a:p>
            <a:pPr>
              <a:defRPr sz="800">
                <a:solidFill>
                  <a:srgbClr val="E2E8F0"/>
                </a:solidFill>
                <a:latin typeface="Consolas"/>
              </a:defRPr>
            </a:pPr>
            <a:r>
              <a:t>    method: 'POST',</a:t>
            </a:r>
          </a:p>
          <a:p>
            <a:pPr>
              <a:defRPr sz="800">
                <a:solidFill>
                  <a:srgbClr val="E2E8F0"/>
                </a:solidFill>
                <a:latin typeface="Consolas"/>
              </a:defRPr>
            </a:pPr>
            <a:r>
              <a:t>    headers: { 'Authorization': `Bearer ${token}` },</a:t>
            </a:r>
          </a:p>
          <a:p>
            <a:pPr>
              <a:defRPr sz="800">
                <a:solidFill>
                  <a:srgbClr val="E2E8F0"/>
                </a:solidFill>
                <a:latin typeface="Consolas"/>
              </a:defRPr>
            </a:pPr>
            <a:r>
              <a:t>    body: formData</a:t>
            </a:r>
          </a:p>
          <a:p>
            <a:pPr>
              <a:defRPr sz="800">
                <a:solidFill>
                  <a:srgbClr val="E2E8F0"/>
                </a:solidFill>
                <a:latin typeface="Consolas"/>
              </a:defRPr>
            </a:pPr>
            <a:r>
              <a:t>  });</a:t>
            </a:r>
          </a:p>
        </p:txBody>
      </p:sp>
      <p:sp>
        <p:nvSpPr>
          <p:cNvPr id="7" name="Rounded Rectangle 6"/>
          <p:cNvSpPr/>
          <p:nvPr/>
        </p:nvSpPr>
        <p:spPr>
          <a:xfrm>
            <a:off x="6583680" y="1371600"/>
            <a:ext cx="4876495" cy="4846320"/>
          </a:xfrm>
          <a:prstGeom prst="roundRect">
            <a:avLst/>
          </a:prstGeom>
          <a:solidFill>
            <a:srgbClr val="121E31"/>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12280" y="1554480"/>
            <a:ext cx="4419295" cy="4480560"/>
          </a:xfrm>
          <a:prstGeom prst="rect">
            <a:avLst/>
          </a:prstGeom>
          <a:noFill/>
        </p:spPr>
        <p:txBody>
          <a:bodyPr wrap="square" lIns="0" tIns="0" rIns="0" bIns="0">
            <a:spAutoFit/>
          </a:bodyPr>
          <a:lstStyle/>
          <a:p>
            <a:pPr>
              <a:defRPr sz="1100" b="1">
                <a:solidFill>
                  <a:srgbClr val="F97316"/>
                </a:solidFill>
                <a:latin typeface="Arial"/>
              </a:defRPr>
            </a:pPr>
            <a:r>
              <a:t>⚡ IMPACT ON WEBSITE &amp; USER EXPERIENCE</a:t>
            </a:r>
          </a:p>
          <a:p>
            <a:pPr>
              <a:defRPr sz="1300" b="1">
                <a:solidFill>
                  <a:srgbClr val="FFFFFF"/>
                </a:solidFill>
                <a:latin typeface="Arial"/>
              </a:defRPr>
            </a:pPr>
            <a:r>
              <a:t>How Upload Workspace Impacts the Website</a:t>
            </a:r>
          </a:p>
          <a:p>
            <a:pPr>
              <a:defRPr sz="950" b="1">
                <a:solidFill>
                  <a:srgbClr val="38BDF8"/>
                </a:solidFill>
                <a:latin typeface="Arial"/>
              </a:defRPr>
            </a:pPr>
            <a:r>
              <a:t>• Side-by-Side Dual Ingestion: </a:t>
            </a:r>
          </a:p>
          <a:p>
            <a:pPr>
              <a:defRPr sz="900">
                <a:solidFill>
                  <a:srgbClr val="94A3B8"/>
                </a:solidFill>
                <a:latin typeface="Arial"/>
              </a:defRPr>
            </a:pPr>
            <a:r>
              <a:t>  Eliminates confusion by separating the agency solicitation call (guidelines) from the author's draft proposal PDF.</a:t>
            </a:r>
          </a:p>
          <a:p>
            <a:pPr>
              <a:defRPr sz="950" b="1">
                <a:solidFill>
                  <a:srgbClr val="38BDF8"/>
                </a:solidFill>
                <a:latin typeface="Arial"/>
              </a:defRPr>
            </a:pPr>
            <a:r>
              <a:t>• Visual File Upload Feedback: </a:t>
            </a:r>
          </a:p>
          <a:p>
            <a:pPr>
              <a:defRPr sz="900">
                <a:solidFill>
                  <a:srgbClr val="94A3B8"/>
                </a:solidFill>
                <a:latin typeface="Arial"/>
              </a:defRPr>
            </a:pPr>
            <a:r>
              <a:t>  Dropzones highlight with teal/orange borders upon file selection, displaying the chosen filename and ready status.</a:t>
            </a:r>
          </a:p>
          <a:p>
            <a:pPr>
              <a:defRPr sz="950" b="1">
                <a:solidFill>
                  <a:srgbClr val="38BDF8"/>
                </a:solidFill>
                <a:latin typeface="Arial"/>
              </a:defRPr>
            </a:pPr>
            <a:r>
              <a:t>• One-Click Re-Audit Trigger: </a:t>
            </a:r>
          </a:p>
          <a:p>
            <a:pPr>
              <a:defRPr sz="900">
                <a:solidFill>
                  <a:srgbClr val="94A3B8"/>
                </a:solidFill>
                <a:latin typeface="Arial"/>
              </a:defRPr>
            </a:pPr>
            <a:r>
              <a:t>  Provides a 'Submit Another Grant for Audit' button that resets form state for rapid iterative drafting.</a:t>
            </a:r>
          </a:p>
          <a:p>
            <a:pPr>
              <a:defRPr sz="950" b="1">
                <a:solidFill>
                  <a:srgbClr val="38BDF8"/>
                </a:solidFill>
                <a:latin typeface="Arial"/>
              </a:defRPr>
            </a:pPr>
            <a:r>
              <a:t>• Direct Telemetry Synchronization: </a:t>
            </a:r>
          </a:p>
          <a:p>
            <a:pPr>
              <a:defRPr sz="900">
                <a:solidFill>
                  <a:srgbClr val="94A3B8"/>
                </a:solidFill>
                <a:latin typeface="Arial"/>
              </a:defRPr>
            </a:pPr>
            <a:r>
              <a:t>  Instantly updates the live platform telemetry cards (Proposals Ingested, Audits Completed) upon upload.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70A12"/>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000" b="1">
                <a:solidFill>
                  <a:srgbClr val="F97316"/>
                </a:solidFill>
                <a:latin typeface="Arial"/>
              </a:defRPr>
            </a:pPr>
            <a:r>
              <a:t>NETWORK ENGINEERING</a:t>
            </a:r>
          </a:p>
        </p:txBody>
      </p:sp>
      <p:sp>
        <p:nvSpPr>
          <p:cNvPr id="3" name="TextBox 2"/>
          <p:cNvSpPr txBox="1"/>
          <p:nvPr/>
        </p:nvSpPr>
        <p:spPr>
          <a:xfrm>
            <a:off x="731520" y="658368"/>
            <a:ext cx="10515600" cy="502920"/>
          </a:xfrm>
          <a:prstGeom prst="rect">
            <a:avLst/>
          </a:prstGeom>
          <a:noFill/>
        </p:spPr>
        <p:txBody>
          <a:bodyPr wrap="square" lIns="0" tIns="0" rIns="0" bIns="0">
            <a:spAutoFit/>
          </a:bodyPr>
          <a:lstStyle/>
          <a:p>
            <a:pPr>
              <a:defRPr sz="2000" b="1">
                <a:solidFill>
                  <a:srgbClr val="FFFFFF"/>
                </a:solidFill>
                <a:latin typeface="Arial"/>
              </a:defRPr>
            </a:pPr>
            <a:r>
              <a:t>Centralized API Architecture &amp; IPv4/IPv6 Loopback Resolution</a:t>
            </a:r>
          </a:p>
          <a:p>
            <a:pPr>
              <a:defRPr sz="1050">
                <a:solidFill>
                  <a:srgbClr val="38BDF8"/>
                </a:solidFill>
                <a:latin typeface="Arial"/>
              </a:defRPr>
            </a:pPr>
            <a:r>
              <a:t>Eliminating browser network drops and establishing unified endpoint routing</a:t>
            </a:r>
          </a:p>
        </p:txBody>
      </p:sp>
      <p:sp>
        <p:nvSpPr>
          <p:cNvPr id="4" name="Rounded Rectangle 3"/>
          <p:cNvSpPr/>
          <p:nvPr/>
        </p:nvSpPr>
        <p:spPr>
          <a:xfrm>
            <a:off x="731520" y="1371600"/>
            <a:ext cx="5669280" cy="4846320"/>
          </a:xfrm>
          <a:prstGeom prst="roundRect">
            <a:avLst/>
          </a:prstGeom>
          <a:solidFill>
            <a:srgbClr val="0B0F19"/>
          </a:solidFill>
          <a:ln w="12700">
            <a:solidFill>
              <a:srgbClr val="1822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81328"/>
            <a:ext cx="5303520" cy="274320"/>
          </a:xfrm>
          <a:prstGeom prst="rect">
            <a:avLst/>
          </a:prstGeom>
          <a:noFill/>
        </p:spPr>
        <p:txBody>
          <a:bodyPr wrap="square" lIns="0" tIns="0" rIns="0" bIns="0">
            <a:spAutoFit/>
          </a:bodyPr>
          <a:lstStyle/>
          <a:p>
            <a:pPr>
              <a:defRPr sz="950" b="1">
                <a:solidFill>
                  <a:srgbClr val="38BDF8"/>
                </a:solidFill>
                <a:latin typeface="Consolas"/>
              </a:defRPr>
            </a:pPr>
            <a:r>
              <a:t>&gt; frontend/src/apiConfig.js &amp; backend/main.py</a:t>
            </a:r>
          </a:p>
        </p:txBody>
      </p:sp>
      <p:sp>
        <p:nvSpPr>
          <p:cNvPr id="6" name="TextBox 5"/>
          <p:cNvSpPr txBox="1"/>
          <p:nvPr/>
        </p:nvSpPr>
        <p:spPr>
          <a:xfrm>
            <a:off x="914400" y="1755648"/>
            <a:ext cx="5303520" cy="4343400"/>
          </a:xfrm>
          <a:prstGeom prst="rect">
            <a:avLst/>
          </a:prstGeom>
          <a:noFill/>
        </p:spPr>
        <p:txBody>
          <a:bodyPr wrap="square" lIns="0" tIns="0" rIns="0" bIns="0">
            <a:spAutoFit/>
          </a:bodyPr>
          <a:lstStyle/>
          <a:p>
            <a:pPr>
              <a:defRPr sz="800">
                <a:solidFill>
                  <a:srgbClr val="E2E8F0"/>
                </a:solidFill>
                <a:latin typeface="Consolas"/>
              </a:defRPr>
            </a:pPr>
            <a:r>
              <a:t>// frontend/src/apiConfig.js: Centralized Endpoint Definition</a:t>
            </a:r>
          </a:p>
          <a:p>
            <a:pPr>
              <a:defRPr sz="800">
                <a:solidFill>
                  <a:srgbClr val="E2E8F0"/>
                </a:solidFill>
                <a:latin typeface="Consolas"/>
              </a:defRPr>
            </a:pPr>
            <a:r>
              <a:t>export const API_BASE = 'http://127.0.0.1:8000';</a:t>
            </a:r>
          </a:p>
          <a:p>
            <a:pPr>
              <a:defRPr sz="800">
                <a:solidFill>
                  <a:srgbClr val="E2E8F0"/>
                </a:solidFill>
                <a:latin typeface="Consolas"/>
              </a:defRPr>
            </a:pPr>
          </a:p>
          <a:p>
            <a:pPr>
              <a:defRPr sz="800">
                <a:solidFill>
                  <a:srgbClr val="E2E8F0"/>
                </a:solidFill>
                <a:latin typeface="Consolas"/>
              </a:defRPr>
            </a:pPr>
            <a:r>
              <a:t>// backend/main.py: Regex-Enabled CORS Configuration</a:t>
            </a:r>
          </a:p>
          <a:p>
            <a:pPr>
              <a:defRPr sz="800">
                <a:solidFill>
                  <a:srgbClr val="E2E8F0"/>
                </a:solidFill>
                <a:latin typeface="Consolas"/>
              </a:defRPr>
            </a:pPr>
            <a:r>
              <a:t>app.add_middleware(</a:t>
            </a:r>
          </a:p>
          <a:p>
            <a:pPr>
              <a:defRPr sz="800">
                <a:solidFill>
                  <a:srgbClr val="E2E8F0"/>
                </a:solidFill>
                <a:latin typeface="Consolas"/>
              </a:defRPr>
            </a:pPr>
            <a:r>
              <a:t>    CORSMiddleware,</a:t>
            </a:r>
          </a:p>
          <a:p>
            <a:pPr>
              <a:defRPr sz="800">
                <a:solidFill>
                  <a:srgbClr val="E2E8F0"/>
                </a:solidFill>
                <a:latin typeface="Consolas"/>
              </a:defRPr>
            </a:pPr>
            <a:r>
              <a:t>    allow_origins=[</a:t>
            </a:r>
          </a:p>
          <a:p>
            <a:pPr>
              <a:defRPr sz="800">
                <a:solidFill>
                  <a:srgbClr val="E2E8F0"/>
                </a:solidFill>
                <a:latin typeface="Consolas"/>
              </a:defRPr>
            </a:pPr>
            <a:r>
              <a:t>        "http://localhost:5173", "http://127.0.0.1:5173",</a:t>
            </a:r>
          </a:p>
          <a:p>
            <a:pPr>
              <a:defRPr sz="800">
                <a:solidFill>
                  <a:srgbClr val="E2E8F0"/>
                </a:solidFill>
                <a:latin typeface="Consolas"/>
              </a:defRPr>
            </a:pPr>
            <a:r>
              <a:t>        "http://localhost:8000", "http://127.0.0.1:8000"</a:t>
            </a:r>
          </a:p>
          <a:p>
            <a:pPr>
              <a:defRPr sz="800">
                <a:solidFill>
                  <a:srgbClr val="E2E8F0"/>
                </a:solidFill>
                <a:latin typeface="Consolas"/>
              </a:defRPr>
            </a:pPr>
            <a:r>
              <a:t>    ],</a:t>
            </a:r>
          </a:p>
          <a:p>
            <a:pPr>
              <a:defRPr sz="800">
                <a:solidFill>
                  <a:srgbClr val="E2E8F0"/>
                </a:solidFill>
                <a:latin typeface="Consolas"/>
              </a:defRPr>
            </a:pPr>
            <a:r>
              <a:t>    allow_origin_regex=r"http://(localhost|127\.0\.0\.1)(:[0-9]+)?",</a:t>
            </a:r>
          </a:p>
          <a:p>
            <a:pPr>
              <a:defRPr sz="800">
                <a:solidFill>
                  <a:srgbClr val="E2E8F0"/>
                </a:solidFill>
                <a:latin typeface="Consolas"/>
              </a:defRPr>
            </a:pPr>
            <a:r>
              <a:t>    allow_credentials=True,</a:t>
            </a:r>
          </a:p>
          <a:p>
            <a:pPr>
              <a:defRPr sz="800">
                <a:solidFill>
                  <a:srgbClr val="E2E8F0"/>
                </a:solidFill>
                <a:latin typeface="Consolas"/>
              </a:defRPr>
            </a:pPr>
            <a:r>
              <a:t>    allow_methods=["*"],</a:t>
            </a:r>
          </a:p>
          <a:p>
            <a:pPr>
              <a:defRPr sz="800">
                <a:solidFill>
                  <a:srgbClr val="E2E8F0"/>
                </a:solidFill>
                <a:latin typeface="Consolas"/>
              </a:defRPr>
            </a:pPr>
            <a:r>
              <a:t>    allow_headers=["*"],</a:t>
            </a:r>
          </a:p>
          <a:p>
            <a:pPr>
              <a:defRPr sz="800">
                <a:solidFill>
                  <a:srgbClr val="E2E8F0"/>
                </a:solidFill>
                <a:latin typeface="Consolas"/>
              </a:defRPr>
            </a:pPr>
            <a:r>
              <a:t>)</a:t>
            </a:r>
          </a:p>
        </p:txBody>
      </p:sp>
      <p:sp>
        <p:nvSpPr>
          <p:cNvPr id="7" name="Rounded Rectangle 6"/>
          <p:cNvSpPr/>
          <p:nvPr/>
        </p:nvSpPr>
        <p:spPr>
          <a:xfrm>
            <a:off x="6583680" y="1371600"/>
            <a:ext cx="4876495" cy="4846320"/>
          </a:xfrm>
          <a:prstGeom prst="roundRect">
            <a:avLst/>
          </a:prstGeom>
          <a:solidFill>
            <a:srgbClr val="121E31"/>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12280" y="1554480"/>
            <a:ext cx="4419295" cy="4480560"/>
          </a:xfrm>
          <a:prstGeom prst="rect">
            <a:avLst/>
          </a:prstGeom>
          <a:noFill/>
        </p:spPr>
        <p:txBody>
          <a:bodyPr wrap="square" lIns="0" tIns="0" rIns="0" bIns="0">
            <a:spAutoFit/>
          </a:bodyPr>
          <a:lstStyle/>
          <a:p>
            <a:pPr>
              <a:defRPr sz="1100" b="1">
                <a:solidFill>
                  <a:srgbClr val="F97316"/>
                </a:solidFill>
                <a:latin typeface="Arial"/>
              </a:defRPr>
            </a:pPr>
            <a:r>
              <a:t>⚡ IMPACT ON WEBSITE &amp; USER EXPERIENCE</a:t>
            </a:r>
          </a:p>
          <a:p>
            <a:pPr>
              <a:defRPr sz="1300" b="1">
                <a:solidFill>
                  <a:srgbClr val="FFFFFF"/>
                </a:solidFill>
                <a:latin typeface="Arial"/>
              </a:defRPr>
            </a:pPr>
            <a:r>
              <a:t>How Network Routing Impacts the Website</a:t>
            </a:r>
          </a:p>
          <a:p>
            <a:pPr>
              <a:defRPr sz="950" b="1">
                <a:solidFill>
                  <a:srgbClr val="38BDF8"/>
                </a:solidFill>
                <a:latin typeface="Arial"/>
              </a:defRPr>
            </a:pPr>
            <a:r>
              <a:t>• Resolution of 'Failed to fetch' Errors: </a:t>
            </a:r>
          </a:p>
          <a:p>
            <a:pPr>
              <a:defRPr sz="900">
                <a:solidFill>
                  <a:srgbClr val="94A3B8"/>
                </a:solidFill>
                <a:latin typeface="Arial"/>
              </a:defRPr>
            </a:pPr>
            <a:r>
              <a:t>  Brave and Chrome resolve localhost to [::1]:8000 (IPv6) by default. Centralizing to 127.0.0.1 prevents socket drops when Uvicorn is bound to IPv4.</a:t>
            </a:r>
          </a:p>
          <a:p>
            <a:pPr>
              <a:defRPr sz="950" b="1">
                <a:solidFill>
                  <a:srgbClr val="38BDF8"/>
                </a:solidFill>
                <a:latin typeface="Arial"/>
              </a:defRPr>
            </a:pPr>
            <a:r>
              <a:t>• CORS Credential Handshake: </a:t>
            </a:r>
          </a:p>
          <a:p>
            <a:pPr>
              <a:defRPr sz="900">
                <a:solidFill>
                  <a:srgbClr val="94A3B8"/>
                </a:solidFill>
                <a:latin typeface="Arial"/>
              </a:defRPr>
            </a:pPr>
            <a:r>
              <a:t>  W3C standards reject wildcard '*' when credentials or Bearer tokens are sent. allow_origin_regex dynamically echoes the client origin, allowing secure authenticated requests.</a:t>
            </a:r>
          </a:p>
          <a:p>
            <a:pPr>
              <a:defRPr sz="950" b="1">
                <a:solidFill>
                  <a:srgbClr val="38BDF8"/>
                </a:solidFill>
                <a:latin typeface="Arial"/>
              </a:defRPr>
            </a:pPr>
            <a:r>
              <a:t>• Single Source of Truth: </a:t>
            </a:r>
          </a:p>
          <a:p>
            <a:pPr>
              <a:defRPr sz="900">
                <a:solidFill>
                  <a:srgbClr val="94A3B8"/>
                </a:solidFill>
                <a:latin typeface="Arial"/>
              </a:defRPr>
            </a:pPr>
            <a:r>
              <a:t>  If the API host changes from local dev to a university staging server, updating apiConfig.js updates all fetch calls across the entire frontend instantly.</a:t>
            </a:r>
          </a:p>
          <a:p>
            <a:pPr>
              <a:defRPr sz="950" b="1">
                <a:solidFill>
                  <a:srgbClr val="38BDF8"/>
                </a:solidFill>
                <a:latin typeface="Arial"/>
              </a:defRPr>
            </a:pPr>
            <a:r>
              <a:t>• Zero Port Collisions: </a:t>
            </a:r>
          </a:p>
          <a:p>
            <a:pPr>
              <a:defRPr sz="900">
                <a:solidFill>
                  <a:srgbClr val="94A3B8"/>
                </a:solidFill>
                <a:latin typeface="Arial"/>
              </a:defRPr>
            </a:pPr>
            <a:r>
              <a:t>  Maintains clean separation between Vite frontend (port 5173) and FastAPI backend (port 8000).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0A12"/>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000" b="1">
                <a:solidFill>
                  <a:srgbClr val="F97316"/>
                </a:solidFill>
                <a:latin typeface="Arial"/>
              </a:defRPr>
            </a:pPr>
            <a:r>
              <a:t>RESILIENCE &amp; ERROR HANDLING</a:t>
            </a:r>
          </a:p>
        </p:txBody>
      </p:sp>
      <p:sp>
        <p:nvSpPr>
          <p:cNvPr id="3" name="TextBox 2"/>
          <p:cNvSpPr txBox="1"/>
          <p:nvPr/>
        </p:nvSpPr>
        <p:spPr>
          <a:xfrm>
            <a:off x="731520" y="658368"/>
            <a:ext cx="10515600" cy="502920"/>
          </a:xfrm>
          <a:prstGeom prst="rect">
            <a:avLst/>
          </a:prstGeom>
          <a:noFill/>
        </p:spPr>
        <p:txBody>
          <a:bodyPr wrap="square" lIns="0" tIns="0" rIns="0" bIns="0">
            <a:spAutoFit/>
          </a:bodyPr>
          <a:lstStyle/>
          <a:p>
            <a:pPr>
              <a:defRPr sz="2000" b="1">
                <a:solidFill>
                  <a:srgbClr val="FFFFFF"/>
                </a:solidFill>
                <a:latin typeface="Arial"/>
              </a:defRPr>
            </a:pPr>
            <a:r>
              <a:t>Crash-Proof Error Boundaries &amp; Defensive State Management</a:t>
            </a:r>
          </a:p>
          <a:p>
            <a:pPr>
              <a:defRPr sz="1050">
                <a:solidFill>
                  <a:srgbClr val="38BDF8"/>
                </a:solidFill>
                <a:latin typeface="Arial"/>
              </a:defRPr>
            </a:pPr>
            <a:r>
              <a:t>Eliminating blank/pitch dark screens and ensuring persistent UI stability</a:t>
            </a:r>
          </a:p>
        </p:txBody>
      </p:sp>
      <p:sp>
        <p:nvSpPr>
          <p:cNvPr id="4" name="Rounded Rectangle 3"/>
          <p:cNvSpPr/>
          <p:nvPr/>
        </p:nvSpPr>
        <p:spPr>
          <a:xfrm>
            <a:off x="731520" y="1371600"/>
            <a:ext cx="5669280" cy="4846320"/>
          </a:xfrm>
          <a:prstGeom prst="roundRect">
            <a:avLst/>
          </a:prstGeom>
          <a:solidFill>
            <a:srgbClr val="0B0F19"/>
          </a:solidFill>
          <a:ln w="12700">
            <a:solidFill>
              <a:srgbClr val="1822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81328"/>
            <a:ext cx="5303520" cy="274320"/>
          </a:xfrm>
          <a:prstGeom prst="rect">
            <a:avLst/>
          </a:prstGeom>
          <a:noFill/>
        </p:spPr>
        <p:txBody>
          <a:bodyPr wrap="square" lIns="0" tIns="0" rIns="0" bIns="0">
            <a:spAutoFit/>
          </a:bodyPr>
          <a:lstStyle/>
          <a:p>
            <a:pPr>
              <a:defRPr sz="950" b="1">
                <a:solidFill>
                  <a:srgbClr val="38BDF8"/>
                </a:solidFill>
                <a:latin typeface="Consolas"/>
              </a:defRPr>
            </a:pPr>
            <a:r>
              <a:t>&gt; frontend/src/main.jsx</a:t>
            </a:r>
          </a:p>
        </p:txBody>
      </p:sp>
      <p:sp>
        <p:nvSpPr>
          <p:cNvPr id="6" name="TextBox 5"/>
          <p:cNvSpPr txBox="1"/>
          <p:nvPr/>
        </p:nvSpPr>
        <p:spPr>
          <a:xfrm>
            <a:off x="914400" y="1755648"/>
            <a:ext cx="5303520" cy="4343400"/>
          </a:xfrm>
          <a:prstGeom prst="rect">
            <a:avLst/>
          </a:prstGeom>
          <a:noFill/>
        </p:spPr>
        <p:txBody>
          <a:bodyPr wrap="square" lIns="0" tIns="0" rIns="0" bIns="0">
            <a:spAutoFit/>
          </a:bodyPr>
          <a:lstStyle/>
          <a:p>
            <a:pPr>
              <a:defRPr sz="800">
                <a:solidFill>
                  <a:srgbClr val="E2E8F0"/>
                </a:solidFill>
                <a:latin typeface="Consolas"/>
              </a:defRPr>
            </a:pPr>
            <a:r>
              <a:t>// frontend/src/main.jsx: Global ErrorBoundary</a:t>
            </a:r>
          </a:p>
          <a:p>
            <a:pPr>
              <a:defRPr sz="800">
                <a:solidFill>
                  <a:srgbClr val="E2E8F0"/>
                </a:solidFill>
                <a:latin typeface="Consolas"/>
              </a:defRPr>
            </a:pPr>
            <a:r>
              <a:t>class ErrorBoundary extends Component {</a:t>
            </a:r>
          </a:p>
          <a:p>
            <a:pPr>
              <a:defRPr sz="800">
                <a:solidFill>
                  <a:srgbClr val="E2E8F0"/>
                </a:solidFill>
                <a:latin typeface="Consolas"/>
              </a:defRPr>
            </a:pPr>
            <a:r>
              <a:t>  constructor(props) {</a:t>
            </a:r>
          </a:p>
          <a:p>
            <a:pPr>
              <a:defRPr sz="800">
                <a:solidFill>
                  <a:srgbClr val="E2E8F0"/>
                </a:solidFill>
                <a:latin typeface="Consolas"/>
              </a:defRPr>
            </a:pPr>
            <a:r>
              <a:t>    super(props);</a:t>
            </a:r>
          </a:p>
          <a:p>
            <a:pPr>
              <a:defRPr sz="800">
                <a:solidFill>
                  <a:srgbClr val="E2E8F0"/>
                </a:solidFill>
                <a:latin typeface="Consolas"/>
              </a:defRPr>
            </a:pPr>
            <a:r>
              <a:t>    this.state = { hasError: false };</a:t>
            </a:r>
          </a:p>
          <a:p>
            <a:pPr>
              <a:defRPr sz="800">
                <a:solidFill>
                  <a:srgbClr val="E2E8F0"/>
                </a:solidFill>
                <a:latin typeface="Consolas"/>
              </a:defRPr>
            </a:pPr>
            <a:r>
              <a:t>  }</a:t>
            </a:r>
          </a:p>
          <a:p>
            <a:pPr>
              <a:defRPr sz="800">
                <a:solidFill>
                  <a:srgbClr val="E2E8F0"/>
                </a:solidFill>
                <a:latin typeface="Consolas"/>
              </a:defRPr>
            </a:pPr>
            <a:r>
              <a:t>  static getDerivedStateFromError(error) { return { hasError: true }; }</a:t>
            </a:r>
          </a:p>
          <a:p>
            <a:pPr>
              <a:defRPr sz="800">
                <a:solidFill>
                  <a:srgbClr val="E2E8F0"/>
                </a:solidFill>
                <a:latin typeface="Consolas"/>
              </a:defRPr>
            </a:pPr>
            <a:r>
              <a:t>  </a:t>
            </a:r>
          </a:p>
          <a:p>
            <a:pPr>
              <a:defRPr sz="800">
                <a:solidFill>
                  <a:srgbClr val="E2E8F0"/>
                </a:solidFill>
                <a:latin typeface="Consolas"/>
              </a:defRPr>
            </a:pPr>
            <a:r>
              <a:t>  handleReset = () =&gt; {</a:t>
            </a:r>
          </a:p>
          <a:p>
            <a:pPr>
              <a:defRPr sz="800">
                <a:solidFill>
                  <a:srgbClr val="E2E8F0"/>
                </a:solidFill>
                <a:latin typeface="Consolas"/>
              </a:defRPr>
            </a:pPr>
            <a:r>
              <a:t>    localStorage.clear();</a:t>
            </a:r>
          </a:p>
          <a:p>
            <a:pPr>
              <a:defRPr sz="800">
                <a:solidFill>
                  <a:srgbClr val="E2E8F0"/>
                </a:solidFill>
                <a:latin typeface="Consolas"/>
              </a:defRPr>
            </a:pPr>
            <a:r>
              <a:t>    window.location.reload();</a:t>
            </a:r>
          </a:p>
          <a:p>
            <a:pPr>
              <a:defRPr sz="800">
                <a:solidFill>
                  <a:srgbClr val="E2E8F0"/>
                </a:solidFill>
                <a:latin typeface="Consolas"/>
              </a:defRPr>
            </a:pPr>
            <a:r>
              <a:t>  };</a:t>
            </a:r>
          </a:p>
          <a:p>
            <a:pPr>
              <a:defRPr sz="800">
                <a:solidFill>
                  <a:srgbClr val="E2E8F0"/>
                </a:solidFill>
                <a:latin typeface="Consolas"/>
              </a:defRPr>
            </a:pPr>
          </a:p>
          <a:p>
            <a:pPr>
              <a:defRPr sz="800">
                <a:solidFill>
                  <a:srgbClr val="E2E8F0"/>
                </a:solidFill>
                <a:latin typeface="Consolas"/>
              </a:defRPr>
            </a:pPr>
            <a:r>
              <a:t>  render() {</a:t>
            </a:r>
          </a:p>
          <a:p>
            <a:pPr>
              <a:defRPr sz="800">
                <a:solidFill>
                  <a:srgbClr val="E2E8F0"/>
                </a:solidFill>
                <a:latin typeface="Consolas"/>
              </a:defRPr>
            </a:pPr>
            <a:r>
              <a:t>    if (this.state.hasError) {</a:t>
            </a:r>
          </a:p>
          <a:p>
            <a:pPr>
              <a:defRPr sz="800">
                <a:solidFill>
                  <a:srgbClr val="E2E8F0"/>
                </a:solidFill>
                <a:latin typeface="Consolas"/>
              </a:defRPr>
            </a:pPr>
            <a:r>
              <a:t>      return (</a:t>
            </a:r>
          </a:p>
          <a:p>
            <a:pPr>
              <a:defRPr sz="800">
                <a:solidFill>
                  <a:srgbClr val="E2E8F0"/>
                </a:solidFill>
                <a:latin typeface="Consolas"/>
              </a:defRPr>
            </a:pPr>
            <a:r>
              <a:t>        &lt;div className="error-fallback"&gt;</a:t>
            </a:r>
          </a:p>
          <a:p>
            <a:pPr>
              <a:defRPr sz="800">
                <a:solidFill>
                  <a:srgbClr val="E2E8F0"/>
                </a:solidFill>
                <a:latin typeface="Consolas"/>
              </a:defRPr>
            </a:pPr>
            <a:r>
              <a:t>          &lt;h2&gt;GrantLens Workspace Initialized&lt;/h2&gt;</a:t>
            </a:r>
          </a:p>
          <a:p>
            <a:pPr>
              <a:defRPr sz="800">
                <a:solidFill>
                  <a:srgbClr val="E2E8F0"/>
                </a:solidFill>
                <a:latin typeface="Consolas"/>
              </a:defRPr>
            </a:pPr>
            <a:r>
              <a:t>          &lt;p&gt;A session token required re-synchronization.&lt;/p&gt;</a:t>
            </a:r>
          </a:p>
          <a:p>
            <a:pPr>
              <a:defRPr sz="800">
                <a:solidFill>
                  <a:srgbClr val="E2E8F0"/>
                </a:solidFill>
                <a:latin typeface="Consolas"/>
              </a:defRPr>
            </a:pPr>
            <a:r>
              <a:t>          &lt;button onClick={this.handleReset}&gt;Reset Session &amp; Refresh&lt;/button&gt;</a:t>
            </a:r>
          </a:p>
          <a:p>
            <a:pPr>
              <a:defRPr sz="800">
                <a:solidFill>
                  <a:srgbClr val="E2E8F0"/>
                </a:solidFill>
                <a:latin typeface="Consolas"/>
              </a:defRPr>
            </a:pPr>
            <a:r>
              <a:t>        &lt;/div&gt;</a:t>
            </a:r>
          </a:p>
          <a:p>
            <a:pPr>
              <a:defRPr sz="800">
                <a:solidFill>
                  <a:srgbClr val="E2E8F0"/>
                </a:solidFill>
                <a:latin typeface="Consolas"/>
              </a:defRPr>
            </a:pPr>
            <a:r>
              <a:t>      );</a:t>
            </a:r>
          </a:p>
          <a:p>
            <a:pPr>
              <a:defRPr sz="800">
                <a:solidFill>
                  <a:srgbClr val="E2E8F0"/>
                </a:solidFill>
                <a:latin typeface="Consolas"/>
              </a:defRPr>
            </a:pPr>
            <a:r>
              <a:t>    }</a:t>
            </a:r>
          </a:p>
          <a:p>
            <a:pPr>
              <a:defRPr sz="800">
                <a:solidFill>
                  <a:srgbClr val="E2E8F0"/>
                </a:solidFill>
                <a:latin typeface="Consolas"/>
              </a:defRPr>
            </a:pPr>
            <a:r>
              <a:t>    return this.props.children;</a:t>
            </a:r>
          </a:p>
          <a:p>
            <a:pPr>
              <a:defRPr sz="800">
                <a:solidFill>
                  <a:srgbClr val="E2E8F0"/>
                </a:solidFill>
                <a:latin typeface="Consolas"/>
              </a:defRPr>
            </a:pPr>
            <a:r>
              <a:t>  }</a:t>
            </a:r>
          </a:p>
          <a:p>
            <a:pPr>
              <a:defRPr sz="800">
                <a:solidFill>
                  <a:srgbClr val="E2E8F0"/>
                </a:solidFill>
                <a:latin typeface="Consolas"/>
              </a:defRPr>
            </a:pPr>
            <a:r>
              <a:t>}</a:t>
            </a:r>
          </a:p>
        </p:txBody>
      </p:sp>
      <p:sp>
        <p:nvSpPr>
          <p:cNvPr id="7" name="Rounded Rectangle 6"/>
          <p:cNvSpPr/>
          <p:nvPr/>
        </p:nvSpPr>
        <p:spPr>
          <a:xfrm>
            <a:off x="6583680" y="1371600"/>
            <a:ext cx="4876495" cy="4846320"/>
          </a:xfrm>
          <a:prstGeom prst="roundRect">
            <a:avLst/>
          </a:prstGeom>
          <a:solidFill>
            <a:srgbClr val="121E31"/>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12280" y="1554480"/>
            <a:ext cx="4419295" cy="4480560"/>
          </a:xfrm>
          <a:prstGeom prst="rect">
            <a:avLst/>
          </a:prstGeom>
          <a:noFill/>
        </p:spPr>
        <p:txBody>
          <a:bodyPr wrap="square" lIns="0" tIns="0" rIns="0" bIns="0">
            <a:spAutoFit/>
          </a:bodyPr>
          <a:lstStyle/>
          <a:p>
            <a:pPr>
              <a:defRPr sz="1100" b="1">
                <a:solidFill>
                  <a:srgbClr val="F97316"/>
                </a:solidFill>
                <a:latin typeface="Arial"/>
              </a:defRPr>
            </a:pPr>
            <a:r>
              <a:t>⚡ IMPACT ON WEBSITE &amp; USER EXPERIENCE</a:t>
            </a:r>
          </a:p>
          <a:p>
            <a:pPr>
              <a:defRPr sz="1300" b="1">
                <a:solidFill>
                  <a:srgbClr val="FFFFFF"/>
                </a:solidFill>
                <a:latin typeface="Arial"/>
              </a:defRPr>
            </a:pPr>
            <a:r>
              <a:t>How Error Boundaries Impact the Website</a:t>
            </a:r>
          </a:p>
          <a:p>
            <a:pPr>
              <a:defRPr sz="950" b="1">
                <a:solidFill>
                  <a:srgbClr val="38BDF8"/>
                </a:solidFill>
                <a:latin typeface="Arial"/>
              </a:defRPr>
            </a:pPr>
            <a:r>
              <a:t>• Elimination of Pitch Dark Screens: </a:t>
            </a:r>
          </a:p>
          <a:p>
            <a:pPr>
              <a:defRPr sz="900">
                <a:solidFill>
                  <a:srgbClr val="94A3B8"/>
                </a:solidFill>
                <a:latin typeface="Arial"/>
              </a:defRPr>
            </a:pPr>
            <a:r>
              <a:t>  If corrupted data exists in localStorage from prior sessions, React catches the exception instead of unmounting the Virtual DOM and leaving a black screen.</a:t>
            </a:r>
          </a:p>
          <a:p>
            <a:pPr>
              <a:defRPr sz="950" b="1">
                <a:solidFill>
                  <a:srgbClr val="38BDF8"/>
                </a:solidFill>
                <a:latin typeface="Arial"/>
              </a:defRPr>
            </a:pPr>
            <a:r>
              <a:t>• Defensive Optional Chaining: </a:t>
            </a:r>
          </a:p>
          <a:p>
            <a:pPr>
              <a:defRPr sz="900">
                <a:solidFill>
                  <a:srgbClr val="94A3B8"/>
                </a:solidFill>
                <a:latin typeface="Arial"/>
              </a:defRPr>
            </a:pPr>
            <a:r>
              <a:t>  Replaced unsafe split(' ') calls with currentUser?.full_name ? ... : 'Researcher', preventing null pointer exceptions.</a:t>
            </a:r>
          </a:p>
          <a:p>
            <a:pPr>
              <a:defRPr sz="950" b="1">
                <a:solidFill>
                  <a:srgbClr val="38BDF8"/>
                </a:solidFill>
                <a:latin typeface="Arial"/>
              </a:defRPr>
            </a:pPr>
            <a:r>
              <a:t>• One-Click Self-Recovery: </a:t>
            </a:r>
          </a:p>
          <a:p>
            <a:pPr>
              <a:defRPr sz="900">
                <a:solidFill>
                  <a:srgbClr val="94A3B8"/>
                </a:solidFill>
                <a:latin typeface="Arial"/>
              </a:defRPr>
            </a:pPr>
            <a:r>
              <a:t>  Presents researchers with a friendly 'Reset Session &amp; Refresh' button that clears stale tokens and restores the working UI immediately.</a:t>
            </a:r>
          </a:p>
          <a:p>
            <a:pPr>
              <a:defRPr sz="950" b="1">
                <a:solidFill>
                  <a:srgbClr val="38BDF8"/>
                </a:solidFill>
                <a:latin typeface="Arial"/>
              </a:defRPr>
            </a:pPr>
            <a:r>
              <a:t>• Production-Grade Reliability: </a:t>
            </a:r>
          </a:p>
          <a:p>
            <a:pPr>
              <a:defRPr sz="900">
                <a:solidFill>
                  <a:srgbClr val="94A3B8"/>
                </a:solidFill>
                <a:latin typeface="Arial"/>
              </a:defRPr>
            </a:pPr>
            <a:r>
              <a:t>  Complies with standard React 18 production best practices for mission-critical institutional software.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70A12"/>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000" b="1">
                <a:solidFill>
                  <a:srgbClr val="F97316"/>
                </a:solidFill>
                <a:latin typeface="Arial"/>
              </a:defRPr>
            </a:pPr>
            <a:r>
              <a:t>VERIFICATION &amp; PROOF</a:t>
            </a:r>
          </a:p>
        </p:txBody>
      </p:sp>
      <p:sp>
        <p:nvSpPr>
          <p:cNvPr id="3" name="TextBox 2"/>
          <p:cNvSpPr txBox="1"/>
          <p:nvPr/>
        </p:nvSpPr>
        <p:spPr>
          <a:xfrm>
            <a:off x="731520" y="658368"/>
            <a:ext cx="10515600" cy="502920"/>
          </a:xfrm>
          <a:prstGeom prst="rect">
            <a:avLst/>
          </a:prstGeom>
          <a:noFill/>
        </p:spPr>
        <p:txBody>
          <a:bodyPr wrap="square" lIns="0" tIns="0" rIns="0" bIns="0">
            <a:spAutoFit/>
          </a:bodyPr>
          <a:lstStyle/>
          <a:p>
            <a:pPr>
              <a:defRPr sz="2000" b="1">
                <a:solidFill>
                  <a:srgbClr val="FFFFFF"/>
                </a:solidFill>
                <a:latin typeface="Arial"/>
              </a:defRPr>
            </a:pPr>
            <a:r>
              <a:t>Live End-to-End Compliance Audit: NSF 24-500 Case Study</a:t>
            </a:r>
          </a:p>
          <a:p>
            <a:pPr>
              <a:defRPr sz="1050">
                <a:solidFill>
                  <a:srgbClr val="38BDF8"/>
                </a:solidFill>
                <a:latin typeface="Arial"/>
              </a:defRPr>
            </a:pPr>
            <a:r>
              <a:t>Validating the entire ingestion and compliance engine with sample grant files</a:t>
            </a:r>
          </a:p>
        </p:txBody>
      </p:sp>
      <p:sp>
        <p:nvSpPr>
          <p:cNvPr id="4" name="Rounded Rectangle 3"/>
          <p:cNvSpPr/>
          <p:nvPr/>
        </p:nvSpPr>
        <p:spPr>
          <a:xfrm>
            <a:off x="731520" y="1371600"/>
            <a:ext cx="5669280" cy="4846320"/>
          </a:xfrm>
          <a:prstGeom prst="roundRect">
            <a:avLst/>
          </a:prstGeom>
          <a:solidFill>
            <a:srgbClr val="0B0F19"/>
          </a:solidFill>
          <a:ln w="12700">
            <a:solidFill>
              <a:srgbClr val="1822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81328"/>
            <a:ext cx="5303520" cy="274320"/>
          </a:xfrm>
          <a:prstGeom prst="rect">
            <a:avLst/>
          </a:prstGeom>
          <a:noFill/>
        </p:spPr>
        <p:txBody>
          <a:bodyPr wrap="square" lIns="0" tIns="0" rIns="0" bIns="0">
            <a:spAutoFit/>
          </a:bodyPr>
          <a:lstStyle/>
          <a:p>
            <a:pPr>
              <a:defRPr sz="950" b="1">
                <a:solidFill>
                  <a:srgbClr val="38BDF8"/>
                </a:solidFill>
                <a:latin typeface="Consolas"/>
              </a:defRPr>
            </a:pPr>
            <a:r>
              <a:t>&gt; run_test_compare.py (Terminal Output)</a:t>
            </a:r>
          </a:p>
        </p:txBody>
      </p:sp>
      <p:sp>
        <p:nvSpPr>
          <p:cNvPr id="6" name="TextBox 5"/>
          <p:cNvSpPr txBox="1"/>
          <p:nvPr/>
        </p:nvSpPr>
        <p:spPr>
          <a:xfrm>
            <a:off x="914400" y="1755648"/>
            <a:ext cx="5303520" cy="4343400"/>
          </a:xfrm>
          <a:prstGeom prst="rect">
            <a:avLst/>
          </a:prstGeom>
          <a:noFill/>
        </p:spPr>
        <p:txBody>
          <a:bodyPr wrap="square" lIns="0" tIns="0" rIns="0" bIns="0">
            <a:spAutoFit/>
          </a:bodyPr>
          <a:lstStyle/>
          <a:p>
            <a:pPr>
              <a:defRPr sz="800">
                <a:solidFill>
                  <a:srgbClr val="E2E8F0"/>
                </a:solidFill>
                <a:latin typeface="Consolas"/>
              </a:defRPr>
            </a:pPr>
            <a:r>
              <a:t># run_test_compare.py: Live Execution Output</a:t>
            </a:r>
          </a:p>
          <a:p>
            <a:pPr>
              <a:defRPr sz="800">
                <a:solidFill>
                  <a:srgbClr val="E2E8F0"/>
                </a:solidFill>
                <a:latin typeface="Consolas"/>
              </a:defRPr>
            </a:pPr>
            <a:r>
              <a:t>=======================================================</a:t>
            </a:r>
          </a:p>
          <a:p>
            <a:pPr>
              <a:defRPr sz="800">
                <a:solidFill>
                  <a:srgbClr val="E2E8F0"/>
                </a:solidFill>
                <a:latin typeface="Consolas"/>
              </a:defRPr>
            </a:pPr>
            <a:r>
              <a:t>      GRANTLENS COMPLIANCE PRE-FLIGHT AUDIT REPORT      </a:t>
            </a:r>
          </a:p>
          <a:p>
            <a:pPr>
              <a:defRPr sz="800">
                <a:solidFill>
                  <a:srgbClr val="E2E8F0"/>
                </a:solidFill>
                <a:latin typeface="Consolas"/>
              </a:defRPr>
            </a:pPr>
            <a:r>
              <a:t>=======================================================</a:t>
            </a:r>
          </a:p>
          <a:p>
            <a:pPr>
              <a:defRPr sz="800">
                <a:solidFill>
                  <a:srgbClr val="E2E8F0"/>
                </a:solidFill>
                <a:latin typeface="Consolas"/>
              </a:defRPr>
            </a:pPr>
            <a:r>
              <a:t>Submission ID:          a9051d38-cecd-4a47-955e-3ff39784e71b</a:t>
            </a:r>
          </a:p>
          <a:p>
            <a:pPr>
              <a:defRPr sz="800">
                <a:solidFill>
                  <a:srgbClr val="E2E8F0"/>
                </a:solidFill>
                <a:latin typeface="Consolas"/>
              </a:defRPr>
            </a:pPr>
            <a:r>
              <a:t>Proposal Title:         Scalable Fault-Tolerant Quantum Control...</a:t>
            </a:r>
          </a:p>
          <a:p>
            <a:pPr>
              <a:defRPr sz="800">
                <a:solidFill>
                  <a:srgbClr val="E2E8F0"/>
                </a:solidFill>
                <a:latin typeface="Consolas"/>
              </a:defRPr>
            </a:pPr>
            <a:r>
              <a:t>Funding Agency:         NSF 24-500 (CISE Directorate)</a:t>
            </a:r>
          </a:p>
          <a:p>
            <a:pPr>
              <a:defRPr sz="800">
                <a:solidFill>
                  <a:srgbClr val="E2E8F0"/>
                </a:solidFill>
                <a:latin typeface="Consolas"/>
              </a:defRPr>
            </a:pPr>
            <a:r>
              <a:t>Solicitation Length:    1 pages</a:t>
            </a:r>
          </a:p>
          <a:p>
            <a:pPr>
              <a:defRPr sz="800">
                <a:solidFill>
                  <a:srgbClr val="E2E8F0"/>
                </a:solidFill>
                <a:latin typeface="Consolas"/>
              </a:defRPr>
            </a:pPr>
            <a:r>
              <a:t>Proposal Manuscript:    2 pages</a:t>
            </a:r>
          </a:p>
          <a:p>
            <a:pPr>
              <a:defRPr sz="800">
                <a:solidFill>
                  <a:srgbClr val="E2E8F0"/>
                </a:solidFill>
                <a:latin typeface="Consolas"/>
              </a:defRPr>
            </a:pPr>
            <a:r>
              <a:t>Reconciled Budget:      $185,000.00</a:t>
            </a:r>
          </a:p>
          <a:p>
            <a:pPr>
              <a:defRPr sz="800">
                <a:solidFill>
                  <a:srgbClr val="E2E8F0"/>
                </a:solidFill>
                <a:latin typeface="Consolas"/>
              </a:defRPr>
            </a:pPr>
            <a:r>
              <a:t>Overall Audit Score:    75.0% / 100%</a:t>
            </a:r>
          </a:p>
          <a:p>
            <a:pPr>
              <a:defRPr sz="800">
                <a:solidFill>
                  <a:srgbClr val="E2E8F0"/>
                </a:solidFill>
                <a:latin typeface="Consolas"/>
              </a:defRPr>
            </a:pPr>
            <a:r>
              <a:t>Compliance Outcome:     FAILED (Desk-Rejection Violation)</a:t>
            </a:r>
          </a:p>
          <a:p>
            <a:pPr>
              <a:defRPr sz="800">
                <a:solidFill>
                  <a:srgbClr val="E2E8F0"/>
                </a:solidFill>
                <a:latin typeface="Consolas"/>
              </a:defRPr>
            </a:pPr>
            <a:r>
              <a:t>Institutional Sign-off: ACTION REQUIRED BEFORE CLEARANCE</a:t>
            </a:r>
          </a:p>
          <a:p>
            <a:pPr>
              <a:defRPr sz="800">
                <a:solidFill>
                  <a:srgbClr val="E2E8F0"/>
                </a:solidFill>
                <a:latin typeface="Consolas"/>
              </a:defRPr>
            </a:pPr>
            <a:r>
              <a:t>-------------------------------------------------------</a:t>
            </a:r>
          </a:p>
          <a:p>
            <a:pPr>
              <a:defRPr sz="800">
                <a:solidFill>
                  <a:srgbClr val="E2E8F0"/>
                </a:solidFill>
                <a:latin typeface="Consolas"/>
              </a:defRPr>
            </a:pPr>
            <a:r>
              <a:t>Risk Findings Count:    1</a:t>
            </a:r>
          </a:p>
          <a:p>
            <a:pPr>
              <a:defRPr sz="800">
                <a:solidFill>
                  <a:srgbClr val="E2E8F0"/>
                </a:solidFill>
                <a:latin typeface="Consolas"/>
              </a:defRPr>
            </a:pPr>
          </a:p>
          <a:p>
            <a:pPr>
              <a:defRPr sz="800">
                <a:solidFill>
                  <a:srgbClr val="E2E8F0"/>
                </a:solidFill>
                <a:latin typeface="Consolas"/>
              </a:defRPr>
            </a:pPr>
            <a:r>
              <a:t>[1] SEVERITY: RED | CATEGORY: FONT_MARGIN</a:t>
            </a:r>
          </a:p>
          <a:p>
            <a:pPr>
              <a:defRPr sz="800">
                <a:solidFill>
                  <a:srgbClr val="E2E8F0"/>
                </a:solidFill>
                <a:latin typeface="Consolas"/>
              </a:defRPr>
            </a:pPr>
            <a:r>
              <a:t>    Issue:       Non-compliant minimum font size detected (8.5 pt).</a:t>
            </a:r>
          </a:p>
          <a:p>
            <a:pPr>
              <a:defRPr sz="800">
                <a:solidFill>
                  <a:srgbClr val="E2E8F0"/>
                </a:solidFill>
                <a:latin typeface="Consolas"/>
              </a:defRPr>
            </a:pPr>
            <a:r>
              <a:t>                 Federal guidelines prohibit text under 10 pt.</a:t>
            </a:r>
          </a:p>
          <a:p>
            <a:pPr>
              <a:defRPr sz="800">
                <a:solidFill>
                  <a:srgbClr val="E2E8F0"/>
                </a:solidFill>
                <a:latin typeface="Consolas"/>
              </a:defRPr>
            </a:pPr>
            <a:r>
              <a:t>    Remediation: Reformat sub-captions, table headers, and footnotes</a:t>
            </a:r>
          </a:p>
          <a:p>
            <a:pPr>
              <a:defRPr sz="800">
                <a:solidFill>
                  <a:srgbClr val="E2E8F0"/>
                </a:solidFill>
                <a:latin typeface="Consolas"/>
              </a:defRPr>
            </a:pPr>
            <a:r>
              <a:t>                 to a minimum of 10 pt Arial, Courier New,</a:t>
            </a:r>
          </a:p>
          <a:p>
            <a:pPr>
              <a:defRPr sz="800">
                <a:solidFill>
                  <a:srgbClr val="E2E8F0"/>
                </a:solidFill>
                <a:latin typeface="Consolas"/>
              </a:defRPr>
            </a:pPr>
            <a:r>
              <a:t>                 or 11 pt Times New Roman.</a:t>
            </a:r>
          </a:p>
        </p:txBody>
      </p:sp>
      <p:sp>
        <p:nvSpPr>
          <p:cNvPr id="7" name="Rounded Rectangle 6"/>
          <p:cNvSpPr/>
          <p:nvPr/>
        </p:nvSpPr>
        <p:spPr>
          <a:xfrm>
            <a:off x="6583680" y="1371600"/>
            <a:ext cx="4876495" cy="4846320"/>
          </a:xfrm>
          <a:prstGeom prst="roundRect">
            <a:avLst/>
          </a:prstGeom>
          <a:solidFill>
            <a:srgbClr val="121E31"/>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12280" y="1554480"/>
            <a:ext cx="4419295" cy="4480560"/>
          </a:xfrm>
          <a:prstGeom prst="rect">
            <a:avLst/>
          </a:prstGeom>
          <a:noFill/>
        </p:spPr>
        <p:txBody>
          <a:bodyPr wrap="square" lIns="0" tIns="0" rIns="0" bIns="0">
            <a:spAutoFit/>
          </a:bodyPr>
          <a:lstStyle/>
          <a:p>
            <a:pPr>
              <a:defRPr sz="1100" b="1">
                <a:solidFill>
                  <a:srgbClr val="F97316"/>
                </a:solidFill>
                <a:latin typeface="Arial"/>
              </a:defRPr>
            </a:pPr>
            <a:r>
              <a:t>⚡ IMPACT ON WEBSITE &amp; USER EXPERIENCE</a:t>
            </a:r>
          </a:p>
          <a:p>
            <a:pPr>
              <a:defRPr sz="1300" b="1">
                <a:solidFill>
                  <a:srgbClr val="FFFFFF"/>
                </a:solidFill>
                <a:latin typeface="Arial"/>
              </a:defRPr>
            </a:pPr>
            <a:r>
              <a:t>What This Test Proves for the Live Website</a:t>
            </a:r>
          </a:p>
          <a:p>
            <a:pPr>
              <a:defRPr sz="950" b="1">
                <a:solidFill>
                  <a:srgbClr val="38BDF8"/>
                </a:solidFill>
                <a:latin typeface="Arial"/>
              </a:defRPr>
            </a:pPr>
            <a:r>
              <a:t>• 100% True Positive Font Detection: </a:t>
            </a:r>
          </a:p>
          <a:p>
            <a:pPr>
              <a:defRPr sz="900">
                <a:solidFill>
                  <a:srgbClr val="94A3B8"/>
                </a:solidFill>
                <a:latin typeface="Arial"/>
              </a:defRPr>
            </a:pPr>
            <a:r>
              <a:t>  Successfully caught the deliberate 8.5 pt footnote embedded in the sample manuscript, proving PyMuPDF text span geometry works accurately.</a:t>
            </a:r>
          </a:p>
          <a:p>
            <a:pPr>
              <a:defRPr sz="950" b="1">
                <a:solidFill>
                  <a:srgbClr val="38BDF8"/>
                </a:solidFill>
                <a:latin typeface="Arial"/>
              </a:defRPr>
            </a:pPr>
            <a:r>
              <a:t>• Accurate Mathematical Scoring: </a:t>
            </a:r>
          </a:p>
          <a:p>
            <a:pPr>
              <a:defRPr sz="900">
                <a:solidFill>
                  <a:srgbClr val="94A3B8"/>
                </a:solidFill>
                <a:latin typeface="Arial"/>
              </a:defRPr>
            </a:pPr>
            <a:r>
              <a:t>  Deducted exactly 25.0 points for a fatal RED infraction, reducing total compliance score from 100% to 75.0%.</a:t>
            </a:r>
          </a:p>
          <a:p>
            <a:pPr>
              <a:defRPr sz="950" b="1">
                <a:solidFill>
                  <a:srgbClr val="38BDF8"/>
                </a:solidFill>
                <a:latin typeface="Arial"/>
              </a:defRPr>
            </a:pPr>
            <a:r>
              <a:t>• Financial Extraction Verification: </a:t>
            </a:r>
          </a:p>
          <a:p>
            <a:pPr>
              <a:defRPr sz="900">
                <a:solidFill>
                  <a:srgbClr val="94A3B8"/>
                </a:solidFill>
                <a:latin typeface="Arial"/>
              </a:defRPr>
            </a:pPr>
            <a:r>
              <a:t>  Extracted all itemized personnel and equipment costs, totaling $185,000.00 and validating pdfplumber's tabular parsing.</a:t>
            </a:r>
          </a:p>
          <a:p>
            <a:pPr>
              <a:defRPr sz="950" b="1">
                <a:solidFill>
                  <a:srgbClr val="38BDF8"/>
                </a:solidFill>
                <a:latin typeface="Arial"/>
              </a:defRPr>
            </a:pPr>
            <a:r>
              <a:t>• Institutional Clearance Enforcement: </a:t>
            </a:r>
          </a:p>
          <a:p>
            <a:pPr>
              <a:defRPr sz="900">
                <a:solidFill>
                  <a:srgbClr val="94A3B8"/>
                </a:solidFill>
                <a:latin typeface="Arial"/>
              </a:defRPr>
            </a:pPr>
            <a:r>
              <a:t>  Correctly flipped the status from 'Cleared' to 'ACTION REQUIRED', preventing improper grant submission.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70A12"/>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000" b="1">
                <a:solidFill>
                  <a:srgbClr val="F97316"/>
                </a:solidFill>
                <a:latin typeface="Arial"/>
              </a:defRPr>
            </a:pPr>
            <a:r>
              <a:t>USER EXPERIENCE</a:t>
            </a:r>
          </a:p>
        </p:txBody>
      </p:sp>
      <p:sp>
        <p:nvSpPr>
          <p:cNvPr id="3" name="TextBox 2"/>
          <p:cNvSpPr txBox="1"/>
          <p:nvPr/>
        </p:nvSpPr>
        <p:spPr>
          <a:xfrm>
            <a:off x="731520" y="658368"/>
            <a:ext cx="10515600" cy="502920"/>
          </a:xfrm>
          <a:prstGeom prst="rect">
            <a:avLst/>
          </a:prstGeom>
          <a:noFill/>
        </p:spPr>
        <p:txBody>
          <a:bodyPr wrap="square" lIns="0" tIns="0" rIns="0" bIns="0">
            <a:spAutoFit/>
          </a:bodyPr>
          <a:lstStyle/>
          <a:p>
            <a:pPr>
              <a:defRPr sz="2000" b="1">
                <a:solidFill>
                  <a:srgbClr val="FFFFFF"/>
                </a:solidFill>
                <a:latin typeface="Arial"/>
              </a:defRPr>
            </a:pPr>
            <a:r>
              <a:t>Step-by-Step Researcher User Journey in the Live Application</a:t>
            </a:r>
          </a:p>
          <a:p>
            <a:pPr>
              <a:defRPr sz="1050">
                <a:solidFill>
                  <a:srgbClr val="38BDF8"/>
                </a:solidFill>
                <a:latin typeface="Arial"/>
              </a:defRPr>
            </a:pPr>
            <a:r>
              <a:t>How academic investigators interact with GrantLens from landing to audit report</a:t>
            </a:r>
          </a:p>
        </p:txBody>
      </p:sp>
      <p:sp>
        <p:nvSpPr>
          <p:cNvPr id="4" name="Rounded Rectangle 3"/>
          <p:cNvSpPr/>
          <p:nvPr/>
        </p:nvSpPr>
        <p:spPr>
          <a:xfrm>
            <a:off x="731520" y="1371600"/>
            <a:ext cx="10728655" cy="896112"/>
          </a:xfrm>
          <a:prstGeom prst="roundRect">
            <a:avLst/>
          </a:prstGeom>
          <a:solidFill>
            <a:srgbClr val="0F16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81328"/>
            <a:ext cx="2560320" cy="685800"/>
          </a:xfrm>
          <a:prstGeom prst="rect">
            <a:avLst/>
          </a:prstGeom>
          <a:noFill/>
        </p:spPr>
        <p:txBody>
          <a:bodyPr wrap="square">
            <a:spAutoFit/>
          </a:bodyPr>
          <a:lstStyle/>
          <a:p>
            <a:pPr>
              <a:defRPr sz="1150" b="1">
                <a:solidFill>
                  <a:srgbClr val="F97316"/>
                </a:solidFill>
                <a:latin typeface="Arial"/>
              </a:defRPr>
            </a:pPr>
            <a:r>
              <a:t>Step 1: Access &amp; Sign In</a:t>
            </a:r>
          </a:p>
        </p:txBody>
      </p:sp>
      <p:sp>
        <p:nvSpPr>
          <p:cNvPr id="6" name="TextBox 5"/>
          <p:cNvSpPr txBox="1"/>
          <p:nvPr/>
        </p:nvSpPr>
        <p:spPr>
          <a:xfrm>
            <a:off x="3657600" y="1481328"/>
            <a:ext cx="7589520" cy="685800"/>
          </a:xfrm>
          <a:prstGeom prst="rect">
            <a:avLst/>
          </a:prstGeom>
          <a:noFill/>
        </p:spPr>
        <p:txBody>
          <a:bodyPr wrap="square">
            <a:spAutoFit/>
          </a:bodyPr>
          <a:lstStyle/>
          <a:p>
            <a:pPr>
              <a:defRPr sz="950">
                <a:solidFill>
                  <a:srgbClr val="E2E8F0"/>
                </a:solidFill>
                <a:latin typeface="Arial"/>
              </a:defRPr>
            </a:pPr>
            <a:r>
              <a:t>Researcher visits http://localhost:5173. Clicks 'Researcher Sign In'. Logs in with Demo Account (researcher@grantlens.dev / Password123!) or registers.</a:t>
            </a:r>
          </a:p>
        </p:txBody>
      </p:sp>
      <p:sp>
        <p:nvSpPr>
          <p:cNvPr id="7" name="Rounded Rectangle 6"/>
          <p:cNvSpPr/>
          <p:nvPr/>
        </p:nvSpPr>
        <p:spPr>
          <a:xfrm>
            <a:off x="731520" y="2377440"/>
            <a:ext cx="10728655" cy="896112"/>
          </a:xfrm>
          <a:prstGeom prst="roundRect">
            <a:avLst/>
          </a:prstGeom>
          <a:solidFill>
            <a:srgbClr val="0F16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487168"/>
            <a:ext cx="2560320" cy="685800"/>
          </a:xfrm>
          <a:prstGeom prst="rect">
            <a:avLst/>
          </a:prstGeom>
          <a:noFill/>
        </p:spPr>
        <p:txBody>
          <a:bodyPr wrap="square">
            <a:spAutoFit/>
          </a:bodyPr>
          <a:lstStyle/>
          <a:p>
            <a:pPr>
              <a:defRPr sz="1150" b="1">
                <a:solidFill>
                  <a:srgbClr val="38BDF8"/>
                </a:solidFill>
                <a:latin typeface="Arial"/>
              </a:defRPr>
            </a:pPr>
            <a:r>
              <a:t>Step 2: Workspace Entry</a:t>
            </a:r>
          </a:p>
        </p:txBody>
      </p:sp>
      <p:sp>
        <p:nvSpPr>
          <p:cNvPr id="9" name="TextBox 8"/>
          <p:cNvSpPr txBox="1"/>
          <p:nvPr/>
        </p:nvSpPr>
        <p:spPr>
          <a:xfrm>
            <a:off x="3657600" y="2487168"/>
            <a:ext cx="7589520" cy="685800"/>
          </a:xfrm>
          <a:prstGeom prst="rect">
            <a:avLst/>
          </a:prstGeom>
          <a:noFill/>
        </p:spPr>
        <p:txBody>
          <a:bodyPr wrap="square">
            <a:spAutoFit/>
          </a:bodyPr>
          <a:lstStyle/>
          <a:p>
            <a:pPr>
              <a:defRPr sz="950">
                <a:solidFill>
                  <a:srgbClr val="E2E8F0"/>
                </a:solidFill>
                <a:latin typeface="Arial"/>
              </a:defRPr>
            </a:pPr>
            <a:r>
              <a:t>Portal loads the authenticated session. Navbar displays user badge ('msrb Portal') and green 'FastAPI 2.0 (Online)' indicator.</a:t>
            </a:r>
          </a:p>
        </p:txBody>
      </p:sp>
      <p:sp>
        <p:nvSpPr>
          <p:cNvPr id="10" name="Rounded Rectangle 9"/>
          <p:cNvSpPr/>
          <p:nvPr/>
        </p:nvSpPr>
        <p:spPr>
          <a:xfrm>
            <a:off x="731520" y="3383280"/>
            <a:ext cx="10728655" cy="896112"/>
          </a:xfrm>
          <a:prstGeom prst="roundRect">
            <a:avLst/>
          </a:prstGeom>
          <a:solidFill>
            <a:srgbClr val="0F16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493008"/>
            <a:ext cx="2560320" cy="685800"/>
          </a:xfrm>
          <a:prstGeom prst="rect">
            <a:avLst/>
          </a:prstGeom>
          <a:noFill/>
        </p:spPr>
        <p:txBody>
          <a:bodyPr wrap="square">
            <a:spAutoFit/>
          </a:bodyPr>
          <a:lstStyle/>
          <a:p>
            <a:pPr>
              <a:defRPr sz="1150" b="1">
                <a:solidFill>
                  <a:srgbClr val="10B981"/>
                </a:solidFill>
                <a:latin typeface="Arial"/>
              </a:defRPr>
            </a:pPr>
            <a:r>
              <a:t>Step 3: Dual PDF Dropzone</a:t>
            </a:r>
          </a:p>
        </p:txBody>
      </p:sp>
      <p:sp>
        <p:nvSpPr>
          <p:cNvPr id="12" name="TextBox 11"/>
          <p:cNvSpPr txBox="1"/>
          <p:nvPr/>
        </p:nvSpPr>
        <p:spPr>
          <a:xfrm>
            <a:off x="3657600" y="3493008"/>
            <a:ext cx="7589520" cy="685800"/>
          </a:xfrm>
          <a:prstGeom prst="rect">
            <a:avLst/>
          </a:prstGeom>
          <a:noFill/>
        </p:spPr>
        <p:txBody>
          <a:bodyPr wrap="square">
            <a:spAutoFit/>
          </a:bodyPr>
          <a:lstStyle/>
          <a:p>
            <a:pPr>
              <a:defRPr sz="950">
                <a:solidFill>
                  <a:srgbClr val="E2E8F0"/>
                </a:solidFill>
                <a:latin typeface="Arial"/>
              </a:defRPr>
            </a:pPr>
            <a:r>
              <a:t>Researcher enters grant title, selects target agency (e.g. NSF 24-500), and drags both Solicitation and Proposal PDFs into the dropzones.</a:t>
            </a:r>
          </a:p>
        </p:txBody>
      </p:sp>
      <p:sp>
        <p:nvSpPr>
          <p:cNvPr id="13" name="Rounded Rectangle 12"/>
          <p:cNvSpPr/>
          <p:nvPr/>
        </p:nvSpPr>
        <p:spPr>
          <a:xfrm>
            <a:off x="731520" y="4389120"/>
            <a:ext cx="10728655" cy="896112"/>
          </a:xfrm>
          <a:prstGeom prst="roundRect">
            <a:avLst/>
          </a:prstGeom>
          <a:solidFill>
            <a:srgbClr val="0F16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498848"/>
            <a:ext cx="2560320" cy="685800"/>
          </a:xfrm>
          <a:prstGeom prst="rect">
            <a:avLst/>
          </a:prstGeom>
          <a:noFill/>
        </p:spPr>
        <p:txBody>
          <a:bodyPr wrap="square">
            <a:spAutoFit/>
          </a:bodyPr>
          <a:lstStyle/>
          <a:p>
            <a:pPr>
              <a:defRPr sz="1150" b="1">
                <a:solidFill>
                  <a:srgbClr val="F59E0B"/>
                </a:solidFill>
                <a:latin typeface="Arial"/>
              </a:defRPr>
            </a:pPr>
            <a:r>
              <a:t>Step 4: Real-Time Audit</a:t>
            </a:r>
          </a:p>
        </p:txBody>
      </p:sp>
      <p:sp>
        <p:nvSpPr>
          <p:cNvPr id="15" name="TextBox 14"/>
          <p:cNvSpPr txBox="1"/>
          <p:nvPr/>
        </p:nvSpPr>
        <p:spPr>
          <a:xfrm>
            <a:off x="3657600" y="4498848"/>
            <a:ext cx="7589520" cy="685800"/>
          </a:xfrm>
          <a:prstGeom prst="rect">
            <a:avLst/>
          </a:prstGeom>
          <a:noFill/>
        </p:spPr>
        <p:txBody>
          <a:bodyPr wrap="square">
            <a:spAutoFit/>
          </a:bodyPr>
          <a:lstStyle/>
          <a:p>
            <a:pPr>
              <a:defRPr sz="950">
                <a:solidFill>
                  <a:srgbClr val="E2E8F0"/>
                </a:solidFill>
                <a:latin typeface="Arial"/>
              </a:defRPr>
            </a:pPr>
            <a:r>
              <a:t>Clicks 'Execute Automated Pre-Flight Compliance Audit'. Backend parses geometry &amp; tables in under 1.5 seconds.</a:t>
            </a:r>
          </a:p>
        </p:txBody>
      </p:sp>
      <p:sp>
        <p:nvSpPr>
          <p:cNvPr id="16" name="Rounded Rectangle 15"/>
          <p:cNvSpPr/>
          <p:nvPr/>
        </p:nvSpPr>
        <p:spPr>
          <a:xfrm>
            <a:off x="731520" y="5394960"/>
            <a:ext cx="10728655" cy="896112"/>
          </a:xfrm>
          <a:prstGeom prst="roundRect">
            <a:avLst/>
          </a:prstGeom>
          <a:solidFill>
            <a:srgbClr val="0F16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504688"/>
            <a:ext cx="2560320" cy="685800"/>
          </a:xfrm>
          <a:prstGeom prst="rect">
            <a:avLst/>
          </a:prstGeom>
          <a:noFill/>
        </p:spPr>
        <p:txBody>
          <a:bodyPr wrap="square">
            <a:spAutoFit/>
          </a:bodyPr>
          <a:lstStyle/>
          <a:p>
            <a:pPr>
              <a:defRPr sz="1150" b="1">
                <a:solidFill>
                  <a:srgbClr val="EF4444"/>
                </a:solidFill>
                <a:latin typeface="Arial"/>
              </a:defRPr>
            </a:pPr>
            <a:r>
              <a:t>Step 5: Review &amp; Remediate</a:t>
            </a:r>
          </a:p>
        </p:txBody>
      </p:sp>
      <p:sp>
        <p:nvSpPr>
          <p:cNvPr id="18" name="TextBox 17"/>
          <p:cNvSpPr txBox="1"/>
          <p:nvPr/>
        </p:nvSpPr>
        <p:spPr>
          <a:xfrm>
            <a:off x="3657600" y="5504688"/>
            <a:ext cx="7589520" cy="685800"/>
          </a:xfrm>
          <a:prstGeom prst="rect">
            <a:avLst/>
          </a:prstGeom>
          <a:noFill/>
        </p:spPr>
        <p:txBody>
          <a:bodyPr wrap="square">
            <a:spAutoFit/>
          </a:bodyPr>
          <a:lstStyle/>
          <a:p>
            <a:pPr>
              <a:defRPr sz="950">
                <a:solidFill>
                  <a:srgbClr val="E2E8F0"/>
                </a:solidFill>
                <a:latin typeface="Arial"/>
              </a:defRPr>
            </a:pPr>
            <a:r>
              <a:t>Inspects overall compliance score (75%), reviews RED font alerts, follows remediation advice, and prepares for SRO sign-off.</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70A12"/>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000" b="1">
                <a:solidFill>
                  <a:srgbClr val="F97316"/>
                </a:solidFill>
                <a:latin typeface="Arial"/>
              </a:defRPr>
            </a:pPr>
            <a:r>
              <a:t>PERFORMANCE BENCHMARKS</a:t>
            </a:r>
          </a:p>
        </p:txBody>
      </p:sp>
      <p:sp>
        <p:nvSpPr>
          <p:cNvPr id="3" name="TextBox 2"/>
          <p:cNvSpPr txBox="1"/>
          <p:nvPr/>
        </p:nvSpPr>
        <p:spPr>
          <a:xfrm>
            <a:off x="731520" y="658368"/>
            <a:ext cx="10515600" cy="502920"/>
          </a:xfrm>
          <a:prstGeom prst="rect">
            <a:avLst/>
          </a:prstGeom>
          <a:noFill/>
        </p:spPr>
        <p:txBody>
          <a:bodyPr wrap="square" lIns="0" tIns="0" rIns="0" bIns="0">
            <a:spAutoFit/>
          </a:bodyPr>
          <a:lstStyle/>
          <a:p>
            <a:pPr>
              <a:defRPr sz="2000" b="1">
                <a:solidFill>
                  <a:srgbClr val="FFFFFF"/>
                </a:solidFill>
                <a:latin typeface="Arial"/>
              </a:defRPr>
            </a:pPr>
            <a:r>
              <a:t>System Throughput, Concurrency &amp; Latency Benchmarks</a:t>
            </a:r>
          </a:p>
          <a:p>
            <a:pPr>
              <a:defRPr sz="1050">
                <a:solidFill>
                  <a:srgbClr val="38BDF8"/>
                </a:solidFill>
                <a:latin typeface="Arial"/>
              </a:defRPr>
            </a:pPr>
            <a:r>
              <a:t>Quantitative profiling of Week 2 micro-architecture under realistic loads</a:t>
            </a:r>
          </a:p>
        </p:txBody>
      </p:sp>
      <p:sp>
        <p:nvSpPr>
          <p:cNvPr id="4" name="Rounded Rectangle 3"/>
          <p:cNvSpPr/>
          <p:nvPr/>
        </p:nvSpPr>
        <p:spPr>
          <a:xfrm>
            <a:off x="731520" y="1371600"/>
            <a:ext cx="3474720" cy="2240280"/>
          </a:xfrm>
          <a:prstGeom prst="roundRect">
            <a:avLst/>
          </a:prstGeom>
          <a:solidFill>
            <a:srgbClr val="0F16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3108960" cy="1874519"/>
          </a:xfrm>
          <a:prstGeom prst="rect">
            <a:avLst/>
          </a:prstGeom>
          <a:noFill/>
        </p:spPr>
        <p:txBody>
          <a:bodyPr wrap="square">
            <a:spAutoFit/>
          </a:bodyPr>
          <a:lstStyle/>
          <a:p>
            <a:pPr>
              <a:defRPr sz="1100" b="1">
                <a:solidFill>
                  <a:srgbClr val="94A3B8"/>
                </a:solidFill>
                <a:latin typeface="Arial"/>
              </a:defRPr>
            </a:pPr>
            <a:r>
              <a:t>Vite Production Build Time</a:t>
            </a:r>
          </a:p>
          <a:p>
            <a:pPr>
              <a:defRPr sz="2600" b="1">
                <a:solidFill>
                  <a:srgbClr val="10B981"/>
                </a:solidFill>
                <a:latin typeface="Arial"/>
              </a:defRPr>
            </a:pPr>
            <a:r>
              <a:t>381 ms</a:t>
            </a:r>
          </a:p>
          <a:p>
            <a:pPr>
              <a:defRPr sz="900">
                <a:solidFill>
                  <a:srgbClr val="E2E8F0"/>
                </a:solidFill>
                <a:latin typeface="Arial"/>
              </a:defRPr>
            </a:pPr>
            <a:r>
              <a:t>1,909 modules transformed with zero warnings or errors</a:t>
            </a:r>
          </a:p>
        </p:txBody>
      </p:sp>
      <p:sp>
        <p:nvSpPr>
          <p:cNvPr id="6" name="Rounded Rectangle 5"/>
          <p:cNvSpPr/>
          <p:nvPr/>
        </p:nvSpPr>
        <p:spPr>
          <a:xfrm>
            <a:off x="4343400" y="1371600"/>
            <a:ext cx="3474720" cy="2240280"/>
          </a:xfrm>
          <a:prstGeom prst="roundRect">
            <a:avLst/>
          </a:prstGeom>
          <a:solidFill>
            <a:srgbClr val="0F16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554480"/>
            <a:ext cx="3108960" cy="1874519"/>
          </a:xfrm>
          <a:prstGeom prst="rect">
            <a:avLst/>
          </a:prstGeom>
          <a:noFill/>
        </p:spPr>
        <p:txBody>
          <a:bodyPr wrap="square">
            <a:spAutoFit/>
          </a:bodyPr>
          <a:lstStyle/>
          <a:p>
            <a:pPr>
              <a:defRPr sz="1100" b="1">
                <a:solidFill>
                  <a:srgbClr val="94A3B8"/>
                </a:solidFill>
                <a:latin typeface="Arial"/>
              </a:defRPr>
            </a:pPr>
            <a:r>
              <a:t>Dual Document Parse Latency</a:t>
            </a:r>
          </a:p>
          <a:p>
            <a:pPr>
              <a:defRPr sz="2600" b="1">
                <a:solidFill>
                  <a:srgbClr val="38BDF8"/>
                </a:solidFill>
                <a:latin typeface="Arial"/>
              </a:defRPr>
            </a:pPr>
            <a:r>
              <a:t>1.24 s</a:t>
            </a:r>
          </a:p>
          <a:p>
            <a:pPr>
              <a:defRPr sz="900">
                <a:solidFill>
                  <a:srgbClr val="E2E8F0"/>
                </a:solidFill>
                <a:latin typeface="Arial"/>
              </a:defRPr>
            </a:pPr>
            <a:r>
              <a:t>PyMuPDF geometry + pdfplumber table extraction for a 15-page packet</a:t>
            </a:r>
          </a:p>
        </p:txBody>
      </p:sp>
      <p:sp>
        <p:nvSpPr>
          <p:cNvPr id="8" name="Rounded Rectangle 7"/>
          <p:cNvSpPr/>
          <p:nvPr/>
        </p:nvSpPr>
        <p:spPr>
          <a:xfrm>
            <a:off x="7955280" y="1371600"/>
            <a:ext cx="3474720" cy="2240280"/>
          </a:xfrm>
          <a:prstGeom prst="roundRect">
            <a:avLst/>
          </a:prstGeom>
          <a:solidFill>
            <a:srgbClr val="0F16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1554480"/>
            <a:ext cx="3108960" cy="1874519"/>
          </a:xfrm>
          <a:prstGeom prst="rect">
            <a:avLst/>
          </a:prstGeom>
          <a:noFill/>
        </p:spPr>
        <p:txBody>
          <a:bodyPr wrap="square">
            <a:spAutoFit/>
          </a:bodyPr>
          <a:lstStyle/>
          <a:p>
            <a:pPr>
              <a:defRPr sz="1100" b="1">
                <a:solidFill>
                  <a:srgbClr val="94A3B8"/>
                </a:solidFill>
                <a:latin typeface="Arial"/>
              </a:defRPr>
            </a:pPr>
            <a:r>
              <a:t>Bcrypt Hash Execution Time</a:t>
            </a:r>
          </a:p>
          <a:p>
            <a:pPr>
              <a:defRPr sz="2600" b="1">
                <a:solidFill>
                  <a:srgbClr val="F97316"/>
                </a:solidFill>
                <a:latin typeface="Arial"/>
              </a:defRPr>
            </a:pPr>
            <a:r>
              <a:t>84 ms</a:t>
            </a:r>
          </a:p>
          <a:p>
            <a:pPr>
              <a:defRPr sz="900">
                <a:solidFill>
                  <a:srgbClr val="E2E8F0"/>
                </a:solidFill>
                <a:latin typeface="Arial"/>
              </a:defRPr>
            </a:pPr>
            <a:r>
              <a:t>Secure cost factor (12 rounds) with standard salt generation</a:t>
            </a:r>
          </a:p>
        </p:txBody>
      </p:sp>
      <p:sp>
        <p:nvSpPr>
          <p:cNvPr id="10" name="Rounded Rectangle 9"/>
          <p:cNvSpPr/>
          <p:nvPr/>
        </p:nvSpPr>
        <p:spPr>
          <a:xfrm>
            <a:off x="731520" y="3794760"/>
            <a:ext cx="3474720" cy="2240280"/>
          </a:xfrm>
          <a:prstGeom prst="roundRect">
            <a:avLst/>
          </a:prstGeom>
          <a:solidFill>
            <a:srgbClr val="0F16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977640"/>
            <a:ext cx="3108960" cy="1874519"/>
          </a:xfrm>
          <a:prstGeom prst="rect">
            <a:avLst/>
          </a:prstGeom>
          <a:noFill/>
        </p:spPr>
        <p:txBody>
          <a:bodyPr wrap="square">
            <a:spAutoFit/>
          </a:bodyPr>
          <a:lstStyle/>
          <a:p>
            <a:pPr>
              <a:defRPr sz="1100" b="1">
                <a:solidFill>
                  <a:srgbClr val="94A3B8"/>
                </a:solidFill>
                <a:latin typeface="Arial"/>
              </a:defRPr>
            </a:pPr>
            <a:r>
              <a:t>JWT Authentication Overhead</a:t>
            </a:r>
          </a:p>
          <a:p>
            <a:pPr>
              <a:defRPr sz="2600" b="1">
                <a:solidFill>
                  <a:srgbClr val="FFFFFF"/>
                </a:solidFill>
                <a:latin typeface="Arial"/>
              </a:defRPr>
            </a:pPr>
            <a:r>
              <a:t>&lt; 2 ms</a:t>
            </a:r>
          </a:p>
          <a:p>
            <a:pPr>
              <a:defRPr sz="900">
                <a:solidFill>
                  <a:srgbClr val="E2E8F0"/>
                </a:solidFill>
                <a:latin typeface="Arial"/>
              </a:defRPr>
            </a:pPr>
            <a:r>
              <a:t>Stateless symmetric HS256 signature verification per protected request</a:t>
            </a:r>
          </a:p>
        </p:txBody>
      </p:sp>
      <p:sp>
        <p:nvSpPr>
          <p:cNvPr id="12" name="Rounded Rectangle 11"/>
          <p:cNvSpPr/>
          <p:nvPr/>
        </p:nvSpPr>
        <p:spPr>
          <a:xfrm>
            <a:off x="4343400" y="3794760"/>
            <a:ext cx="3474720" cy="2240280"/>
          </a:xfrm>
          <a:prstGeom prst="roundRect">
            <a:avLst/>
          </a:prstGeom>
          <a:solidFill>
            <a:srgbClr val="0F16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3977640"/>
            <a:ext cx="3108960" cy="1874519"/>
          </a:xfrm>
          <a:prstGeom prst="rect">
            <a:avLst/>
          </a:prstGeom>
          <a:noFill/>
        </p:spPr>
        <p:txBody>
          <a:bodyPr wrap="square">
            <a:spAutoFit/>
          </a:bodyPr>
          <a:lstStyle/>
          <a:p>
            <a:pPr>
              <a:defRPr sz="1100" b="1">
                <a:solidFill>
                  <a:srgbClr val="94A3B8"/>
                </a:solidFill>
                <a:latin typeface="Arial"/>
              </a:defRPr>
            </a:pPr>
            <a:r>
              <a:t>Database Connection Latency</a:t>
            </a:r>
          </a:p>
          <a:p>
            <a:pPr>
              <a:defRPr sz="2600" b="1">
                <a:solidFill>
                  <a:srgbClr val="10B981"/>
                </a:solidFill>
                <a:latin typeface="Arial"/>
              </a:defRPr>
            </a:pPr>
            <a:r>
              <a:t>&lt; 5 ms</a:t>
            </a:r>
          </a:p>
          <a:p>
            <a:pPr>
              <a:defRPr sz="900">
                <a:solidFill>
                  <a:srgbClr val="E2E8F0"/>
                </a:solidFill>
                <a:latin typeface="Arial"/>
              </a:defRPr>
            </a:pPr>
            <a:r>
              <a:t>Pre-warmed asyncpg pool avoids TCP handshake delays per query</a:t>
            </a:r>
          </a:p>
        </p:txBody>
      </p:sp>
      <p:sp>
        <p:nvSpPr>
          <p:cNvPr id="14" name="Rounded Rectangle 13"/>
          <p:cNvSpPr/>
          <p:nvPr/>
        </p:nvSpPr>
        <p:spPr>
          <a:xfrm>
            <a:off x="7955280" y="3794760"/>
            <a:ext cx="3474720" cy="2240280"/>
          </a:xfrm>
          <a:prstGeom prst="roundRect">
            <a:avLst/>
          </a:prstGeom>
          <a:solidFill>
            <a:srgbClr val="0F16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60" y="3977640"/>
            <a:ext cx="3108960" cy="1874519"/>
          </a:xfrm>
          <a:prstGeom prst="rect">
            <a:avLst/>
          </a:prstGeom>
          <a:noFill/>
        </p:spPr>
        <p:txBody>
          <a:bodyPr wrap="square">
            <a:spAutoFit/>
          </a:bodyPr>
          <a:lstStyle/>
          <a:p>
            <a:pPr>
              <a:defRPr sz="1100" b="1">
                <a:solidFill>
                  <a:srgbClr val="94A3B8"/>
                </a:solidFill>
                <a:latin typeface="Arial"/>
              </a:defRPr>
            </a:pPr>
            <a:r>
              <a:t>Memory Footprint in Docker</a:t>
            </a:r>
          </a:p>
          <a:p>
            <a:pPr>
              <a:defRPr sz="2600" b="1">
                <a:solidFill>
                  <a:srgbClr val="38BDF8"/>
                </a:solidFill>
                <a:latin typeface="Arial"/>
              </a:defRPr>
            </a:pPr>
            <a:r>
              <a:t>~ 140 MB</a:t>
            </a:r>
          </a:p>
          <a:p>
            <a:pPr>
              <a:defRPr sz="900">
                <a:solidFill>
                  <a:srgbClr val="E2E8F0"/>
                </a:solidFill>
                <a:latin typeface="Arial"/>
              </a:defRPr>
            </a:pPr>
            <a:r>
              <a:t>Minimal footprint using Python 3.11 slim and Alpine PostgreSQL 16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70A12"/>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000" b="1">
                <a:solidFill>
                  <a:srgbClr val="F97316"/>
                </a:solidFill>
                <a:latin typeface="Arial"/>
              </a:defRPr>
            </a:pPr>
            <a:r>
              <a:t>ENGINEERING RIGOR</a:t>
            </a:r>
          </a:p>
        </p:txBody>
      </p:sp>
      <p:sp>
        <p:nvSpPr>
          <p:cNvPr id="3" name="TextBox 2"/>
          <p:cNvSpPr txBox="1"/>
          <p:nvPr/>
        </p:nvSpPr>
        <p:spPr>
          <a:xfrm>
            <a:off x="731520" y="658368"/>
            <a:ext cx="10515600" cy="502920"/>
          </a:xfrm>
          <a:prstGeom prst="rect">
            <a:avLst/>
          </a:prstGeom>
          <a:noFill/>
        </p:spPr>
        <p:txBody>
          <a:bodyPr wrap="square" lIns="0" tIns="0" rIns="0" bIns="0">
            <a:spAutoFit/>
          </a:bodyPr>
          <a:lstStyle/>
          <a:p>
            <a:pPr>
              <a:defRPr sz="2000" b="1">
                <a:solidFill>
                  <a:srgbClr val="FFFFFF"/>
                </a:solidFill>
                <a:latin typeface="Arial"/>
              </a:defRPr>
            </a:pPr>
            <a:r>
              <a:t>Key Technical Hurdles Overcome &amp; Production Solutions</a:t>
            </a:r>
          </a:p>
          <a:p>
            <a:pPr>
              <a:defRPr sz="1050">
                <a:solidFill>
                  <a:srgbClr val="38BDF8"/>
                </a:solidFill>
                <a:latin typeface="Arial"/>
              </a:defRPr>
            </a:pPr>
            <a:r>
              <a:t>How the engineering team diagnosed and resolved complex low-level bugs</a:t>
            </a:r>
          </a:p>
        </p:txBody>
      </p:sp>
      <p:sp>
        <p:nvSpPr>
          <p:cNvPr id="4" name="Rounded Rectangle 3"/>
          <p:cNvSpPr/>
          <p:nvPr/>
        </p:nvSpPr>
        <p:spPr>
          <a:xfrm>
            <a:off x="731520" y="1371600"/>
            <a:ext cx="10728655" cy="1508760"/>
          </a:xfrm>
          <a:prstGeom prst="roundRect">
            <a:avLst/>
          </a:prstGeom>
          <a:solidFill>
            <a:srgbClr val="0F16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81328"/>
            <a:ext cx="10360152" cy="1280160"/>
          </a:xfrm>
          <a:prstGeom prst="rect">
            <a:avLst/>
          </a:prstGeom>
          <a:noFill/>
        </p:spPr>
        <p:txBody>
          <a:bodyPr wrap="square">
            <a:spAutoFit/>
          </a:bodyPr>
          <a:lstStyle/>
          <a:p>
            <a:pPr>
              <a:defRPr sz="1200" b="1">
                <a:solidFill>
                  <a:srgbClr val="F97316"/>
                </a:solidFill>
                <a:latin typeface="Arial"/>
              </a:defRPr>
            </a:pPr>
            <a:r>
              <a:t>Hurdle 1: Passlib / Bcrypt 5.0+ Incompatibility</a:t>
            </a:r>
          </a:p>
          <a:p>
            <a:pPr>
              <a:defRPr sz="900">
                <a:solidFill>
                  <a:srgbClr val="94A3B8"/>
                </a:solidFill>
                <a:latin typeface="Arial"/>
              </a:defRPr>
            </a:pPr>
            <a:r>
              <a:t>Symptom: Attribute error 'module bcrypt has no attribute __about__' on Python 3.13.</a:t>
            </a:r>
          </a:p>
          <a:p>
            <a:pPr>
              <a:defRPr sz="900">
                <a:solidFill>
                  <a:srgbClr val="94A3B8"/>
                </a:solidFill>
                <a:latin typeface="Arial"/>
              </a:defRPr>
            </a:pPr>
            <a:r>
              <a:t>Root Cause: Passlib's legacy version regex assumed old bcrypt metadata formats.</a:t>
            </a:r>
          </a:p>
          <a:p>
            <a:pPr>
              <a:defRPr sz="900" b="1">
                <a:solidFill>
                  <a:srgbClr val="E2E8F0"/>
                </a:solidFill>
                <a:latin typeface="Arial"/>
              </a:defRPr>
            </a:pPr>
            <a:r>
              <a:t>Solution: Replaced passlib wrapper with direct native bcrypt.hashpw / bcrypt.checkpw calls, ensuring 100% stable password encryption without deprecated dependencies.</a:t>
            </a:r>
          </a:p>
        </p:txBody>
      </p:sp>
      <p:sp>
        <p:nvSpPr>
          <p:cNvPr id="6" name="Rounded Rectangle 5"/>
          <p:cNvSpPr/>
          <p:nvPr/>
        </p:nvSpPr>
        <p:spPr>
          <a:xfrm>
            <a:off x="731520" y="3017520"/>
            <a:ext cx="10728655" cy="1508760"/>
          </a:xfrm>
          <a:prstGeom prst="roundRect">
            <a:avLst/>
          </a:prstGeom>
          <a:solidFill>
            <a:srgbClr val="0F16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127248"/>
            <a:ext cx="10360152" cy="1280160"/>
          </a:xfrm>
          <a:prstGeom prst="rect">
            <a:avLst/>
          </a:prstGeom>
          <a:noFill/>
        </p:spPr>
        <p:txBody>
          <a:bodyPr wrap="square">
            <a:spAutoFit/>
          </a:bodyPr>
          <a:lstStyle/>
          <a:p>
            <a:pPr>
              <a:defRPr sz="1200" b="1">
                <a:solidFill>
                  <a:srgbClr val="38BDF8"/>
                </a:solidFill>
                <a:latin typeface="Arial"/>
              </a:defRPr>
            </a:pPr>
            <a:r>
              <a:t>Hurdle 2: IPv6 [::1] Loopback 'Failed to Fetch'</a:t>
            </a:r>
          </a:p>
          <a:p>
            <a:pPr>
              <a:defRPr sz="900">
                <a:solidFill>
                  <a:srgbClr val="94A3B8"/>
                </a:solidFill>
                <a:latin typeface="Arial"/>
              </a:defRPr>
            </a:pPr>
            <a:r>
              <a:t>Symptom: Browser threw 'Failed to fetch' when submitting registration forms.</a:t>
            </a:r>
          </a:p>
          <a:p>
            <a:pPr>
              <a:defRPr sz="900">
                <a:solidFill>
                  <a:srgbClr val="94A3B8"/>
                </a:solidFill>
                <a:latin typeface="Arial"/>
              </a:defRPr>
            </a:pPr>
            <a:r>
              <a:t>Root Cause: Chromium/Brave resolved localhost to IPv6 ::1, while Uvicorn was bound to 127.0.0.1.</a:t>
            </a:r>
          </a:p>
          <a:p>
            <a:pPr>
              <a:defRPr sz="900" b="1">
                <a:solidFill>
                  <a:srgbClr val="E2E8F0"/>
                </a:solidFill>
                <a:latin typeface="Arial"/>
              </a:defRPr>
            </a:pPr>
            <a:r>
              <a:t>Solution: Bound Uvicorn to 0.0.0.0:8000 and centralized frontend API calls through an explicit IPv4 loopback constant (http://127.0.0.1:8000 in apiConfig.js).</a:t>
            </a:r>
          </a:p>
        </p:txBody>
      </p:sp>
      <p:sp>
        <p:nvSpPr>
          <p:cNvPr id="8" name="Rounded Rectangle 7"/>
          <p:cNvSpPr/>
          <p:nvPr/>
        </p:nvSpPr>
        <p:spPr>
          <a:xfrm>
            <a:off x="731520" y="4663440"/>
            <a:ext cx="10728655" cy="1508760"/>
          </a:xfrm>
          <a:prstGeom prst="roundRect">
            <a:avLst/>
          </a:prstGeom>
          <a:solidFill>
            <a:srgbClr val="0F16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773168"/>
            <a:ext cx="10360152" cy="1280160"/>
          </a:xfrm>
          <a:prstGeom prst="rect">
            <a:avLst/>
          </a:prstGeom>
          <a:noFill/>
        </p:spPr>
        <p:txBody>
          <a:bodyPr wrap="square">
            <a:spAutoFit/>
          </a:bodyPr>
          <a:lstStyle/>
          <a:p>
            <a:pPr>
              <a:defRPr sz="1200" b="1">
                <a:solidFill>
                  <a:srgbClr val="10B981"/>
                </a:solidFill>
                <a:latin typeface="Arial"/>
              </a:defRPr>
            </a:pPr>
            <a:r>
              <a:t>Hurdle 3: Stale LocalStorage Token React Crashes</a:t>
            </a:r>
          </a:p>
          <a:p>
            <a:pPr>
              <a:defRPr sz="900">
                <a:solidFill>
                  <a:srgbClr val="94A3B8"/>
                </a:solidFill>
                <a:latin typeface="Arial"/>
              </a:defRPr>
            </a:pPr>
            <a:r>
              <a:t>Symptom: UI went completely black/pitch dark upon reloading the frontend.</a:t>
            </a:r>
          </a:p>
          <a:p>
            <a:pPr>
              <a:defRPr sz="900">
                <a:solidFill>
                  <a:srgbClr val="94A3B8"/>
                </a:solidFill>
                <a:latin typeface="Arial"/>
              </a:defRPr>
            </a:pPr>
            <a:r>
              <a:t>Root Cause: An unhandled TypeError occurred when reading .split(' ') on undefined full_name.</a:t>
            </a:r>
          </a:p>
          <a:p>
            <a:pPr>
              <a:defRPr sz="900" b="1">
                <a:solidFill>
                  <a:srgbClr val="E2E8F0"/>
                </a:solidFill>
                <a:latin typeface="Arial"/>
              </a:defRPr>
            </a:pPr>
            <a:r>
              <a:t>Solution: Added defensive optional chaining across all user state consumers and wrapped main.jsx in a top-level React ErrorBoundary with automatic session reset.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70A12"/>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000" b="1">
                <a:solidFill>
                  <a:srgbClr val="F97316"/>
                </a:solidFill>
                <a:latin typeface="Arial"/>
              </a:defRPr>
            </a:pPr>
            <a:r>
              <a:t>MILESTONE VERIFICATION</a:t>
            </a:r>
          </a:p>
        </p:txBody>
      </p:sp>
      <p:sp>
        <p:nvSpPr>
          <p:cNvPr id="3" name="TextBox 2"/>
          <p:cNvSpPr txBox="1"/>
          <p:nvPr/>
        </p:nvSpPr>
        <p:spPr>
          <a:xfrm>
            <a:off x="731520" y="658368"/>
            <a:ext cx="10515600" cy="502920"/>
          </a:xfrm>
          <a:prstGeom prst="rect">
            <a:avLst/>
          </a:prstGeom>
          <a:noFill/>
        </p:spPr>
        <p:txBody>
          <a:bodyPr wrap="square" lIns="0" tIns="0" rIns="0" bIns="0">
            <a:spAutoFit/>
          </a:bodyPr>
          <a:lstStyle/>
          <a:p>
            <a:pPr>
              <a:defRPr sz="2000" b="1">
                <a:solidFill>
                  <a:srgbClr val="FFFFFF"/>
                </a:solidFill>
                <a:latin typeface="Arial"/>
              </a:defRPr>
            </a:pPr>
            <a:r>
              <a:t>Week 2 Formal Acceptance Criteria &amp; Verification Matrix</a:t>
            </a:r>
          </a:p>
          <a:p>
            <a:pPr>
              <a:defRPr sz="1050">
                <a:solidFill>
                  <a:srgbClr val="38BDF8"/>
                </a:solidFill>
                <a:latin typeface="Arial"/>
              </a:defRPr>
            </a:pPr>
            <a:r>
              <a:t>100% fulfillment of all Week 2 functional deliverables and requirements</a:t>
            </a:r>
          </a:p>
        </p:txBody>
      </p:sp>
      <p:sp>
        <p:nvSpPr>
          <p:cNvPr id="4" name="Rounded Rectangle 3"/>
          <p:cNvSpPr/>
          <p:nvPr/>
        </p:nvSpPr>
        <p:spPr>
          <a:xfrm>
            <a:off x="731520" y="1371600"/>
            <a:ext cx="10728655" cy="4846320"/>
          </a:xfrm>
          <a:prstGeom prst="roundRect">
            <a:avLst/>
          </a:prstGeom>
          <a:solidFill>
            <a:srgbClr val="0F16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10360152" cy="4572000"/>
          </a:xfrm>
          <a:prstGeom prst="rect">
            <a:avLst/>
          </a:prstGeom>
          <a:noFill/>
        </p:spPr>
        <p:txBody>
          <a:bodyPr wrap="square">
            <a:spAutoFit/>
          </a:bodyPr>
          <a:lstStyle/>
          <a:p>
            <a:pPr>
              <a:defRPr sz="1200" b="1">
                <a:solidFill>
                  <a:srgbClr val="F97316"/>
                </a:solidFill>
                <a:latin typeface="Arial"/>
              </a:defRPr>
            </a:pPr>
            <a:r>
              <a:t>FORMAL VERIFICATION &amp; COMPLIANCE SCORECARD</a:t>
            </a:r>
          </a:p>
          <a:p>
            <a:pPr>
              <a:defRPr sz="950" b="1">
                <a:solidFill>
                  <a:srgbClr val="10B981"/>
                </a:solidFill>
                <a:latin typeface="Arial"/>
              </a:defRPr>
            </a:pPr>
            <a:r>
              <a:t>1. Docker Multi-Container Environment  [VERIFIED ✓]</a:t>
            </a:r>
          </a:p>
          <a:p>
            <a:pPr>
              <a:defRPr sz="850">
                <a:solidFill>
                  <a:srgbClr val="94A3B8"/>
                </a:solidFill>
                <a:latin typeface="Arial"/>
              </a:defRPr>
            </a:pPr>
            <a:r>
              <a:t>   Scope: FastAPI backend + PostgreSQL 16 with health checks &amp; volumes | Result: Container boots cleanly; db health verified via pg_isready</a:t>
            </a:r>
          </a:p>
          <a:p>
            <a:pPr>
              <a:defRPr sz="950" b="1">
                <a:solidFill>
                  <a:srgbClr val="10B981"/>
                </a:solidFill>
                <a:latin typeface="Arial"/>
              </a:defRPr>
            </a:pPr>
            <a:r>
              <a:t>2. Relational SQLAlchemy 2.0 Models  [VERIFIED ✓]</a:t>
            </a:r>
          </a:p>
          <a:p>
            <a:pPr>
              <a:defRPr sz="850">
                <a:solidFill>
                  <a:srgbClr val="94A3B8"/>
                </a:solidFill>
                <a:latin typeface="Arial"/>
              </a:defRPr>
            </a:pPr>
            <a:r>
              <a:t>   Scope: UUID PKs, cascade deletions, JSONB geometry metadata | Result: 6 normalized tables initialized with foreign keys &amp; indexes</a:t>
            </a:r>
          </a:p>
          <a:p>
            <a:pPr>
              <a:defRPr sz="950" b="1">
                <a:solidFill>
                  <a:srgbClr val="10B981"/>
                </a:solidFill>
                <a:latin typeface="Arial"/>
              </a:defRPr>
            </a:pPr>
            <a:r>
              <a:t>3. PyMuPDF Geometry Ingestion  [VERIFIED ✓]</a:t>
            </a:r>
          </a:p>
          <a:p>
            <a:pPr>
              <a:defRPr sz="850">
                <a:solidFill>
                  <a:srgbClr val="94A3B8"/>
                </a:solidFill>
                <a:latin typeface="Arial"/>
              </a:defRPr>
            </a:pPr>
            <a:r>
              <a:t>   Scope: Detect page count, font pt sizing, and physical margin bounds | Result: Extracted 8.5 pt font span &amp; margin bounding boxes in 1.2s</a:t>
            </a:r>
          </a:p>
          <a:p>
            <a:pPr>
              <a:defRPr sz="950" b="1">
                <a:solidFill>
                  <a:srgbClr val="10B981"/>
                </a:solidFill>
                <a:latin typeface="Arial"/>
              </a:defRPr>
            </a:pPr>
            <a:r>
              <a:t>4. pdfplumber Financial Table Parsing  [VERIFIED ✓]</a:t>
            </a:r>
          </a:p>
          <a:p>
            <a:pPr>
              <a:defRPr sz="850">
                <a:solidFill>
                  <a:srgbClr val="94A3B8"/>
                </a:solidFill>
                <a:latin typeface="Arial"/>
              </a:defRPr>
            </a:pPr>
            <a:r>
              <a:t>   Scope: Extract financial line items into structured currency rows | Result: Extracted $185,000.00 total across itemized personnel rows</a:t>
            </a:r>
          </a:p>
          <a:p>
            <a:pPr>
              <a:defRPr sz="950" b="1">
                <a:solidFill>
                  <a:srgbClr val="10B981"/>
                </a:solidFill>
                <a:latin typeface="Arial"/>
              </a:defRPr>
            </a:pPr>
            <a:r>
              <a:t>5. Researcher Portal Authentication  [VERIFIED ✓]</a:t>
            </a:r>
          </a:p>
          <a:p>
            <a:pPr>
              <a:defRPr sz="850">
                <a:solidFill>
                  <a:srgbClr val="94A3B8"/>
                </a:solidFill>
                <a:latin typeface="Arial"/>
              </a:defRPr>
            </a:pPr>
            <a:r>
              <a:t>   Scope: Bcrypt password hashing + RFC 6749 JWT token lifecycles | Result: Registered inanhasinanzum@gmail.com; login issued valid JWT</a:t>
            </a:r>
          </a:p>
          <a:p>
            <a:pPr>
              <a:defRPr sz="950" b="1">
                <a:solidFill>
                  <a:srgbClr val="10B981"/>
                </a:solidFill>
                <a:latin typeface="Arial"/>
              </a:defRPr>
            </a:pPr>
            <a:r>
              <a:t>6. Pre-Flight Compliance Scanner Core  [VERIFIED ✓]</a:t>
            </a:r>
          </a:p>
          <a:p>
            <a:pPr>
              <a:defRPr sz="850">
                <a:solidFill>
                  <a:srgbClr val="94A3B8"/>
                </a:solidFill>
                <a:latin typeface="Arial"/>
              </a:defRPr>
            </a:pPr>
            <a:r>
              <a:t>   Scope: Deterministic Red/Yellow/Green scoring &amp; remediation advice | Result: Detected font violation; deducted 25 pts; required SRO action</a:t>
            </a:r>
          </a:p>
          <a:p>
            <a:pPr>
              <a:defRPr sz="950" b="1">
                <a:solidFill>
                  <a:srgbClr val="10B981"/>
                </a:solidFill>
                <a:latin typeface="Arial"/>
              </a:defRPr>
            </a:pPr>
            <a:r>
              <a:t>7. Researcher Portal Interactive UI  [VERIFIED ✓]</a:t>
            </a:r>
          </a:p>
          <a:p>
            <a:pPr>
              <a:defRPr sz="850">
                <a:solidFill>
                  <a:srgbClr val="94A3B8"/>
                </a:solidFill>
                <a:latin typeface="Arial"/>
              </a:defRPr>
            </a:pPr>
            <a:r>
              <a:t>   Scope: Tailwind dark obsidian UI, dual PDF upload, score meter | Result: Built in 381ms; responsive; zero pitch dark crashes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70A12"/>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000" b="1">
                <a:solidFill>
                  <a:srgbClr val="F97316"/>
                </a:solidFill>
                <a:latin typeface="Arial"/>
              </a:defRPr>
            </a:pPr>
            <a:r>
              <a:t>FUTURE ROADMAP</a:t>
            </a:r>
          </a:p>
        </p:txBody>
      </p:sp>
      <p:sp>
        <p:nvSpPr>
          <p:cNvPr id="3" name="TextBox 2"/>
          <p:cNvSpPr txBox="1"/>
          <p:nvPr/>
        </p:nvSpPr>
        <p:spPr>
          <a:xfrm>
            <a:off x="731520" y="658368"/>
            <a:ext cx="10515600" cy="502920"/>
          </a:xfrm>
          <a:prstGeom prst="rect">
            <a:avLst/>
          </a:prstGeom>
          <a:noFill/>
        </p:spPr>
        <p:txBody>
          <a:bodyPr wrap="square" lIns="0" tIns="0" rIns="0" bIns="0">
            <a:spAutoFit/>
          </a:bodyPr>
          <a:lstStyle/>
          <a:p>
            <a:pPr>
              <a:defRPr sz="2000" b="1">
                <a:solidFill>
                  <a:srgbClr val="FFFFFF"/>
                </a:solidFill>
                <a:latin typeface="Arial"/>
              </a:defRPr>
            </a:pPr>
            <a:r>
              <a:t>Transition to Week 3: Semantic AI Auditing &amp; LLM Advisory</a:t>
            </a:r>
          </a:p>
          <a:p>
            <a:pPr>
              <a:defRPr sz="1050">
                <a:solidFill>
                  <a:srgbClr val="38BDF8"/>
                </a:solidFill>
                <a:latin typeface="Arial"/>
              </a:defRPr>
            </a:pPr>
            <a:r>
              <a:t>Scaling from deterministic rule checks to semantic grant proposal synthesis</a:t>
            </a:r>
          </a:p>
        </p:txBody>
      </p:sp>
      <p:sp>
        <p:nvSpPr>
          <p:cNvPr id="4" name="Rounded Rectangle 3"/>
          <p:cNvSpPr/>
          <p:nvPr/>
        </p:nvSpPr>
        <p:spPr>
          <a:xfrm>
            <a:off x="731520" y="1371600"/>
            <a:ext cx="3291840" cy="4846320"/>
          </a:xfrm>
          <a:prstGeom prst="roundRect">
            <a:avLst/>
          </a:prstGeom>
          <a:solidFill>
            <a:srgbClr val="0F16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2926080" cy="4480560"/>
          </a:xfrm>
          <a:prstGeom prst="rect">
            <a:avLst/>
          </a:prstGeom>
          <a:noFill/>
        </p:spPr>
        <p:txBody>
          <a:bodyPr wrap="square">
            <a:spAutoFit/>
          </a:bodyPr>
          <a:lstStyle/>
          <a:p>
            <a:pPr>
              <a:defRPr sz="1300" b="1">
                <a:solidFill>
                  <a:srgbClr val="F97316"/>
                </a:solidFill>
                <a:latin typeface="Arial"/>
              </a:defRPr>
            </a:pPr>
            <a:r>
              <a:t>1. ChromaDB Vector Store</a:t>
            </a:r>
          </a:p>
          <a:p>
            <a:pPr>
              <a:defRPr sz="900">
                <a:solidFill>
                  <a:srgbClr val="94A3B8"/>
                </a:solidFill>
              </a:defRPr>
            </a:pPr>
            <a:r>
              <a:t>• Embed solicitation guideline paragraphs into dense vector space.</a:t>
            </a:r>
          </a:p>
          <a:p>
            <a:pPr>
              <a:defRPr sz="900">
                <a:solidFill>
                  <a:srgbClr val="94A3B8"/>
                </a:solidFill>
              </a:defRPr>
            </a:pPr>
            <a:r>
              <a:t>• Perform cosine similarity lookups to match proposal sections with exact solicitation requirements.</a:t>
            </a:r>
          </a:p>
          <a:p>
            <a:pPr>
              <a:defRPr sz="900">
                <a:solidFill>
                  <a:srgbClr val="94A3B8"/>
                </a:solidFill>
              </a:defRPr>
            </a:pPr>
            <a:r>
              <a:t>• Detect missing intellectual merit and broader impacts subsections automatically.</a:t>
            </a:r>
          </a:p>
        </p:txBody>
      </p:sp>
      <p:sp>
        <p:nvSpPr>
          <p:cNvPr id="6" name="Rounded Rectangle 5"/>
          <p:cNvSpPr/>
          <p:nvPr/>
        </p:nvSpPr>
        <p:spPr>
          <a:xfrm>
            <a:off x="4297680" y="1371600"/>
            <a:ext cx="3657600" cy="4846320"/>
          </a:xfrm>
          <a:prstGeom prst="roundRect">
            <a:avLst/>
          </a:prstGeom>
          <a:solidFill>
            <a:srgbClr val="0F16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80560" y="1554480"/>
            <a:ext cx="3291840" cy="4480560"/>
          </a:xfrm>
          <a:prstGeom prst="rect">
            <a:avLst/>
          </a:prstGeom>
          <a:noFill/>
        </p:spPr>
        <p:txBody>
          <a:bodyPr wrap="square">
            <a:spAutoFit/>
          </a:bodyPr>
          <a:lstStyle/>
          <a:p>
            <a:pPr>
              <a:defRPr sz="1300" b="1">
                <a:solidFill>
                  <a:srgbClr val="38BDF8"/>
                </a:solidFill>
                <a:latin typeface="Arial"/>
              </a:defRPr>
            </a:pPr>
            <a:r>
              <a:t>2. Gemini LLM Advisor</a:t>
            </a:r>
          </a:p>
          <a:p>
            <a:pPr>
              <a:defRPr sz="900">
                <a:solidFill>
                  <a:srgbClr val="94A3B8"/>
                </a:solidFill>
              </a:defRPr>
            </a:pPr>
            <a:r>
              <a:t>• Integrate Google Gemini API for deep narrative compliance evaluation.</a:t>
            </a:r>
          </a:p>
          <a:p>
            <a:pPr>
              <a:defRPr sz="900">
                <a:solidFill>
                  <a:srgbClr val="94A3B8"/>
                </a:solidFill>
              </a:defRPr>
            </a:pPr>
            <a:r>
              <a:t>• Generate section-by-section rewrite prompts for low-scoring technical paragraphs.</a:t>
            </a:r>
          </a:p>
          <a:p>
            <a:pPr>
              <a:defRPr sz="900">
                <a:solidFill>
                  <a:srgbClr val="94A3B8"/>
                </a:solidFill>
              </a:defRPr>
            </a:pPr>
            <a:r>
              <a:t>• Simulate an NSF/NIH peer review panel rating with qualitative rubric scores.</a:t>
            </a:r>
          </a:p>
        </p:txBody>
      </p:sp>
      <p:sp>
        <p:nvSpPr>
          <p:cNvPr id="8" name="Rounded Rectangle 7"/>
          <p:cNvSpPr/>
          <p:nvPr/>
        </p:nvSpPr>
        <p:spPr>
          <a:xfrm>
            <a:off x="8229600" y="1371600"/>
            <a:ext cx="3230575" cy="4846320"/>
          </a:xfrm>
          <a:prstGeom prst="roundRect">
            <a:avLst/>
          </a:prstGeom>
          <a:solidFill>
            <a:srgbClr val="0F1626"/>
          </a:solidFill>
          <a:ln w="12700">
            <a:solidFill>
              <a:srgbClr val="1E2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0" y="1554480"/>
            <a:ext cx="2862072" cy="4480560"/>
          </a:xfrm>
          <a:prstGeom prst="rect">
            <a:avLst/>
          </a:prstGeom>
          <a:noFill/>
        </p:spPr>
        <p:txBody>
          <a:bodyPr wrap="square">
            <a:spAutoFit/>
          </a:bodyPr>
          <a:lstStyle/>
          <a:p>
            <a:pPr>
              <a:defRPr sz="1300" b="1">
                <a:solidFill>
                  <a:srgbClr val="10B981"/>
                </a:solidFill>
                <a:latin typeface="Arial"/>
              </a:defRPr>
            </a:pPr>
            <a:r>
              <a:t>3. SRO Clearance Export</a:t>
            </a:r>
          </a:p>
          <a:p>
            <a:pPr>
              <a:defRPr sz="900">
                <a:solidFill>
                  <a:srgbClr val="94A3B8"/>
                </a:solidFill>
              </a:defRPr>
            </a:pPr>
            <a:r>
              <a:t>• Generate automated PDF Institutional Clearance Certificates via ReportLab.</a:t>
            </a:r>
          </a:p>
          <a:p>
            <a:pPr>
              <a:defRPr sz="900">
                <a:solidFill>
                  <a:srgbClr val="94A3B8"/>
                </a:solidFill>
              </a:defRPr>
            </a:pPr>
            <a:r>
              <a:t>• Embed digital signatures and compliance audit audit trails for University Sponsored Research Offices.</a:t>
            </a:r>
          </a:p>
          <a:p>
            <a:pPr>
              <a:defRPr sz="900">
                <a:solidFill>
                  <a:srgbClr val="94A3B8"/>
                </a:solidFill>
              </a:defRPr>
            </a:pPr>
            <a:r>
              <a:t>• One-click institutional pre-flight clearance pass for federal submission portals.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