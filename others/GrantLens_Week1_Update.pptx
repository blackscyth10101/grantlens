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1" d="100"/>
          <a:sy n="111" d="100"/>
        </p:scale>
        <p:origin x="558"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a:t>
            </a:r>
          </a:p>
        </p:txBody>
      </p:sp>
      <p:sp>
        <p:nvSpPr>
          <p:cNvPr id="4" name="Rectangle 3"/>
          <p:cNvSpPr/>
          <p:nvPr/>
        </p:nvSpPr>
        <p:spPr>
          <a:xfrm>
            <a:off x="0" y="2926080"/>
            <a:ext cx="12188952"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097280"/>
            <a:ext cx="10360152" cy="1280160"/>
          </a:xfrm>
          <a:prstGeom prst="rect">
            <a:avLst/>
          </a:prstGeom>
          <a:noFill/>
        </p:spPr>
        <p:txBody>
          <a:bodyPr wrap="square">
            <a:spAutoFit/>
          </a:bodyPr>
          <a:lstStyle/>
          <a:p>
            <a:pPr algn="ctr"/>
            <a:r>
              <a:rPr sz="6400" b="1" i="0">
                <a:solidFill>
                  <a:srgbClr val="FFFFFF"/>
                </a:solidFill>
                <a:latin typeface="Segoe UI"/>
              </a:rPr>
              <a:t>GrantLens</a:t>
            </a:r>
          </a:p>
        </p:txBody>
      </p:sp>
      <p:sp>
        <p:nvSpPr>
          <p:cNvPr id="6" name="TextBox 5"/>
          <p:cNvSpPr txBox="1"/>
          <p:nvPr/>
        </p:nvSpPr>
        <p:spPr>
          <a:xfrm>
            <a:off x="914400" y="2377440"/>
            <a:ext cx="10360152" cy="548640"/>
          </a:xfrm>
          <a:prstGeom prst="rect">
            <a:avLst/>
          </a:prstGeom>
          <a:noFill/>
        </p:spPr>
        <p:txBody>
          <a:bodyPr wrap="square">
            <a:spAutoFit/>
          </a:bodyPr>
          <a:lstStyle/>
          <a:p>
            <a:pPr algn="ctr"/>
            <a:r>
              <a:rPr sz="2200" b="0" i="1">
                <a:solidFill>
                  <a:srgbClr val="F97316"/>
                </a:solidFill>
                <a:latin typeface="Segoe UI"/>
              </a:rPr>
              <a:t>AI-Powered Grant Audit &amp; Evaluation Platform</a:t>
            </a:r>
          </a:p>
        </p:txBody>
      </p:sp>
      <p:sp>
        <p:nvSpPr>
          <p:cNvPr id="7" name="TextBox 6"/>
          <p:cNvSpPr txBox="1"/>
          <p:nvPr/>
        </p:nvSpPr>
        <p:spPr>
          <a:xfrm>
            <a:off x="914400" y="3063240"/>
            <a:ext cx="10360152" cy="457200"/>
          </a:xfrm>
          <a:prstGeom prst="rect">
            <a:avLst/>
          </a:prstGeom>
          <a:noFill/>
        </p:spPr>
        <p:txBody>
          <a:bodyPr wrap="square">
            <a:spAutoFit/>
          </a:bodyPr>
          <a:lstStyle/>
          <a:p>
            <a:pPr algn="ctr"/>
            <a:r>
              <a:rPr sz="1500" b="0" i="0">
                <a:solidFill>
                  <a:srgbClr val="B0BCD4"/>
                </a:solidFill>
                <a:latin typeface="Segoe UI"/>
              </a:rPr>
              <a:t>Week 1 Milestone  ·  CSE299 Section 3  ·  Group 2</a:t>
            </a:r>
          </a:p>
        </p:txBody>
      </p:sp>
      <p:sp>
        <p:nvSpPr>
          <p:cNvPr id="8" name="TextBox 7"/>
          <p:cNvSpPr txBox="1"/>
          <p:nvPr/>
        </p:nvSpPr>
        <p:spPr>
          <a:xfrm>
            <a:off x="914400" y="3703320"/>
            <a:ext cx="10360152" cy="411480"/>
          </a:xfrm>
          <a:prstGeom prst="rect">
            <a:avLst/>
          </a:prstGeom>
          <a:noFill/>
        </p:spPr>
        <p:txBody>
          <a:bodyPr wrap="square">
            <a:spAutoFit/>
          </a:bodyPr>
          <a:lstStyle/>
          <a:p>
            <a:pPr algn="ctr"/>
            <a:r>
              <a:rPr sz="1400" b="0" i="0">
                <a:solidFill>
                  <a:srgbClr val="64748B"/>
                </a:solidFill>
                <a:latin typeface="Segoe UI"/>
              </a:rPr>
              <a:t>Post-Proposal Progress Presentation</a:t>
            </a:r>
          </a:p>
        </p:txBody>
      </p:sp>
      <p:sp>
        <p:nvSpPr>
          <p:cNvPr id="9" name="Rectangle 8"/>
          <p:cNvSpPr/>
          <p:nvPr/>
        </p:nvSpPr>
        <p:spPr>
          <a:xfrm>
            <a:off x="4023360" y="4572000"/>
            <a:ext cx="4142232" cy="384048"/>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React + Django  ·  Live API Connected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2</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What is GrantLens?</a:t>
            </a:r>
          </a:p>
        </p:txBody>
      </p:sp>
      <p:sp>
        <p:nvSpPr>
          <p:cNvPr id="6" name="TextBox 5"/>
          <p:cNvSpPr txBox="1"/>
          <p:nvPr/>
        </p:nvSpPr>
        <p:spPr>
          <a:xfrm>
            <a:off x="457200" y="685800"/>
            <a:ext cx="11274552" cy="1097280"/>
          </a:xfrm>
          <a:prstGeom prst="rect">
            <a:avLst/>
          </a:prstGeom>
          <a:noFill/>
        </p:spPr>
        <p:txBody>
          <a:bodyPr wrap="square">
            <a:spAutoFit/>
          </a:bodyPr>
          <a:lstStyle/>
          <a:p>
            <a:pPr algn="l"/>
            <a:r>
              <a:rPr sz="1700" b="0" i="0">
                <a:solidFill>
                  <a:srgbClr val="B0BCD4"/>
                </a:solidFill>
                <a:latin typeface="Segoe UI"/>
              </a:rPr>
              <a:t>GrantLens is a web application that uses Artificial Intelligence to automatically check grant proposals for compliance errors — replacing hours of manual reading with instant, reliable auditing.</a:t>
            </a:r>
          </a:p>
        </p:txBody>
      </p:sp>
      <p:sp>
        <p:nvSpPr>
          <p:cNvPr id="7" name="Rectangle 6"/>
          <p:cNvSpPr/>
          <p:nvPr/>
        </p:nvSpPr>
        <p:spPr>
          <a:xfrm>
            <a:off x="457200" y="1965960"/>
            <a:ext cx="5577840" cy="182880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75688"/>
            <a:ext cx="5212080" cy="365760"/>
          </a:xfrm>
          <a:prstGeom prst="rect">
            <a:avLst/>
          </a:prstGeom>
          <a:noFill/>
        </p:spPr>
        <p:txBody>
          <a:bodyPr wrap="square">
            <a:spAutoFit/>
          </a:bodyPr>
          <a:lstStyle/>
          <a:p>
            <a:pPr algn="l"/>
            <a:r>
              <a:rPr sz="1400" b="1" i="0">
                <a:solidFill>
                  <a:srgbClr val="F97316"/>
                </a:solidFill>
                <a:latin typeface="Segoe UI"/>
              </a:rPr>
              <a:t>🔍  The Problem</a:t>
            </a:r>
          </a:p>
        </p:txBody>
      </p:sp>
      <p:sp>
        <p:nvSpPr>
          <p:cNvPr id="9" name="TextBox 8"/>
          <p:cNvSpPr txBox="1"/>
          <p:nvPr/>
        </p:nvSpPr>
        <p:spPr>
          <a:xfrm>
            <a:off x="640080" y="2468880"/>
            <a:ext cx="5212080" cy="1188720"/>
          </a:xfrm>
          <a:prstGeom prst="rect">
            <a:avLst/>
          </a:prstGeom>
          <a:noFill/>
        </p:spPr>
        <p:txBody>
          <a:bodyPr wrap="square">
            <a:spAutoFit/>
          </a:bodyPr>
          <a:lstStyle/>
          <a:p>
            <a:pPr algn="l"/>
            <a:r>
              <a:rPr sz="1200" b="0" i="0">
                <a:solidFill>
                  <a:srgbClr val="B0BCD4"/>
                </a:solidFill>
                <a:latin typeface="Segoe UI"/>
              </a:rPr>
              <a:t>30% of grant proposals are rejected immediately at the desk review stage — not because the science is bad, but because documents broke simple formatting or budget rules.</a:t>
            </a:r>
          </a:p>
        </p:txBody>
      </p:sp>
      <p:sp>
        <p:nvSpPr>
          <p:cNvPr id="10" name="Rectangle 9"/>
          <p:cNvSpPr/>
          <p:nvPr/>
        </p:nvSpPr>
        <p:spPr>
          <a:xfrm>
            <a:off x="6355080" y="1965960"/>
            <a:ext cx="5577840" cy="182880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37960" y="2075688"/>
            <a:ext cx="5212080" cy="365760"/>
          </a:xfrm>
          <a:prstGeom prst="rect">
            <a:avLst/>
          </a:prstGeom>
          <a:noFill/>
        </p:spPr>
        <p:txBody>
          <a:bodyPr wrap="square">
            <a:spAutoFit/>
          </a:bodyPr>
          <a:lstStyle/>
          <a:p>
            <a:pPr algn="l"/>
            <a:r>
              <a:rPr sz="1400" b="1" i="0">
                <a:solidFill>
                  <a:srgbClr val="F97316"/>
                </a:solidFill>
                <a:latin typeface="Segoe UI"/>
              </a:rPr>
              <a:t>💡  Our Solution</a:t>
            </a:r>
          </a:p>
        </p:txBody>
      </p:sp>
      <p:sp>
        <p:nvSpPr>
          <p:cNvPr id="12" name="TextBox 11"/>
          <p:cNvSpPr txBox="1"/>
          <p:nvPr/>
        </p:nvSpPr>
        <p:spPr>
          <a:xfrm>
            <a:off x="6537960" y="2468880"/>
            <a:ext cx="5212080" cy="1188720"/>
          </a:xfrm>
          <a:prstGeom prst="rect">
            <a:avLst/>
          </a:prstGeom>
          <a:noFill/>
        </p:spPr>
        <p:txBody>
          <a:bodyPr wrap="square">
            <a:spAutoFit/>
          </a:bodyPr>
          <a:lstStyle/>
          <a:p>
            <a:pPr algn="l"/>
            <a:r>
              <a:rPr sz="1200" b="0" i="0">
                <a:solidFill>
                  <a:srgbClr val="B0BCD4"/>
                </a:solidFill>
                <a:latin typeface="Segoe UI"/>
              </a:rPr>
              <a:t>GrantLens reads the uploaded PDF, checks every section against the funding agency's ruleset, and produces a compliance score with highlighted violations.</a:t>
            </a:r>
          </a:p>
        </p:txBody>
      </p:sp>
      <p:sp>
        <p:nvSpPr>
          <p:cNvPr id="13" name="Rectangle 12"/>
          <p:cNvSpPr/>
          <p:nvPr/>
        </p:nvSpPr>
        <p:spPr>
          <a:xfrm>
            <a:off x="457200" y="3977640"/>
            <a:ext cx="5577840" cy="182880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087368"/>
            <a:ext cx="5212080" cy="365760"/>
          </a:xfrm>
          <a:prstGeom prst="rect">
            <a:avLst/>
          </a:prstGeom>
          <a:noFill/>
        </p:spPr>
        <p:txBody>
          <a:bodyPr wrap="square">
            <a:spAutoFit/>
          </a:bodyPr>
          <a:lstStyle/>
          <a:p>
            <a:pPr algn="l"/>
            <a:r>
              <a:rPr sz="1400" b="1" i="0">
                <a:solidFill>
                  <a:srgbClr val="F97316"/>
                </a:solidFill>
                <a:latin typeface="Segoe UI"/>
              </a:rPr>
              <a:t>🎓  What We Built in Week 1</a:t>
            </a:r>
          </a:p>
        </p:txBody>
      </p:sp>
      <p:sp>
        <p:nvSpPr>
          <p:cNvPr id="15" name="TextBox 14"/>
          <p:cNvSpPr txBox="1"/>
          <p:nvPr/>
        </p:nvSpPr>
        <p:spPr>
          <a:xfrm>
            <a:off x="640080" y="4480560"/>
            <a:ext cx="5212080" cy="1188720"/>
          </a:xfrm>
          <a:prstGeom prst="rect">
            <a:avLst/>
          </a:prstGeom>
          <a:noFill/>
        </p:spPr>
        <p:txBody>
          <a:bodyPr wrap="square">
            <a:spAutoFit/>
          </a:bodyPr>
          <a:lstStyle/>
          <a:p>
            <a:pPr algn="l"/>
            <a:r>
              <a:rPr sz="1200" b="0" i="0">
                <a:solidFill>
                  <a:srgbClr val="B0BCD4"/>
                </a:solidFill>
                <a:latin typeface="Segoe UI"/>
              </a:rPr>
              <a:t>A full-stack web app: a React frontend that talks over HTTP to a Django backend. The frontend shows live metrics from the server in real time.</a:t>
            </a:r>
          </a:p>
        </p:txBody>
      </p:sp>
      <p:sp>
        <p:nvSpPr>
          <p:cNvPr id="16" name="Rectangle 15"/>
          <p:cNvSpPr/>
          <p:nvPr/>
        </p:nvSpPr>
        <p:spPr>
          <a:xfrm>
            <a:off x="6355080" y="3977640"/>
            <a:ext cx="5577840" cy="182880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37960" y="4087368"/>
            <a:ext cx="5212080" cy="365760"/>
          </a:xfrm>
          <a:prstGeom prst="rect">
            <a:avLst/>
          </a:prstGeom>
          <a:noFill/>
        </p:spPr>
        <p:txBody>
          <a:bodyPr wrap="square">
            <a:spAutoFit/>
          </a:bodyPr>
          <a:lstStyle/>
          <a:p>
            <a:pPr algn="l"/>
            <a:r>
              <a:rPr sz="1400" b="1" i="0">
                <a:solidFill>
                  <a:srgbClr val="F97316"/>
                </a:solidFill>
                <a:latin typeface="Segoe UI"/>
              </a:rPr>
              <a:t>🗓️  Next Steps (Week 2)</a:t>
            </a:r>
          </a:p>
        </p:txBody>
      </p:sp>
      <p:sp>
        <p:nvSpPr>
          <p:cNvPr id="18" name="TextBox 17"/>
          <p:cNvSpPr txBox="1"/>
          <p:nvPr/>
        </p:nvSpPr>
        <p:spPr>
          <a:xfrm>
            <a:off x="6537960" y="4480560"/>
            <a:ext cx="5212080" cy="1188720"/>
          </a:xfrm>
          <a:prstGeom prst="rect">
            <a:avLst/>
          </a:prstGeom>
          <a:noFill/>
        </p:spPr>
        <p:txBody>
          <a:bodyPr wrap="square">
            <a:spAutoFit/>
          </a:bodyPr>
          <a:lstStyle/>
          <a:p>
            <a:pPr algn="l"/>
            <a:r>
              <a:rPr sz="1200" b="0" i="0">
                <a:solidFill>
                  <a:srgbClr val="B0BCD4"/>
                </a:solidFill>
                <a:latin typeface="Segoe UI"/>
              </a:rPr>
              <a:t>Add PDF upload, AI text extraction (PyMuPDF), and rule-checking engine (Google Gemini). Week 1 is the foundation.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3</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Our Technology Stack</a:t>
            </a:r>
          </a:p>
        </p:txBody>
      </p:sp>
      <p:sp>
        <p:nvSpPr>
          <p:cNvPr id="6" name="TextBox 5"/>
          <p:cNvSpPr txBox="1"/>
          <p:nvPr/>
        </p:nvSpPr>
        <p:spPr>
          <a:xfrm>
            <a:off x="457200" y="658368"/>
            <a:ext cx="11274552" cy="365760"/>
          </a:xfrm>
          <a:prstGeom prst="rect">
            <a:avLst/>
          </a:prstGeom>
          <a:noFill/>
        </p:spPr>
        <p:txBody>
          <a:bodyPr wrap="square">
            <a:spAutoFit/>
          </a:bodyPr>
          <a:lstStyle/>
          <a:p>
            <a:pPr algn="l"/>
            <a:r>
              <a:rPr sz="1400" b="0" i="1">
                <a:solidFill>
                  <a:srgbClr val="64748B"/>
                </a:solidFill>
                <a:latin typeface="Segoe UI"/>
              </a:rPr>
              <a:t>Everything used in Week 1 is 100% in the code — no hypothetical tools listed here.</a:t>
            </a:r>
          </a:p>
        </p:txBody>
      </p:sp>
      <p:sp>
        <p:nvSpPr>
          <p:cNvPr id="7" name="Rectangle 6"/>
          <p:cNvSpPr/>
          <p:nvPr/>
        </p:nvSpPr>
        <p:spPr>
          <a:xfrm>
            <a:off x="457200" y="1143000"/>
            <a:ext cx="5577840" cy="53492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234440"/>
            <a:ext cx="1828800" cy="292608"/>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100" b="1">
                <a:solidFill>
                  <a:srgbClr val="FFFFFF"/>
                </a:solidFill>
                <a:latin typeface="Segoe UI"/>
              </a:rPr>
              <a:t>FRONTEND</a:t>
            </a:r>
          </a:p>
        </p:txBody>
      </p:sp>
      <p:sp>
        <p:nvSpPr>
          <p:cNvPr id="9" name="TextBox 8"/>
          <p:cNvSpPr txBox="1"/>
          <p:nvPr/>
        </p:nvSpPr>
        <p:spPr>
          <a:xfrm>
            <a:off x="685800" y="1691640"/>
            <a:ext cx="5120640" cy="274320"/>
          </a:xfrm>
          <a:prstGeom prst="rect">
            <a:avLst/>
          </a:prstGeom>
          <a:noFill/>
        </p:spPr>
        <p:txBody>
          <a:bodyPr wrap="square">
            <a:spAutoFit/>
          </a:bodyPr>
          <a:lstStyle/>
          <a:p>
            <a:pPr algn="l"/>
            <a:r>
              <a:rPr sz="1400" b="1" i="0">
                <a:solidFill>
                  <a:srgbClr val="FFFFFF"/>
                </a:solidFill>
                <a:latin typeface="Segoe UI"/>
              </a:rPr>
              <a:t>▸  React 18</a:t>
            </a:r>
          </a:p>
        </p:txBody>
      </p:sp>
      <p:sp>
        <p:nvSpPr>
          <p:cNvPr id="10" name="TextBox 9"/>
          <p:cNvSpPr txBox="1"/>
          <p:nvPr/>
        </p:nvSpPr>
        <p:spPr>
          <a:xfrm>
            <a:off x="685800" y="1965960"/>
            <a:ext cx="5120640" cy="502920"/>
          </a:xfrm>
          <a:prstGeom prst="rect">
            <a:avLst/>
          </a:prstGeom>
          <a:noFill/>
        </p:spPr>
        <p:txBody>
          <a:bodyPr wrap="square">
            <a:spAutoFit/>
          </a:bodyPr>
          <a:lstStyle/>
          <a:p>
            <a:pPr algn="l"/>
            <a:r>
              <a:rPr sz="1100" b="0" i="0">
                <a:solidFill>
                  <a:srgbClr val="B0BCD4"/>
                </a:solidFill>
                <a:latin typeface="Segoe UI"/>
              </a:rPr>
              <a:t>UI component library. Everything you see on screen is a React component.</a:t>
            </a:r>
          </a:p>
        </p:txBody>
      </p:sp>
      <p:sp>
        <p:nvSpPr>
          <p:cNvPr id="11" name="TextBox 10"/>
          <p:cNvSpPr txBox="1"/>
          <p:nvPr/>
        </p:nvSpPr>
        <p:spPr>
          <a:xfrm>
            <a:off x="685800" y="2560320"/>
            <a:ext cx="5120640" cy="274320"/>
          </a:xfrm>
          <a:prstGeom prst="rect">
            <a:avLst/>
          </a:prstGeom>
          <a:noFill/>
        </p:spPr>
        <p:txBody>
          <a:bodyPr wrap="square">
            <a:spAutoFit/>
          </a:bodyPr>
          <a:lstStyle/>
          <a:p>
            <a:pPr algn="l"/>
            <a:r>
              <a:rPr sz="1400" b="1" i="0">
                <a:solidFill>
                  <a:srgbClr val="FFFFFF"/>
                </a:solidFill>
                <a:latin typeface="Segoe UI"/>
              </a:rPr>
              <a:t>▸  Vite</a:t>
            </a:r>
          </a:p>
        </p:txBody>
      </p:sp>
      <p:sp>
        <p:nvSpPr>
          <p:cNvPr id="12" name="TextBox 11"/>
          <p:cNvSpPr txBox="1"/>
          <p:nvPr/>
        </p:nvSpPr>
        <p:spPr>
          <a:xfrm>
            <a:off x="685800" y="2834640"/>
            <a:ext cx="5120640" cy="502920"/>
          </a:xfrm>
          <a:prstGeom prst="rect">
            <a:avLst/>
          </a:prstGeom>
          <a:noFill/>
        </p:spPr>
        <p:txBody>
          <a:bodyPr wrap="square">
            <a:spAutoFit/>
          </a:bodyPr>
          <a:lstStyle/>
          <a:p>
            <a:pPr algn="l"/>
            <a:r>
              <a:rPr sz="1100" b="0" i="0">
                <a:solidFill>
                  <a:srgbClr val="B0BCD4"/>
                </a:solidFill>
                <a:latin typeface="Segoe UI"/>
              </a:rPr>
              <a:t>Ultra-fast build tool. Replaces slow Webpack. Builds in &lt; 400ms.</a:t>
            </a:r>
          </a:p>
        </p:txBody>
      </p:sp>
      <p:sp>
        <p:nvSpPr>
          <p:cNvPr id="13" name="TextBox 12"/>
          <p:cNvSpPr txBox="1"/>
          <p:nvPr/>
        </p:nvSpPr>
        <p:spPr>
          <a:xfrm>
            <a:off x="685800" y="3429000"/>
            <a:ext cx="5120640" cy="274320"/>
          </a:xfrm>
          <a:prstGeom prst="rect">
            <a:avLst/>
          </a:prstGeom>
          <a:noFill/>
        </p:spPr>
        <p:txBody>
          <a:bodyPr wrap="square">
            <a:spAutoFit/>
          </a:bodyPr>
          <a:lstStyle/>
          <a:p>
            <a:pPr algn="l"/>
            <a:r>
              <a:rPr sz="1400" b="1" i="0">
                <a:solidFill>
                  <a:srgbClr val="FFFFFF"/>
                </a:solidFill>
                <a:latin typeface="Segoe UI"/>
              </a:rPr>
              <a:t>▸  Tailwind CSS v3</a:t>
            </a:r>
          </a:p>
        </p:txBody>
      </p:sp>
      <p:sp>
        <p:nvSpPr>
          <p:cNvPr id="14" name="TextBox 13"/>
          <p:cNvSpPr txBox="1"/>
          <p:nvPr/>
        </p:nvSpPr>
        <p:spPr>
          <a:xfrm>
            <a:off x="685800" y="3703320"/>
            <a:ext cx="5120640" cy="502920"/>
          </a:xfrm>
          <a:prstGeom prst="rect">
            <a:avLst/>
          </a:prstGeom>
          <a:noFill/>
        </p:spPr>
        <p:txBody>
          <a:bodyPr wrap="square">
            <a:spAutoFit/>
          </a:bodyPr>
          <a:lstStyle/>
          <a:p>
            <a:pPr algn="l"/>
            <a:r>
              <a:rPr sz="1100" b="0" i="0">
                <a:solidFill>
                  <a:srgbClr val="B0BCD4"/>
                </a:solidFill>
                <a:latin typeface="Segoe UI"/>
              </a:rPr>
              <a:t>Utility-first CSS. We define colors &amp; styles in tailwind.config.js.</a:t>
            </a:r>
          </a:p>
        </p:txBody>
      </p:sp>
      <p:sp>
        <p:nvSpPr>
          <p:cNvPr id="15" name="TextBox 14"/>
          <p:cNvSpPr txBox="1"/>
          <p:nvPr/>
        </p:nvSpPr>
        <p:spPr>
          <a:xfrm>
            <a:off x="685800" y="4297680"/>
            <a:ext cx="5120640" cy="274320"/>
          </a:xfrm>
          <a:prstGeom prst="rect">
            <a:avLst/>
          </a:prstGeom>
          <a:noFill/>
        </p:spPr>
        <p:txBody>
          <a:bodyPr wrap="square">
            <a:spAutoFit/>
          </a:bodyPr>
          <a:lstStyle/>
          <a:p>
            <a:pPr algn="l"/>
            <a:r>
              <a:rPr sz="1400" b="1" i="0">
                <a:solidFill>
                  <a:srgbClr val="FFFFFF"/>
                </a:solidFill>
                <a:latin typeface="Segoe UI"/>
              </a:rPr>
              <a:t>▸  Lucide React</a:t>
            </a:r>
          </a:p>
        </p:txBody>
      </p:sp>
      <p:sp>
        <p:nvSpPr>
          <p:cNvPr id="16" name="TextBox 15"/>
          <p:cNvSpPr txBox="1"/>
          <p:nvPr/>
        </p:nvSpPr>
        <p:spPr>
          <a:xfrm>
            <a:off x="685800" y="4572000"/>
            <a:ext cx="5120640" cy="502920"/>
          </a:xfrm>
          <a:prstGeom prst="rect">
            <a:avLst/>
          </a:prstGeom>
          <a:noFill/>
        </p:spPr>
        <p:txBody>
          <a:bodyPr wrap="square">
            <a:spAutoFit/>
          </a:bodyPr>
          <a:lstStyle/>
          <a:p>
            <a:pPr algn="l"/>
            <a:r>
              <a:rPr sz="1100" b="0" i="0">
                <a:solidFill>
                  <a:srgbClr val="B0BCD4"/>
                </a:solidFill>
                <a:latin typeface="Segoe UI"/>
              </a:rPr>
              <a:t>Clean SVG icons (Upload, TrendingUp, Award, etc.).</a:t>
            </a:r>
          </a:p>
        </p:txBody>
      </p:sp>
      <p:sp>
        <p:nvSpPr>
          <p:cNvPr id="17" name="TextBox 16"/>
          <p:cNvSpPr txBox="1"/>
          <p:nvPr/>
        </p:nvSpPr>
        <p:spPr>
          <a:xfrm>
            <a:off x="685800" y="5166360"/>
            <a:ext cx="5120640" cy="274320"/>
          </a:xfrm>
          <a:prstGeom prst="rect">
            <a:avLst/>
          </a:prstGeom>
          <a:noFill/>
        </p:spPr>
        <p:txBody>
          <a:bodyPr wrap="square">
            <a:spAutoFit/>
          </a:bodyPr>
          <a:lstStyle/>
          <a:p>
            <a:pPr algn="l"/>
            <a:r>
              <a:rPr sz="1400" b="1" i="0">
                <a:solidFill>
                  <a:srgbClr val="FFFFFF"/>
                </a:solidFill>
                <a:latin typeface="Segoe UI"/>
              </a:rPr>
              <a:t>▸  fetch() API</a:t>
            </a:r>
          </a:p>
        </p:txBody>
      </p:sp>
      <p:sp>
        <p:nvSpPr>
          <p:cNvPr id="18" name="TextBox 17"/>
          <p:cNvSpPr txBox="1"/>
          <p:nvPr/>
        </p:nvSpPr>
        <p:spPr>
          <a:xfrm>
            <a:off x="685800" y="5440680"/>
            <a:ext cx="5120640" cy="502920"/>
          </a:xfrm>
          <a:prstGeom prst="rect">
            <a:avLst/>
          </a:prstGeom>
          <a:noFill/>
        </p:spPr>
        <p:txBody>
          <a:bodyPr wrap="square">
            <a:spAutoFit/>
          </a:bodyPr>
          <a:lstStyle/>
          <a:p>
            <a:pPr algn="l"/>
            <a:r>
              <a:rPr sz="1100" b="0" i="0">
                <a:solidFill>
                  <a:srgbClr val="B0BCD4"/>
                </a:solidFill>
                <a:latin typeface="Segoe UI"/>
              </a:rPr>
              <a:t>Browser-native tool to send HTTP requests to Django.</a:t>
            </a:r>
          </a:p>
        </p:txBody>
      </p:sp>
      <p:sp>
        <p:nvSpPr>
          <p:cNvPr id="19" name="Rectangle 18"/>
          <p:cNvSpPr/>
          <p:nvPr/>
        </p:nvSpPr>
        <p:spPr>
          <a:xfrm>
            <a:off x="6355080" y="1143000"/>
            <a:ext cx="5577840" cy="53492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92240" y="1234440"/>
            <a:ext cx="1828800" cy="2926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100" b="1">
                <a:solidFill>
                  <a:srgbClr val="FFFFFF"/>
                </a:solidFill>
                <a:latin typeface="Segoe UI"/>
              </a:rPr>
              <a:t>BACKEND</a:t>
            </a:r>
          </a:p>
        </p:txBody>
      </p:sp>
      <p:sp>
        <p:nvSpPr>
          <p:cNvPr id="21" name="TextBox 20"/>
          <p:cNvSpPr txBox="1"/>
          <p:nvPr/>
        </p:nvSpPr>
        <p:spPr>
          <a:xfrm>
            <a:off x="6583680" y="1691640"/>
            <a:ext cx="5120640" cy="274320"/>
          </a:xfrm>
          <a:prstGeom prst="rect">
            <a:avLst/>
          </a:prstGeom>
          <a:noFill/>
        </p:spPr>
        <p:txBody>
          <a:bodyPr wrap="square">
            <a:spAutoFit/>
          </a:bodyPr>
          <a:lstStyle/>
          <a:p>
            <a:pPr algn="l"/>
            <a:r>
              <a:rPr sz="1400" b="1" i="0">
                <a:solidFill>
                  <a:srgbClr val="FFFFFF"/>
                </a:solidFill>
                <a:latin typeface="Segoe UI"/>
              </a:rPr>
              <a:t>▸  Django 6.1</a:t>
            </a:r>
          </a:p>
        </p:txBody>
      </p:sp>
      <p:sp>
        <p:nvSpPr>
          <p:cNvPr id="22" name="TextBox 21"/>
          <p:cNvSpPr txBox="1"/>
          <p:nvPr/>
        </p:nvSpPr>
        <p:spPr>
          <a:xfrm>
            <a:off x="6583680" y="1965960"/>
            <a:ext cx="5120640" cy="502920"/>
          </a:xfrm>
          <a:prstGeom prst="rect">
            <a:avLst/>
          </a:prstGeom>
          <a:noFill/>
        </p:spPr>
        <p:txBody>
          <a:bodyPr wrap="square">
            <a:spAutoFit/>
          </a:bodyPr>
          <a:lstStyle/>
          <a:p>
            <a:pPr algn="l"/>
            <a:r>
              <a:rPr sz="1100" b="0" i="0">
                <a:solidFill>
                  <a:srgbClr val="B0BCD4"/>
                </a:solidFill>
                <a:latin typeface="Segoe UI"/>
              </a:rPr>
              <a:t>Python web framework. Handles routing, auth, and server logic.</a:t>
            </a:r>
          </a:p>
        </p:txBody>
      </p:sp>
      <p:sp>
        <p:nvSpPr>
          <p:cNvPr id="23" name="TextBox 22"/>
          <p:cNvSpPr txBox="1"/>
          <p:nvPr/>
        </p:nvSpPr>
        <p:spPr>
          <a:xfrm>
            <a:off x="6583680" y="2560320"/>
            <a:ext cx="5120640" cy="274320"/>
          </a:xfrm>
          <a:prstGeom prst="rect">
            <a:avLst/>
          </a:prstGeom>
          <a:noFill/>
        </p:spPr>
        <p:txBody>
          <a:bodyPr wrap="square">
            <a:spAutoFit/>
          </a:bodyPr>
          <a:lstStyle/>
          <a:p>
            <a:pPr algn="l"/>
            <a:r>
              <a:rPr sz="1400" b="1" i="0">
                <a:solidFill>
                  <a:srgbClr val="FFFFFF"/>
                </a:solidFill>
                <a:latin typeface="Segoe UI"/>
              </a:rPr>
              <a:t>▸  Django REST Framework</a:t>
            </a:r>
          </a:p>
        </p:txBody>
      </p:sp>
      <p:sp>
        <p:nvSpPr>
          <p:cNvPr id="24" name="TextBox 23"/>
          <p:cNvSpPr txBox="1"/>
          <p:nvPr/>
        </p:nvSpPr>
        <p:spPr>
          <a:xfrm>
            <a:off x="6583680" y="2834640"/>
            <a:ext cx="5120640" cy="502920"/>
          </a:xfrm>
          <a:prstGeom prst="rect">
            <a:avLst/>
          </a:prstGeom>
          <a:noFill/>
        </p:spPr>
        <p:txBody>
          <a:bodyPr wrap="square">
            <a:spAutoFit/>
          </a:bodyPr>
          <a:lstStyle/>
          <a:p>
            <a:pPr algn="l"/>
            <a:r>
              <a:rPr sz="1100" b="0" i="0">
                <a:solidFill>
                  <a:srgbClr val="B0BCD4"/>
                </a:solidFill>
                <a:latin typeface="Segoe UI"/>
              </a:rPr>
              <a:t>DRF converts Python dictionaries into JSON automatically.</a:t>
            </a:r>
          </a:p>
        </p:txBody>
      </p:sp>
      <p:sp>
        <p:nvSpPr>
          <p:cNvPr id="25" name="TextBox 24"/>
          <p:cNvSpPr txBox="1"/>
          <p:nvPr/>
        </p:nvSpPr>
        <p:spPr>
          <a:xfrm>
            <a:off x="6583680" y="3429000"/>
            <a:ext cx="5120640" cy="274320"/>
          </a:xfrm>
          <a:prstGeom prst="rect">
            <a:avLst/>
          </a:prstGeom>
          <a:noFill/>
        </p:spPr>
        <p:txBody>
          <a:bodyPr wrap="square">
            <a:spAutoFit/>
          </a:bodyPr>
          <a:lstStyle/>
          <a:p>
            <a:pPr algn="l"/>
            <a:r>
              <a:rPr sz="1400" b="1" i="0">
                <a:solidFill>
                  <a:srgbClr val="FFFFFF"/>
                </a:solidFill>
                <a:latin typeface="Segoe UI"/>
              </a:rPr>
              <a:t>▸  django-cors-headers</a:t>
            </a:r>
          </a:p>
        </p:txBody>
      </p:sp>
      <p:sp>
        <p:nvSpPr>
          <p:cNvPr id="26" name="TextBox 25"/>
          <p:cNvSpPr txBox="1"/>
          <p:nvPr/>
        </p:nvSpPr>
        <p:spPr>
          <a:xfrm>
            <a:off x="6583680" y="3703320"/>
            <a:ext cx="5120640" cy="502920"/>
          </a:xfrm>
          <a:prstGeom prst="rect">
            <a:avLst/>
          </a:prstGeom>
          <a:noFill/>
        </p:spPr>
        <p:txBody>
          <a:bodyPr wrap="square">
            <a:spAutoFit/>
          </a:bodyPr>
          <a:lstStyle/>
          <a:p>
            <a:pPr algn="l"/>
            <a:r>
              <a:rPr sz="1100" b="0" i="0">
                <a:solidFill>
                  <a:srgbClr val="B0BCD4"/>
                </a:solidFill>
                <a:latin typeface="Segoe UI"/>
              </a:rPr>
              <a:t>Solves the browser's Same-Origin Policy security block.</a:t>
            </a:r>
          </a:p>
        </p:txBody>
      </p:sp>
      <p:sp>
        <p:nvSpPr>
          <p:cNvPr id="27" name="TextBox 26"/>
          <p:cNvSpPr txBox="1"/>
          <p:nvPr/>
        </p:nvSpPr>
        <p:spPr>
          <a:xfrm>
            <a:off x="6583680" y="4297680"/>
            <a:ext cx="5120640" cy="274320"/>
          </a:xfrm>
          <a:prstGeom prst="rect">
            <a:avLst/>
          </a:prstGeom>
          <a:noFill/>
        </p:spPr>
        <p:txBody>
          <a:bodyPr wrap="square">
            <a:spAutoFit/>
          </a:bodyPr>
          <a:lstStyle/>
          <a:p>
            <a:pPr algn="l"/>
            <a:r>
              <a:rPr sz="1400" b="1" i="0">
                <a:solidFill>
                  <a:srgbClr val="FFFFFF"/>
                </a:solidFill>
                <a:latin typeface="Segoe UI"/>
              </a:rPr>
              <a:t>▸  SQLite</a:t>
            </a:r>
          </a:p>
        </p:txBody>
      </p:sp>
      <p:sp>
        <p:nvSpPr>
          <p:cNvPr id="28" name="TextBox 27"/>
          <p:cNvSpPr txBox="1"/>
          <p:nvPr/>
        </p:nvSpPr>
        <p:spPr>
          <a:xfrm>
            <a:off x="6583680" y="4572000"/>
            <a:ext cx="5120640" cy="502920"/>
          </a:xfrm>
          <a:prstGeom prst="rect">
            <a:avLst/>
          </a:prstGeom>
          <a:noFill/>
        </p:spPr>
        <p:txBody>
          <a:bodyPr wrap="square">
            <a:spAutoFit/>
          </a:bodyPr>
          <a:lstStyle/>
          <a:p>
            <a:pPr algn="l"/>
            <a:r>
              <a:rPr sz="1100" b="0" i="0">
                <a:solidFill>
                  <a:srgbClr val="B0BCD4"/>
                </a:solidFill>
                <a:latin typeface="Segoe UI"/>
              </a:rPr>
              <a:t>Simple file-based database. Stores data in db.sqlite3.</a:t>
            </a:r>
          </a:p>
        </p:txBody>
      </p:sp>
      <p:sp>
        <p:nvSpPr>
          <p:cNvPr id="29" name="TextBox 28"/>
          <p:cNvSpPr txBox="1"/>
          <p:nvPr/>
        </p:nvSpPr>
        <p:spPr>
          <a:xfrm>
            <a:off x="6583680" y="5166360"/>
            <a:ext cx="5120640" cy="274320"/>
          </a:xfrm>
          <a:prstGeom prst="rect">
            <a:avLst/>
          </a:prstGeom>
          <a:noFill/>
        </p:spPr>
        <p:txBody>
          <a:bodyPr wrap="square">
            <a:spAutoFit/>
          </a:bodyPr>
          <a:lstStyle/>
          <a:p>
            <a:pPr algn="l"/>
            <a:r>
              <a:rPr sz="1400" b="1" i="0">
                <a:solidFill>
                  <a:srgbClr val="FFFFFF"/>
                </a:solidFill>
                <a:latin typeface="Segoe UI"/>
              </a:rPr>
              <a:t>▸  Python 3.13</a:t>
            </a:r>
          </a:p>
        </p:txBody>
      </p:sp>
      <p:sp>
        <p:nvSpPr>
          <p:cNvPr id="30" name="TextBox 29"/>
          <p:cNvSpPr txBox="1"/>
          <p:nvPr/>
        </p:nvSpPr>
        <p:spPr>
          <a:xfrm>
            <a:off x="6583680" y="5440680"/>
            <a:ext cx="5120640" cy="502920"/>
          </a:xfrm>
          <a:prstGeom prst="rect">
            <a:avLst/>
          </a:prstGeom>
          <a:noFill/>
        </p:spPr>
        <p:txBody>
          <a:bodyPr wrap="square">
            <a:spAutoFit/>
          </a:bodyPr>
          <a:lstStyle/>
          <a:p>
            <a:pPr algn="l"/>
            <a:r>
              <a:rPr sz="1100" b="0" i="0">
                <a:solidFill>
                  <a:srgbClr val="B0BCD4"/>
                </a:solidFill>
                <a:latin typeface="Segoe UI"/>
              </a:rPr>
              <a:t>The language running the entire backend server.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4</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How the Frontend &amp; Backend Connect</a:t>
            </a:r>
          </a:p>
        </p:txBody>
      </p:sp>
      <p:sp>
        <p:nvSpPr>
          <p:cNvPr id="6" name="Rectangle 5"/>
          <p:cNvSpPr/>
          <p:nvPr/>
        </p:nvSpPr>
        <p:spPr>
          <a:xfrm>
            <a:off x="365760" y="1645920"/>
            <a:ext cx="2194560" cy="109728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0"/>
            <a:ext cx="2194560" cy="731520"/>
          </a:xfrm>
          <a:prstGeom prst="rect">
            <a:avLst/>
          </a:prstGeom>
          <a:noFill/>
        </p:spPr>
        <p:txBody>
          <a:bodyPr wrap="square">
            <a:spAutoFit/>
          </a:bodyPr>
          <a:lstStyle/>
          <a:p>
            <a:pPr algn="ctr"/>
            <a:r>
              <a:rPr sz="1400" b="1" i="0">
                <a:solidFill>
                  <a:srgbClr val="FFFFFF"/>
                </a:solidFill>
                <a:latin typeface="Segoe UI"/>
              </a:rPr>
              <a:t>Browser
(React App)</a:t>
            </a:r>
          </a:p>
        </p:txBody>
      </p:sp>
      <p:sp>
        <p:nvSpPr>
          <p:cNvPr id="8" name="Rectangle 7"/>
          <p:cNvSpPr/>
          <p:nvPr/>
        </p:nvSpPr>
        <p:spPr>
          <a:xfrm>
            <a:off x="3108960" y="1645920"/>
            <a:ext cx="2194560" cy="1097280"/>
          </a:xfrm>
          <a:prstGeom prst="rect">
            <a:avLst/>
          </a:prstGeom>
          <a:solidFill>
            <a:srgbClr val="C2410C"/>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108960" y="1828800"/>
            <a:ext cx="2194560" cy="731520"/>
          </a:xfrm>
          <a:prstGeom prst="rect">
            <a:avLst/>
          </a:prstGeom>
          <a:noFill/>
        </p:spPr>
        <p:txBody>
          <a:bodyPr wrap="square">
            <a:spAutoFit/>
          </a:bodyPr>
          <a:lstStyle/>
          <a:p>
            <a:pPr algn="ctr"/>
            <a:r>
              <a:rPr sz="1400" b="1" i="0">
                <a:solidFill>
                  <a:srgbClr val="FFFFFF"/>
                </a:solidFill>
                <a:latin typeface="Segoe UI"/>
              </a:rPr>
              <a:t>fetch()
API Call</a:t>
            </a:r>
          </a:p>
        </p:txBody>
      </p:sp>
      <p:sp>
        <p:nvSpPr>
          <p:cNvPr id="10" name="Rectangle 9"/>
          <p:cNvSpPr/>
          <p:nvPr/>
        </p:nvSpPr>
        <p:spPr>
          <a:xfrm>
            <a:off x="5760720" y="1645920"/>
            <a:ext cx="2194560" cy="109728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0" y="1828800"/>
            <a:ext cx="2194560" cy="731520"/>
          </a:xfrm>
          <a:prstGeom prst="rect">
            <a:avLst/>
          </a:prstGeom>
          <a:noFill/>
        </p:spPr>
        <p:txBody>
          <a:bodyPr wrap="square">
            <a:spAutoFit/>
          </a:bodyPr>
          <a:lstStyle/>
          <a:p>
            <a:pPr algn="ctr"/>
            <a:r>
              <a:rPr sz="1400" b="1" i="0">
                <a:solidFill>
                  <a:srgbClr val="FFFFFF"/>
                </a:solidFill>
                <a:latin typeface="Segoe UI"/>
              </a:rPr>
              <a:t>CORS
Middleware</a:t>
            </a:r>
          </a:p>
        </p:txBody>
      </p:sp>
      <p:sp>
        <p:nvSpPr>
          <p:cNvPr id="12" name="Rectangle 11"/>
          <p:cNvSpPr/>
          <p:nvPr/>
        </p:nvSpPr>
        <p:spPr>
          <a:xfrm>
            <a:off x="8412480" y="1645920"/>
            <a:ext cx="2194560" cy="1097280"/>
          </a:xfrm>
          <a:prstGeom prst="rect">
            <a:avLst/>
          </a:prstGeom>
          <a:solidFill>
            <a:srgbClr val="10B981"/>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0" y="1828800"/>
            <a:ext cx="2194560" cy="731520"/>
          </a:xfrm>
          <a:prstGeom prst="rect">
            <a:avLst/>
          </a:prstGeom>
          <a:noFill/>
        </p:spPr>
        <p:txBody>
          <a:bodyPr wrap="square">
            <a:spAutoFit/>
          </a:bodyPr>
          <a:lstStyle/>
          <a:p>
            <a:pPr algn="ctr"/>
            <a:r>
              <a:rPr sz="1400" b="1" i="0">
                <a:solidFill>
                  <a:srgbClr val="FFFFFF"/>
                </a:solidFill>
                <a:latin typeface="Segoe UI"/>
              </a:rPr>
              <a:t>Django
DRF View</a:t>
            </a:r>
          </a:p>
        </p:txBody>
      </p:sp>
      <p:sp>
        <p:nvSpPr>
          <p:cNvPr id="14" name="TextBox 13"/>
          <p:cNvSpPr txBox="1"/>
          <p:nvPr/>
        </p:nvSpPr>
        <p:spPr>
          <a:xfrm>
            <a:off x="2606040" y="1920240"/>
            <a:ext cx="457200" cy="457200"/>
          </a:xfrm>
          <a:prstGeom prst="rect">
            <a:avLst/>
          </a:prstGeom>
          <a:noFill/>
        </p:spPr>
        <p:txBody>
          <a:bodyPr wrap="square">
            <a:spAutoFit/>
          </a:bodyPr>
          <a:lstStyle/>
          <a:p>
            <a:pPr algn="ctr"/>
            <a:r>
              <a:rPr sz="2200" b="1" i="0">
                <a:solidFill>
                  <a:srgbClr val="F97316"/>
                </a:solidFill>
                <a:latin typeface="Segoe UI"/>
              </a:rPr>
              <a:t>→</a:t>
            </a:r>
          </a:p>
        </p:txBody>
      </p:sp>
      <p:sp>
        <p:nvSpPr>
          <p:cNvPr id="15" name="TextBox 14"/>
          <p:cNvSpPr txBox="1"/>
          <p:nvPr/>
        </p:nvSpPr>
        <p:spPr>
          <a:xfrm>
            <a:off x="5303520" y="1920240"/>
            <a:ext cx="457200" cy="457200"/>
          </a:xfrm>
          <a:prstGeom prst="rect">
            <a:avLst/>
          </a:prstGeom>
          <a:noFill/>
        </p:spPr>
        <p:txBody>
          <a:bodyPr wrap="square">
            <a:spAutoFit/>
          </a:bodyPr>
          <a:lstStyle/>
          <a:p>
            <a:pPr algn="ctr"/>
            <a:r>
              <a:rPr sz="2200" b="1" i="0">
                <a:solidFill>
                  <a:srgbClr val="F97316"/>
                </a:solidFill>
                <a:latin typeface="Segoe UI"/>
              </a:rPr>
              <a:t>→</a:t>
            </a:r>
          </a:p>
        </p:txBody>
      </p:sp>
      <p:sp>
        <p:nvSpPr>
          <p:cNvPr id="16" name="TextBox 15"/>
          <p:cNvSpPr txBox="1"/>
          <p:nvPr/>
        </p:nvSpPr>
        <p:spPr>
          <a:xfrm>
            <a:off x="7955279" y="1920240"/>
            <a:ext cx="457200" cy="457200"/>
          </a:xfrm>
          <a:prstGeom prst="rect">
            <a:avLst/>
          </a:prstGeom>
          <a:noFill/>
        </p:spPr>
        <p:txBody>
          <a:bodyPr wrap="square">
            <a:spAutoFit/>
          </a:bodyPr>
          <a:lstStyle/>
          <a:p>
            <a:pPr algn="ctr"/>
            <a:r>
              <a:rPr sz="2200" b="1" i="0">
                <a:solidFill>
                  <a:srgbClr val="F97316"/>
                </a:solidFill>
                <a:latin typeface="Segoe UI"/>
              </a:rPr>
              <a:t>→</a:t>
            </a:r>
          </a:p>
        </p:txBody>
      </p:sp>
      <p:sp>
        <p:nvSpPr>
          <p:cNvPr id="17" name="TextBox 16"/>
          <p:cNvSpPr txBox="1"/>
          <p:nvPr/>
        </p:nvSpPr>
        <p:spPr>
          <a:xfrm>
            <a:off x="365760" y="2926080"/>
            <a:ext cx="10972800" cy="411480"/>
          </a:xfrm>
          <a:prstGeom prst="rect">
            <a:avLst/>
          </a:prstGeom>
          <a:noFill/>
        </p:spPr>
        <p:txBody>
          <a:bodyPr wrap="square">
            <a:spAutoFit/>
          </a:bodyPr>
          <a:lstStyle/>
          <a:p>
            <a:pPr algn="ctr"/>
            <a:r>
              <a:rPr sz="1400" b="0" i="1">
                <a:solidFill>
                  <a:srgbClr val="38BDF8"/>
                </a:solidFill>
                <a:latin typeface="Segoe UI"/>
              </a:rPr>
              <a:t>← JSON Response travels back the same path</a:t>
            </a:r>
          </a:p>
        </p:txBody>
      </p:sp>
      <p:sp>
        <p:nvSpPr>
          <p:cNvPr id="18" name="TextBox 17"/>
          <p:cNvSpPr txBox="1"/>
          <p:nvPr/>
        </p:nvSpPr>
        <p:spPr>
          <a:xfrm>
            <a:off x="457200" y="3429000"/>
            <a:ext cx="11274552" cy="347472"/>
          </a:xfrm>
          <a:prstGeom prst="rect">
            <a:avLst/>
          </a:prstGeom>
          <a:noFill/>
        </p:spPr>
        <p:txBody>
          <a:bodyPr wrap="square">
            <a:spAutoFit/>
          </a:bodyPr>
          <a:lstStyle/>
          <a:p>
            <a:pPr algn="l"/>
            <a:r>
              <a:rPr sz="1200" b="0" i="0">
                <a:solidFill>
                  <a:srgbClr val="B0BCD4"/>
                </a:solidFill>
                <a:latin typeface="Segoe UI"/>
              </a:rPr>
              <a:t>1. User opens the web app at http://localhost:5173</a:t>
            </a:r>
          </a:p>
        </p:txBody>
      </p:sp>
      <p:sp>
        <p:nvSpPr>
          <p:cNvPr id="19" name="TextBox 18"/>
          <p:cNvSpPr txBox="1"/>
          <p:nvPr/>
        </p:nvSpPr>
        <p:spPr>
          <a:xfrm>
            <a:off x="457200" y="3803904"/>
            <a:ext cx="11274552" cy="347472"/>
          </a:xfrm>
          <a:prstGeom prst="rect">
            <a:avLst/>
          </a:prstGeom>
          <a:noFill/>
        </p:spPr>
        <p:txBody>
          <a:bodyPr wrap="square">
            <a:spAutoFit/>
          </a:bodyPr>
          <a:lstStyle/>
          <a:p>
            <a:pPr algn="l"/>
            <a:r>
              <a:rPr sz="1200" b="0" i="0">
                <a:solidFill>
                  <a:srgbClr val="B0BCD4"/>
                </a:solidFill>
                <a:latin typeface="Segoe UI"/>
              </a:rPr>
              <a:t>2. React mounts → useEffect fires checkBackend() once</a:t>
            </a:r>
          </a:p>
        </p:txBody>
      </p:sp>
      <p:sp>
        <p:nvSpPr>
          <p:cNvPr id="20" name="TextBox 19"/>
          <p:cNvSpPr txBox="1"/>
          <p:nvPr/>
        </p:nvSpPr>
        <p:spPr>
          <a:xfrm>
            <a:off x="457200" y="4178808"/>
            <a:ext cx="11274552" cy="347472"/>
          </a:xfrm>
          <a:prstGeom prst="rect">
            <a:avLst/>
          </a:prstGeom>
          <a:noFill/>
        </p:spPr>
        <p:txBody>
          <a:bodyPr wrap="square">
            <a:spAutoFit/>
          </a:bodyPr>
          <a:lstStyle/>
          <a:p>
            <a:pPr algn="l"/>
            <a:r>
              <a:rPr sz="1200" b="0" i="0">
                <a:solidFill>
                  <a:srgbClr val="B0BCD4"/>
                </a:solidFill>
                <a:latin typeface="Segoe UI"/>
              </a:rPr>
              <a:t>3. fetch() sends HTTP GET to http://127.0.0.1:8000/api/status/</a:t>
            </a:r>
          </a:p>
        </p:txBody>
      </p:sp>
      <p:sp>
        <p:nvSpPr>
          <p:cNvPr id="21" name="TextBox 20"/>
          <p:cNvSpPr txBox="1"/>
          <p:nvPr/>
        </p:nvSpPr>
        <p:spPr>
          <a:xfrm>
            <a:off x="457200" y="4553712"/>
            <a:ext cx="11274552" cy="347472"/>
          </a:xfrm>
          <a:prstGeom prst="rect">
            <a:avLst/>
          </a:prstGeom>
          <a:noFill/>
        </p:spPr>
        <p:txBody>
          <a:bodyPr wrap="square">
            <a:spAutoFit/>
          </a:bodyPr>
          <a:lstStyle/>
          <a:p>
            <a:pPr algn="l"/>
            <a:r>
              <a:rPr sz="1200" b="0" i="0">
                <a:solidFill>
                  <a:srgbClr val="B0BCD4"/>
                </a:solidFill>
                <a:latin typeface="Segoe UI"/>
              </a:rPr>
              <a:t>4. CorsMiddleware adds 'Access-Control-Allow-Origin: *' header → browser allows it</a:t>
            </a:r>
          </a:p>
        </p:txBody>
      </p:sp>
      <p:sp>
        <p:nvSpPr>
          <p:cNvPr id="22" name="TextBox 21"/>
          <p:cNvSpPr txBox="1"/>
          <p:nvPr/>
        </p:nvSpPr>
        <p:spPr>
          <a:xfrm>
            <a:off x="457200" y="4928616"/>
            <a:ext cx="11274552" cy="347472"/>
          </a:xfrm>
          <a:prstGeom prst="rect">
            <a:avLst/>
          </a:prstGeom>
          <a:noFill/>
        </p:spPr>
        <p:txBody>
          <a:bodyPr wrap="square">
            <a:spAutoFit/>
          </a:bodyPr>
          <a:lstStyle/>
          <a:p>
            <a:pPr algn="l"/>
            <a:r>
              <a:rPr sz="1200" b="0" i="0">
                <a:solidFill>
                  <a:srgbClr val="B0BCD4"/>
                </a:solidFill>
                <a:latin typeface="Segoe UI"/>
              </a:rPr>
              <a:t>5. Django's URLResolver matches 'api/status/' → calls api_status() view</a:t>
            </a:r>
          </a:p>
        </p:txBody>
      </p:sp>
      <p:sp>
        <p:nvSpPr>
          <p:cNvPr id="23" name="TextBox 22"/>
          <p:cNvSpPr txBox="1"/>
          <p:nvPr/>
        </p:nvSpPr>
        <p:spPr>
          <a:xfrm>
            <a:off x="457200" y="5303520"/>
            <a:ext cx="11274552" cy="347472"/>
          </a:xfrm>
          <a:prstGeom prst="rect">
            <a:avLst/>
          </a:prstGeom>
          <a:noFill/>
        </p:spPr>
        <p:txBody>
          <a:bodyPr wrap="square">
            <a:spAutoFit/>
          </a:bodyPr>
          <a:lstStyle/>
          <a:p>
            <a:pPr algn="l"/>
            <a:r>
              <a:rPr sz="1200" b="0" i="0">
                <a:solidFill>
                  <a:srgbClr val="10B981"/>
                </a:solidFill>
                <a:latin typeface="Segoe UI"/>
              </a:rPr>
              <a:t>6. api_status() builds a Python dict → DRF serializes it to JSON → HTTP 200 returned</a:t>
            </a:r>
          </a:p>
        </p:txBody>
      </p:sp>
      <p:sp>
        <p:nvSpPr>
          <p:cNvPr id="24" name="TextBox 23"/>
          <p:cNvSpPr txBox="1"/>
          <p:nvPr/>
        </p:nvSpPr>
        <p:spPr>
          <a:xfrm>
            <a:off x="457200" y="5678424"/>
            <a:ext cx="11274552" cy="347472"/>
          </a:xfrm>
          <a:prstGeom prst="rect">
            <a:avLst/>
          </a:prstGeom>
          <a:noFill/>
        </p:spPr>
        <p:txBody>
          <a:bodyPr wrap="square">
            <a:spAutoFit/>
          </a:bodyPr>
          <a:lstStyle/>
          <a:p>
            <a:pPr algn="l"/>
            <a:r>
              <a:rPr sz="1200" b="0" i="0">
                <a:solidFill>
                  <a:srgbClr val="10B981"/>
                </a:solidFill>
                <a:latin typeface="Segoe UI"/>
              </a:rPr>
              <a:t>7. React receives JSON → setBackendStatus() updates state → Virtual DOM re-renders</a:t>
            </a:r>
          </a:p>
        </p:txBody>
      </p:sp>
      <p:sp>
        <p:nvSpPr>
          <p:cNvPr id="25" name="TextBox 24"/>
          <p:cNvSpPr txBox="1"/>
          <p:nvPr/>
        </p:nvSpPr>
        <p:spPr>
          <a:xfrm>
            <a:off x="457200" y="6053328"/>
            <a:ext cx="11274552" cy="347472"/>
          </a:xfrm>
          <a:prstGeom prst="rect">
            <a:avLst/>
          </a:prstGeom>
          <a:noFill/>
        </p:spPr>
        <p:txBody>
          <a:bodyPr wrap="square">
            <a:spAutoFit/>
          </a:bodyPr>
          <a:lstStyle/>
          <a:p>
            <a:pPr algn="l"/>
            <a:r>
              <a:rPr sz="1200" b="0" i="0">
                <a:solidFill>
                  <a:srgbClr val="10B981"/>
                </a:solidFill>
                <a:latin typeface="Segoe UI"/>
              </a:rPr>
              <a:t>8. Green '🟢 Connected' badge appears. Metric cards fill with live numbers.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5</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The Frontend — What is React?</a:t>
            </a:r>
          </a:p>
        </p:txBody>
      </p:sp>
      <p:sp>
        <p:nvSpPr>
          <p:cNvPr id="6" name="TextBox 5"/>
          <p:cNvSpPr txBox="1"/>
          <p:nvPr/>
        </p:nvSpPr>
        <p:spPr>
          <a:xfrm>
            <a:off x="457200" y="685800"/>
            <a:ext cx="11274552" cy="822960"/>
          </a:xfrm>
          <a:prstGeom prst="rect">
            <a:avLst/>
          </a:prstGeom>
          <a:noFill/>
        </p:spPr>
        <p:txBody>
          <a:bodyPr wrap="square">
            <a:spAutoFit/>
          </a:bodyPr>
          <a:lstStyle/>
          <a:p>
            <a:pPr algn="l"/>
            <a:r>
              <a:rPr sz="1600" b="0" i="0" dirty="0">
                <a:solidFill>
                  <a:srgbClr val="B0BCD4"/>
                </a:solidFill>
                <a:latin typeface="Segoe UI"/>
              </a:rPr>
              <a:t>React is a JavaScript library built by Meta for building user interfaces. Instead of manually editing HTML every time data changes, React automatically updates only the parts of the screen that need to change.</a:t>
            </a:r>
          </a:p>
        </p:txBody>
      </p:sp>
      <p:sp>
        <p:nvSpPr>
          <p:cNvPr id="7" name="Rectangle 6"/>
          <p:cNvSpPr/>
          <p:nvPr/>
        </p:nvSpPr>
        <p:spPr>
          <a:xfrm>
            <a:off x="365760" y="1664208"/>
            <a:ext cx="5623560" cy="14630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755648"/>
            <a:ext cx="5257800" cy="347472"/>
          </a:xfrm>
          <a:prstGeom prst="rect">
            <a:avLst/>
          </a:prstGeom>
          <a:noFill/>
        </p:spPr>
        <p:txBody>
          <a:bodyPr wrap="square">
            <a:spAutoFit/>
          </a:bodyPr>
          <a:lstStyle/>
          <a:p>
            <a:pPr algn="l"/>
            <a:r>
              <a:rPr sz="1400" b="1" i="0">
                <a:solidFill>
                  <a:srgbClr val="F97316"/>
                </a:solidFill>
                <a:latin typeface="Segoe UI"/>
              </a:rPr>
              <a:t>Component</a:t>
            </a:r>
          </a:p>
        </p:txBody>
      </p:sp>
      <p:sp>
        <p:nvSpPr>
          <p:cNvPr id="9" name="TextBox 8"/>
          <p:cNvSpPr txBox="1"/>
          <p:nvPr/>
        </p:nvSpPr>
        <p:spPr>
          <a:xfrm>
            <a:off x="548640" y="2121408"/>
            <a:ext cx="5257800" cy="914400"/>
          </a:xfrm>
          <a:prstGeom prst="rect">
            <a:avLst/>
          </a:prstGeom>
          <a:noFill/>
        </p:spPr>
        <p:txBody>
          <a:bodyPr wrap="square">
            <a:spAutoFit/>
          </a:bodyPr>
          <a:lstStyle/>
          <a:p>
            <a:pPr algn="l"/>
            <a:r>
              <a:rPr sz="1150" b="0" i="0">
                <a:solidFill>
                  <a:srgbClr val="B0BCD4"/>
                </a:solidFill>
                <a:latin typeface="Segoe UI"/>
              </a:rPr>
              <a:t>A self-contained piece of the UI (like a card, a button, or the whole page). Our entire app is one component: the App() function in App.jsx.</a:t>
            </a:r>
          </a:p>
        </p:txBody>
      </p:sp>
      <p:sp>
        <p:nvSpPr>
          <p:cNvPr id="10" name="Rectangle 9"/>
          <p:cNvSpPr/>
          <p:nvPr/>
        </p:nvSpPr>
        <p:spPr>
          <a:xfrm>
            <a:off x="6281928" y="1664208"/>
            <a:ext cx="5623560" cy="14630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64808" y="1755648"/>
            <a:ext cx="5257800" cy="347472"/>
          </a:xfrm>
          <a:prstGeom prst="rect">
            <a:avLst/>
          </a:prstGeom>
          <a:noFill/>
        </p:spPr>
        <p:txBody>
          <a:bodyPr wrap="square">
            <a:spAutoFit/>
          </a:bodyPr>
          <a:lstStyle/>
          <a:p>
            <a:pPr algn="l"/>
            <a:r>
              <a:rPr sz="1400" b="1" i="0">
                <a:solidFill>
                  <a:srgbClr val="F97316"/>
                </a:solidFill>
                <a:latin typeface="Segoe UI"/>
              </a:rPr>
              <a:t>JSX</a:t>
            </a:r>
          </a:p>
        </p:txBody>
      </p:sp>
      <p:sp>
        <p:nvSpPr>
          <p:cNvPr id="12" name="TextBox 11"/>
          <p:cNvSpPr txBox="1"/>
          <p:nvPr/>
        </p:nvSpPr>
        <p:spPr>
          <a:xfrm>
            <a:off x="6464808" y="2121408"/>
            <a:ext cx="5257800" cy="914400"/>
          </a:xfrm>
          <a:prstGeom prst="rect">
            <a:avLst/>
          </a:prstGeom>
          <a:noFill/>
        </p:spPr>
        <p:txBody>
          <a:bodyPr wrap="square">
            <a:spAutoFit/>
          </a:bodyPr>
          <a:lstStyle/>
          <a:p>
            <a:pPr algn="l"/>
            <a:r>
              <a:rPr sz="1150" b="0" i="0">
                <a:solidFill>
                  <a:srgbClr val="B0BCD4"/>
                </a:solidFill>
                <a:latin typeface="Segoe UI"/>
              </a:rPr>
              <a:t>JavaScript + HTML mixed together. React lets you write HTML tags directly inside JavaScript. Vite compiles this into plain JavaScript behind the scenes.</a:t>
            </a:r>
          </a:p>
        </p:txBody>
      </p:sp>
      <p:sp>
        <p:nvSpPr>
          <p:cNvPr id="13" name="Rectangle 12"/>
          <p:cNvSpPr/>
          <p:nvPr/>
        </p:nvSpPr>
        <p:spPr>
          <a:xfrm>
            <a:off x="365760" y="3246120"/>
            <a:ext cx="5623560" cy="14630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3337560"/>
            <a:ext cx="5257800" cy="347472"/>
          </a:xfrm>
          <a:prstGeom prst="rect">
            <a:avLst/>
          </a:prstGeom>
          <a:noFill/>
        </p:spPr>
        <p:txBody>
          <a:bodyPr wrap="square">
            <a:spAutoFit/>
          </a:bodyPr>
          <a:lstStyle/>
          <a:p>
            <a:pPr algn="l"/>
            <a:r>
              <a:rPr sz="1400" b="1" i="0">
                <a:solidFill>
                  <a:srgbClr val="F97316"/>
                </a:solidFill>
                <a:latin typeface="Segoe UI"/>
              </a:rPr>
              <a:t>Virtual DOM</a:t>
            </a:r>
          </a:p>
        </p:txBody>
      </p:sp>
      <p:sp>
        <p:nvSpPr>
          <p:cNvPr id="15" name="TextBox 14"/>
          <p:cNvSpPr txBox="1"/>
          <p:nvPr/>
        </p:nvSpPr>
        <p:spPr>
          <a:xfrm>
            <a:off x="548640" y="3703320"/>
            <a:ext cx="5257800" cy="914400"/>
          </a:xfrm>
          <a:prstGeom prst="rect">
            <a:avLst/>
          </a:prstGeom>
          <a:noFill/>
        </p:spPr>
        <p:txBody>
          <a:bodyPr wrap="square">
            <a:spAutoFit/>
          </a:bodyPr>
          <a:lstStyle/>
          <a:p>
            <a:pPr algn="l"/>
            <a:r>
              <a:rPr sz="1150" b="0" i="0">
                <a:solidFill>
                  <a:srgbClr val="B0BCD4"/>
                </a:solidFill>
                <a:latin typeface="Segoe UI"/>
              </a:rPr>
              <a:t>React keeps a lightweight copy of the page in memory. When state changes, it compares the old and new copies and updates only the changed parts — this is fast.</a:t>
            </a:r>
          </a:p>
        </p:txBody>
      </p:sp>
      <p:sp>
        <p:nvSpPr>
          <p:cNvPr id="16" name="Rectangle 15"/>
          <p:cNvSpPr/>
          <p:nvPr/>
        </p:nvSpPr>
        <p:spPr>
          <a:xfrm>
            <a:off x="6281928" y="3246120"/>
            <a:ext cx="5623560" cy="14630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64808" y="3337560"/>
            <a:ext cx="5257800" cy="347472"/>
          </a:xfrm>
          <a:prstGeom prst="rect">
            <a:avLst/>
          </a:prstGeom>
          <a:noFill/>
        </p:spPr>
        <p:txBody>
          <a:bodyPr wrap="square">
            <a:spAutoFit/>
          </a:bodyPr>
          <a:lstStyle/>
          <a:p>
            <a:pPr algn="l"/>
            <a:r>
              <a:rPr sz="1400" b="1" i="0">
                <a:solidFill>
                  <a:srgbClr val="F97316"/>
                </a:solidFill>
                <a:latin typeface="Segoe UI"/>
              </a:rPr>
              <a:t>State</a:t>
            </a:r>
          </a:p>
        </p:txBody>
      </p:sp>
      <p:sp>
        <p:nvSpPr>
          <p:cNvPr id="18" name="TextBox 17"/>
          <p:cNvSpPr txBox="1"/>
          <p:nvPr/>
        </p:nvSpPr>
        <p:spPr>
          <a:xfrm>
            <a:off x="6464808" y="3703320"/>
            <a:ext cx="5257800" cy="914400"/>
          </a:xfrm>
          <a:prstGeom prst="rect">
            <a:avLst/>
          </a:prstGeom>
          <a:noFill/>
        </p:spPr>
        <p:txBody>
          <a:bodyPr wrap="square">
            <a:spAutoFit/>
          </a:bodyPr>
          <a:lstStyle/>
          <a:p>
            <a:pPr algn="l"/>
            <a:r>
              <a:rPr sz="1150" b="0" i="0">
                <a:solidFill>
                  <a:srgbClr val="B0BCD4"/>
                </a:solidFill>
                <a:latin typeface="Segoe UI"/>
              </a:rPr>
              <a:t>Data stored inside a component. When state changes, React automatically re-renders. We use the useState() hook to create and manage state.</a:t>
            </a:r>
          </a:p>
        </p:txBody>
      </p:sp>
      <p:sp>
        <p:nvSpPr>
          <p:cNvPr id="19" name="Rectangle 18"/>
          <p:cNvSpPr/>
          <p:nvPr/>
        </p:nvSpPr>
        <p:spPr>
          <a:xfrm>
            <a:off x="365760" y="4828032"/>
            <a:ext cx="5623560" cy="14630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4919472"/>
            <a:ext cx="5257800" cy="347472"/>
          </a:xfrm>
          <a:prstGeom prst="rect">
            <a:avLst/>
          </a:prstGeom>
          <a:noFill/>
        </p:spPr>
        <p:txBody>
          <a:bodyPr wrap="square">
            <a:spAutoFit/>
          </a:bodyPr>
          <a:lstStyle/>
          <a:p>
            <a:pPr algn="l"/>
            <a:r>
              <a:rPr sz="1400" b="1" i="0">
                <a:solidFill>
                  <a:srgbClr val="F97316"/>
                </a:solidFill>
                <a:latin typeface="Segoe UI"/>
              </a:rPr>
              <a:t>Props</a:t>
            </a:r>
          </a:p>
        </p:txBody>
      </p:sp>
      <p:sp>
        <p:nvSpPr>
          <p:cNvPr id="21" name="TextBox 20"/>
          <p:cNvSpPr txBox="1"/>
          <p:nvPr/>
        </p:nvSpPr>
        <p:spPr>
          <a:xfrm>
            <a:off x="548640" y="5285232"/>
            <a:ext cx="5257800" cy="914400"/>
          </a:xfrm>
          <a:prstGeom prst="rect">
            <a:avLst/>
          </a:prstGeom>
          <a:noFill/>
        </p:spPr>
        <p:txBody>
          <a:bodyPr wrap="square">
            <a:spAutoFit/>
          </a:bodyPr>
          <a:lstStyle/>
          <a:p>
            <a:pPr algn="l"/>
            <a:r>
              <a:rPr sz="1150" b="0" i="0">
                <a:solidFill>
                  <a:srgbClr val="B0BCD4"/>
                </a:solidFill>
                <a:latin typeface="Segoe UI"/>
              </a:rPr>
              <a:t>Data passed from a parent component down to a child. Like function arguments — but for UI components.</a:t>
            </a:r>
          </a:p>
        </p:txBody>
      </p:sp>
      <p:sp>
        <p:nvSpPr>
          <p:cNvPr id="22" name="Rectangle 21"/>
          <p:cNvSpPr/>
          <p:nvPr/>
        </p:nvSpPr>
        <p:spPr>
          <a:xfrm>
            <a:off x="6281928" y="4828032"/>
            <a:ext cx="5623560" cy="14630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64808" y="4919472"/>
            <a:ext cx="5257800" cy="347472"/>
          </a:xfrm>
          <a:prstGeom prst="rect">
            <a:avLst/>
          </a:prstGeom>
          <a:noFill/>
        </p:spPr>
        <p:txBody>
          <a:bodyPr wrap="square">
            <a:spAutoFit/>
          </a:bodyPr>
          <a:lstStyle/>
          <a:p>
            <a:pPr algn="l"/>
            <a:r>
              <a:rPr sz="1400" b="1" i="0">
                <a:solidFill>
                  <a:srgbClr val="F97316"/>
                </a:solidFill>
                <a:latin typeface="Segoe UI"/>
              </a:rPr>
              <a:t>Hooks</a:t>
            </a:r>
          </a:p>
        </p:txBody>
      </p:sp>
      <p:sp>
        <p:nvSpPr>
          <p:cNvPr id="24" name="TextBox 23"/>
          <p:cNvSpPr txBox="1"/>
          <p:nvPr/>
        </p:nvSpPr>
        <p:spPr>
          <a:xfrm>
            <a:off x="6464808" y="5285232"/>
            <a:ext cx="5257800" cy="914400"/>
          </a:xfrm>
          <a:prstGeom prst="rect">
            <a:avLst/>
          </a:prstGeom>
          <a:noFill/>
        </p:spPr>
        <p:txBody>
          <a:bodyPr wrap="square">
            <a:spAutoFit/>
          </a:bodyPr>
          <a:lstStyle/>
          <a:p>
            <a:pPr algn="l"/>
            <a:r>
              <a:rPr sz="1150" b="0" i="0">
                <a:solidFill>
                  <a:srgbClr val="B0BCD4"/>
                </a:solidFill>
                <a:latin typeface="Segoe UI"/>
              </a:rPr>
              <a:t>Special React functions (useState, useEffect) that let you add memory and lifecycle behavior to functional components.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6</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Vite — The Build Tool</a:t>
            </a:r>
          </a:p>
        </p:txBody>
      </p:sp>
      <p:sp>
        <p:nvSpPr>
          <p:cNvPr id="6" name="TextBox 5"/>
          <p:cNvSpPr txBox="1"/>
          <p:nvPr/>
        </p:nvSpPr>
        <p:spPr>
          <a:xfrm>
            <a:off x="457200" y="658368"/>
            <a:ext cx="7315200" cy="731520"/>
          </a:xfrm>
          <a:prstGeom prst="rect">
            <a:avLst/>
          </a:prstGeom>
          <a:noFill/>
        </p:spPr>
        <p:txBody>
          <a:bodyPr wrap="square">
            <a:spAutoFit/>
          </a:bodyPr>
          <a:lstStyle/>
          <a:p>
            <a:pPr algn="l"/>
            <a:r>
              <a:rPr sz="1500" b="0" i="0" dirty="0">
                <a:solidFill>
                  <a:srgbClr val="B0BCD4"/>
                </a:solidFill>
                <a:latin typeface="Segoe UI"/>
              </a:rPr>
              <a:t>A build tool turns our modern code (JSX, ES Modules, Tailwind CSS) into plain HTML/CSS/JS that any browser can read. Vite is the fastest build tool available today.</a:t>
            </a:r>
          </a:p>
        </p:txBody>
      </p:sp>
      <p:sp>
        <p:nvSpPr>
          <p:cNvPr id="7" name="Rectangle 6"/>
          <p:cNvSpPr/>
          <p:nvPr/>
        </p:nvSpPr>
        <p:spPr>
          <a:xfrm>
            <a:off x="365760" y="1508760"/>
            <a:ext cx="6583680" cy="475488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600200"/>
            <a:ext cx="6309360" cy="4572000"/>
          </a:xfrm>
          <a:prstGeom prst="rect">
            <a:avLst/>
          </a:prstGeom>
          <a:noFill/>
        </p:spPr>
        <p:txBody>
          <a:bodyPr wrap="square">
            <a:spAutoFit/>
          </a:bodyPr>
          <a:lstStyle/>
          <a:p>
            <a:r>
              <a:rPr sz="1000">
                <a:solidFill>
                  <a:srgbClr val="38BDF8"/>
                </a:solidFill>
                <a:latin typeface="Consolas"/>
              </a:rPr>
              <a:t>// vite.config.js — Full configuration file
import { defineConfig } from 'vite';
import react from '@vitejs/plugin-react';
import { fileURLToPath, URL } from 'node:url';
export default defineConfig({
  plugins: [react()],        // Enables JSX transform + Fast Refresh (HMR)
  resolve: {
    alias: {
      '@': fileURLToPath(new URL('./src', import.meta.url)),
    },                       // '@/components/X' instead of '../../components/X'
  },
  server: {
    port: 5173,              // Dev server runs on http://localhost:5173
    host: true,              // Accessible on local network (all devices)
  },
});</a:t>
            </a:r>
          </a:p>
        </p:txBody>
      </p:sp>
      <p:sp>
        <p:nvSpPr>
          <p:cNvPr id="9" name="Rectangle 8"/>
          <p:cNvSpPr/>
          <p:nvPr/>
        </p:nvSpPr>
        <p:spPr>
          <a:xfrm>
            <a:off x="7132320" y="1508760"/>
            <a:ext cx="4663440" cy="11430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0" y="1581912"/>
            <a:ext cx="4297680" cy="320040"/>
          </a:xfrm>
          <a:prstGeom prst="rect">
            <a:avLst/>
          </a:prstGeom>
          <a:noFill/>
        </p:spPr>
        <p:txBody>
          <a:bodyPr wrap="square">
            <a:spAutoFit/>
          </a:bodyPr>
          <a:lstStyle/>
          <a:p>
            <a:pPr algn="l"/>
            <a:r>
              <a:rPr sz="1300" b="1" i="0">
                <a:solidFill>
                  <a:srgbClr val="F97316"/>
                </a:solidFill>
                <a:latin typeface="Segoe UI"/>
              </a:rPr>
              <a:t>plugins: [react()]</a:t>
            </a:r>
          </a:p>
        </p:txBody>
      </p:sp>
      <p:sp>
        <p:nvSpPr>
          <p:cNvPr id="11" name="TextBox 10"/>
          <p:cNvSpPr txBox="1"/>
          <p:nvPr/>
        </p:nvSpPr>
        <p:spPr>
          <a:xfrm>
            <a:off x="7315200" y="1892808"/>
            <a:ext cx="4297680" cy="685800"/>
          </a:xfrm>
          <a:prstGeom prst="rect">
            <a:avLst/>
          </a:prstGeom>
          <a:noFill/>
        </p:spPr>
        <p:txBody>
          <a:bodyPr wrap="square">
            <a:spAutoFit/>
          </a:bodyPr>
          <a:lstStyle/>
          <a:p>
            <a:pPr algn="l"/>
            <a:r>
              <a:rPr sz="1100" b="0" i="0">
                <a:solidFill>
                  <a:srgbClr val="B0BCD4"/>
                </a:solidFill>
                <a:latin typeface="Segoe UI"/>
              </a:rPr>
              <a:t>Transforms JSX into JS calls. Enables Hot Module Replacement — save a file and the browser updates instantly without refreshing.</a:t>
            </a:r>
          </a:p>
        </p:txBody>
      </p:sp>
      <p:sp>
        <p:nvSpPr>
          <p:cNvPr id="12" name="Rectangle 11"/>
          <p:cNvSpPr/>
          <p:nvPr/>
        </p:nvSpPr>
        <p:spPr>
          <a:xfrm>
            <a:off x="7132320" y="2770632"/>
            <a:ext cx="4663440" cy="11430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0" y="2843784"/>
            <a:ext cx="4297680" cy="320040"/>
          </a:xfrm>
          <a:prstGeom prst="rect">
            <a:avLst/>
          </a:prstGeom>
          <a:noFill/>
        </p:spPr>
        <p:txBody>
          <a:bodyPr wrap="square">
            <a:spAutoFit/>
          </a:bodyPr>
          <a:lstStyle/>
          <a:p>
            <a:pPr algn="l"/>
            <a:r>
              <a:rPr sz="1300" b="1" i="0">
                <a:solidFill>
                  <a:srgbClr val="F97316"/>
                </a:solidFill>
                <a:latin typeface="Segoe UI"/>
              </a:rPr>
              <a:t>resolve.alias '@'</a:t>
            </a:r>
          </a:p>
        </p:txBody>
      </p:sp>
      <p:sp>
        <p:nvSpPr>
          <p:cNvPr id="14" name="TextBox 13"/>
          <p:cNvSpPr txBox="1"/>
          <p:nvPr/>
        </p:nvSpPr>
        <p:spPr>
          <a:xfrm>
            <a:off x="7315200" y="3154680"/>
            <a:ext cx="4297680" cy="685800"/>
          </a:xfrm>
          <a:prstGeom prst="rect">
            <a:avLst/>
          </a:prstGeom>
          <a:noFill/>
        </p:spPr>
        <p:txBody>
          <a:bodyPr wrap="square">
            <a:spAutoFit/>
          </a:bodyPr>
          <a:lstStyle/>
          <a:p>
            <a:pPr algn="l"/>
            <a:r>
              <a:rPr sz="1100" b="0" i="0">
                <a:solidFill>
                  <a:srgbClr val="B0BCD4"/>
                </a:solidFill>
                <a:latin typeface="Segoe UI"/>
              </a:rPr>
              <a:t>Lets us write import Foo from '@/components/Foo' instead of messy '../../../' paths.</a:t>
            </a:r>
          </a:p>
        </p:txBody>
      </p:sp>
      <p:sp>
        <p:nvSpPr>
          <p:cNvPr id="15" name="Rectangle 14"/>
          <p:cNvSpPr/>
          <p:nvPr/>
        </p:nvSpPr>
        <p:spPr>
          <a:xfrm>
            <a:off x="7132320" y="4032504"/>
            <a:ext cx="4663440" cy="11430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0" y="4105656"/>
            <a:ext cx="4297680" cy="320040"/>
          </a:xfrm>
          <a:prstGeom prst="rect">
            <a:avLst/>
          </a:prstGeom>
          <a:noFill/>
        </p:spPr>
        <p:txBody>
          <a:bodyPr wrap="square">
            <a:spAutoFit/>
          </a:bodyPr>
          <a:lstStyle/>
          <a:p>
            <a:pPr algn="l"/>
            <a:r>
              <a:rPr sz="1300" b="1" i="0">
                <a:solidFill>
                  <a:srgbClr val="F97316"/>
                </a:solidFill>
                <a:latin typeface="Segoe UI"/>
              </a:rPr>
              <a:t>server.port: 5173</a:t>
            </a:r>
          </a:p>
        </p:txBody>
      </p:sp>
      <p:sp>
        <p:nvSpPr>
          <p:cNvPr id="17" name="TextBox 16"/>
          <p:cNvSpPr txBox="1"/>
          <p:nvPr/>
        </p:nvSpPr>
        <p:spPr>
          <a:xfrm>
            <a:off x="7315200" y="4416552"/>
            <a:ext cx="4297680" cy="685800"/>
          </a:xfrm>
          <a:prstGeom prst="rect">
            <a:avLst/>
          </a:prstGeom>
          <a:noFill/>
        </p:spPr>
        <p:txBody>
          <a:bodyPr wrap="square">
            <a:spAutoFit/>
          </a:bodyPr>
          <a:lstStyle/>
          <a:p>
            <a:pPr algn="l"/>
            <a:r>
              <a:rPr sz="1100" b="0" i="0">
                <a:solidFill>
                  <a:srgbClr val="B0BCD4"/>
                </a:solidFill>
                <a:latin typeface="Segoe UI"/>
              </a:rPr>
              <a:t>Vite runs your app at http://localhost:5173 during development. You open this in your browser.</a:t>
            </a:r>
          </a:p>
        </p:txBody>
      </p:sp>
      <p:sp>
        <p:nvSpPr>
          <p:cNvPr id="18" name="Rectangle 17"/>
          <p:cNvSpPr/>
          <p:nvPr/>
        </p:nvSpPr>
        <p:spPr>
          <a:xfrm>
            <a:off x="7132320" y="5294376"/>
            <a:ext cx="4663440" cy="11430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0" y="5367528"/>
            <a:ext cx="4297680" cy="320040"/>
          </a:xfrm>
          <a:prstGeom prst="rect">
            <a:avLst/>
          </a:prstGeom>
          <a:noFill/>
        </p:spPr>
        <p:txBody>
          <a:bodyPr wrap="square">
            <a:spAutoFit/>
          </a:bodyPr>
          <a:lstStyle/>
          <a:p>
            <a:pPr algn="l"/>
            <a:r>
              <a:rPr sz="1300" b="1" i="0">
                <a:solidFill>
                  <a:srgbClr val="F97316"/>
                </a:solidFill>
                <a:latin typeface="Segoe UI"/>
              </a:rPr>
              <a:t>Why not Webpack?</a:t>
            </a:r>
          </a:p>
        </p:txBody>
      </p:sp>
      <p:sp>
        <p:nvSpPr>
          <p:cNvPr id="20" name="TextBox 19"/>
          <p:cNvSpPr txBox="1"/>
          <p:nvPr/>
        </p:nvSpPr>
        <p:spPr>
          <a:xfrm>
            <a:off x="7315200" y="5678424"/>
            <a:ext cx="4297680" cy="685800"/>
          </a:xfrm>
          <a:prstGeom prst="rect">
            <a:avLst/>
          </a:prstGeom>
          <a:noFill/>
        </p:spPr>
        <p:txBody>
          <a:bodyPr wrap="square">
            <a:spAutoFit/>
          </a:bodyPr>
          <a:lstStyle/>
          <a:p>
            <a:pPr algn="l"/>
            <a:r>
              <a:rPr sz="1100" b="0" i="0">
                <a:solidFill>
                  <a:srgbClr val="B0BCD4"/>
                </a:solidFill>
                <a:latin typeface="Segoe UI"/>
              </a:rPr>
              <a:t>Webpack bundles all files before serving — slow on large projects. Vite serves each file on-demand using native browser ES Modules (ESM).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7</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Tailwind CSS — How We Styled Everything</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500" b="0" i="0">
                <a:solidFill>
                  <a:srgbClr val="B0BCD4"/>
                </a:solidFill>
                <a:latin typeface="Segoe UI"/>
              </a:rPr>
              <a:t>Tailwind CSS is a utility-first CSS framework. Instead of writing a separate .css file, you style elements directly in JSX using short class names.</a:t>
            </a:r>
          </a:p>
        </p:txBody>
      </p:sp>
      <p:sp>
        <p:nvSpPr>
          <p:cNvPr id="7" name="Rectangle 6"/>
          <p:cNvSpPr/>
          <p:nvPr/>
        </p:nvSpPr>
        <p:spPr>
          <a:xfrm>
            <a:off x="365760" y="1234440"/>
            <a:ext cx="6583680" cy="512064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25880"/>
            <a:ext cx="6309360" cy="4937760"/>
          </a:xfrm>
          <a:prstGeom prst="rect">
            <a:avLst/>
          </a:prstGeom>
          <a:noFill/>
        </p:spPr>
        <p:txBody>
          <a:bodyPr wrap="square">
            <a:spAutoFit/>
          </a:bodyPr>
          <a:lstStyle/>
          <a:p>
            <a:r>
              <a:rPr sz="1000">
                <a:solidFill>
                  <a:srgbClr val="38BDF8"/>
                </a:solidFill>
                <a:latin typeface="Consolas"/>
              </a:rPr>
              <a:t>// tailwind.config.js — Custom Design Tokens
export default {
  content: [
    "./index.html",
    "./src/**/*.{js,ts,jsx,tsx}",  // Tailwind scans all these files for class names
  ],
  theme: {
    extend: {
      colors: {
        brand: {
          500: '#F97316',  // Primary orange accent (buttons, highlights)
        },
        navy: {
          950: '#070A12',  // App background — deepest dark
          800: '#141E34',  // Card backgrounds
          700: '#1E2D4A',  // Borders
        },
      },
      fontFamily: {
        sans: ['Inter', 'system-ui', 'sans-serif'],
        mono: ['JetBrains Mono', 'Consolas', 'monospace'],
      },
    },
  },
};</a:t>
            </a:r>
          </a:p>
        </p:txBody>
      </p:sp>
      <p:sp>
        <p:nvSpPr>
          <p:cNvPr id="9" name="Rectangle 8"/>
          <p:cNvSpPr/>
          <p:nvPr/>
        </p:nvSpPr>
        <p:spPr>
          <a:xfrm>
            <a:off x="7132320" y="1234440"/>
            <a:ext cx="4663440" cy="11430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0" y="1307592"/>
            <a:ext cx="4297680" cy="320040"/>
          </a:xfrm>
          <a:prstGeom prst="rect">
            <a:avLst/>
          </a:prstGeom>
          <a:noFill/>
        </p:spPr>
        <p:txBody>
          <a:bodyPr wrap="square">
            <a:spAutoFit/>
          </a:bodyPr>
          <a:lstStyle/>
          <a:p>
            <a:pPr algn="l"/>
            <a:r>
              <a:rPr sz="1300" b="1" i="0">
                <a:solidFill>
                  <a:srgbClr val="F97316"/>
                </a:solidFill>
                <a:latin typeface="Segoe UI"/>
              </a:rPr>
              <a:t>JIT Compiler</a:t>
            </a:r>
          </a:p>
        </p:txBody>
      </p:sp>
      <p:sp>
        <p:nvSpPr>
          <p:cNvPr id="11" name="TextBox 10"/>
          <p:cNvSpPr txBox="1"/>
          <p:nvPr/>
        </p:nvSpPr>
        <p:spPr>
          <a:xfrm>
            <a:off x="7315200" y="1618488"/>
            <a:ext cx="4297680" cy="685800"/>
          </a:xfrm>
          <a:prstGeom prst="rect">
            <a:avLst/>
          </a:prstGeom>
          <a:noFill/>
        </p:spPr>
        <p:txBody>
          <a:bodyPr wrap="square">
            <a:spAutoFit/>
          </a:bodyPr>
          <a:lstStyle/>
          <a:p>
            <a:pPr algn="l"/>
            <a:r>
              <a:rPr sz="1100" b="0" i="0">
                <a:solidFill>
                  <a:srgbClr val="B0BCD4"/>
                </a:solidFill>
                <a:latin typeface="Segoe UI"/>
              </a:rPr>
              <a:t>Tailwind scans every .jsx file and generates ONLY the CSS classes you actually used. The final CSS file is tiny — around 32 KB.</a:t>
            </a:r>
          </a:p>
        </p:txBody>
      </p:sp>
      <p:sp>
        <p:nvSpPr>
          <p:cNvPr id="12" name="Rectangle 11"/>
          <p:cNvSpPr/>
          <p:nvPr/>
        </p:nvSpPr>
        <p:spPr>
          <a:xfrm>
            <a:off x="7132320" y="2496312"/>
            <a:ext cx="4663440" cy="11430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0" y="2569464"/>
            <a:ext cx="4297680" cy="320040"/>
          </a:xfrm>
          <a:prstGeom prst="rect">
            <a:avLst/>
          </a:prstGeom>
          <a:noFill/>
        </p:spPr>
        <p:txBody>
          <a:bodyPr wrap="square">
            <a:spAutoFit/>
          </a:bodyPr>
          <a:lstStyle/>
          <a:p>
            <a:pPr algn="l"/>
            <a:r>
              <a:rPr sz="1300" b="1" i="0">
                <a:solidFill>
                  <a:srgbClr val="F97316"/>
                </a:solidFill>
                <a:latin typeface="Segoe UI"/>
              </a:rPr>
              <a:t>Custom Tokens</a:t>
            </a:r>
          </a:p>
        </p:txBody>
      </p:sp>
      <p:sp>
        <p:nvSpPr>
          <p:cNvPr id="14" name="TextBox 13"/>
          <p:cNvSpPr txBox="1"/>
          <p:nvPr/>
        </p:nvSpPr>
        <p:spPr>
          <a:xfrm>
            <a:off x="7315200" y="2880360"/>
            <a:ext cx="4297680" cy="685800"/>
          </a:xfrm>
          <a:prstGeom prst="rect">
            <a:avLst/>
          </a:prstGeom>
          <a:noFill/>
        </p:spPr>
        <p:txBody>
          <a:bodyPr wrap="square">
            <a:spAutoFit/>
          </a:bodyPr>
          <a:lstStyle/>
          <a:p>
            <a:pPr algn="l"/>
            <a:r>
              <a:rPr sz="1100" b="0" i="0">
                <a:solidFill>
                  <a:srgbClr val="B0BCD4"/>
                </a:solidFill>
                <a:latin typeface="Segoe UI"/>
              </a:rPr>
              <a:t>We defined our own brand.500 orange and navy.950 dark background so every team member uses the same colors without guessing hex codes.</a:t>
            </a:r>
          </a:p>
        </p:txBody>
      </p:sp>
      <p:sp>
        <p:nvSpPr>
          <p:cNvPr id="15" name="Rectangle 14"/>
          <p:cNvSpPr/>
          <p:nvPr/>
        </p:nvSpPr>
        <p:spPr>
          <a:xfrm>
            <a:off x="7132320" y="3758184"/>
            <a:ext cx="4663440" cy="11430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0" y="3831336"/>
            <a:ext cx="4297680" cy="320040"/>
          </a:xfrm>
          <a:prstGeom prst="rect">
            <a:avLst/>
          </a:prstGeom>
          <a:noFill/>
        </p:spPr>
        <p:txBody>
          <a:bodyPr wrap="square">
            <a:spAutoFit/>
          </a:bodyPr>
          <a:lstStyle/>
          <a:p>
            <a:pPr algn="l"/>
            <a:r>
              <a:rPr sz="1300" b="1" i="0">
                <a:solidFill>
                  <a:srgbClr val="F97316"/>
                </a:solidFill>
                <a:latin typeface="Segoe UI"/>
              </a:rPr>
              <a:t>Utility Classes in JSX</a:t>
            </a:r>
          </a:p>
        </p:txBody>
      </p:sp>
      <p:sp>
        <p:nvSpPr>
          <p:cNvPr id="17" name="TextBox 16"/>
          <p:cNvSpPr txBox="1"/>
          <p:nvPr/>
        </p:nvSpPr>
        <p:spPr>
          <a:xfrm>
            <a:off x="7315200" y="4142232"/>
            <a:ext cx="4297680" cy="685800"/>
          </a:xfrm>
          <a:prstGeom prst="rect">
            <a:avLst/>
          </a:prstGeom>
          <a:noFill/>
        </p:spPr>
        <p:txBody>
          <a:bodyPr wrap="square">
            <a:spAutoFit/>
          </a:bodyPr>
          <a:lstStyle/>
          <a:p>
            <a:pPr algn="l"/>
            <a:r>
              <a:rPr sz="1100" b="0" i="0">
                <a:solidFill>
                  <a:srgbClr val="B0BCD4"/>
                </a:solidFill>
                <a:latin typeface="Segoe UI"/>
              </a:rPr>
              <a:t>className='bg-navy-800 text-white rounded-xl p-4' — no separate .css file needed.</a:t>
            </a:r>
          </a:p>
        </p:txBody>
      </p:sp>
      <p:sp>
        <p:nvSpPr>
          <p:cNvPr id="18" name="Rectangle 17"/>
          <p:cNvSpPr/>
          <p:nvPr/>
        </p:nvSpPr>
        <p:spPr>
          <a:xfrm>
            <a:off x="7132320" y="5020056"/>
            <a:ext cx="4663440" cy="11430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0" y="5093208"/>
            <a:ext cx="4297680" cy="320040"/>
          </a:xfrm>
          <a:prstGeom prst="rect">
            <a:avLst/>
          </a:prstGeom>
          <a:noFill/>
        </p:spPr>
        <p:txBody>
          <a:bodyPr wrap="square">
            <a:spAutoFit/>
          </a:bodyPr>
          <a:lstStyle/>
          <a:p>
            <a:pPr algn="l"/>
            <a:r>
              <a:rPr sz="1300" b="1" i="0">
                <a:solidFill>
                  <a:srgbClr val="F97316"/>
                </a:solidFill>
                <a:latin typeface="Segoe UI"/>
              </a:rPr>
              <a:t>Why We Pinned v3.4.17</a:t>
            </a:r>
          </a:p>
        </p:txBody>
      </p:sp>
      <p:sp>
        <p:nvSpPr>
          <p:cNvPr id="20" name="TextBox 19"/>
          <p:cNvSpPr txBox="1"/>
          <p:nvPr/>
        </p:nvSpPr>
        <p:spPr>
          <a:xfrm>
            <a:off x="7315200" y="5404104"/>
            <a:ext cx="4297680" cy="685800"/>
          </a:xfrm>
          <a:prstGeom prst="rect">
            <a:avLst/>
          </a:prstGeom>
          <a:noFill/>
        </p:spPr>
        <p:txBody>
          <a:bodyPr wrap="square">
            <a:spAutoFit/>
          </a:bodyPr>
          <a:lstStyle/>
          <a:p>
            <a:pPr algn="l"/>
            <a:r>
              <a:rPr sz="1100" b="0" i="0">
                <a:solidFill>
                  <a:srgbClr val="B0BCD4"/>
                </a:solidFill>
                <a:latin typeface="Segoe UI"/>
              </a:rPr>
              <a:t>Tailwind v4 changed its PostCSS plugin format and broke our build. We explicitly pinned version 3 to fix this.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8</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React useState — Giving Components Memory</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600" b="0" i="0">
                <a:solidFill>
                  <a:srgbClr val="B0BCD4"/>
                </a:solidFill>
                <a:latin typeface="Segoe UI"/>
              </a:rPr>
              <a:t>useState is a React Hook that lets a component remember data between re-renders. Without it, every re-render would reset all variables.</a:t>
            </a:r>
          </a:p>
        </p:txBody>
      </p:sp>
      <p:sp>
        <p:nvSpPr>
          <p:cNvPr id="7" name="Rectangle 6"/>
          <p:cNvSpPr/>
          <p:nvPr/>
        </p:nvSpPr>
        <p:spPr>
          <a:xfrm>
            <a:off x="365760" y="1234440"/>
            <a:ext cx="6858000" cy="512064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25880"/>
            <a:ext cx="6583680" cy="4937760"/>
          </a:xfrm>
          <a:prstGeom prst="rect">
            <a:avLst/>
          </a:prstGeom>
          <a:noFill/>
        </p:spPr>
        <p:txBody>
          <a:bodyPr wrap="square">
            <a:spAutoFit/>
          </a:bodyPr>
          <a:lstStyle/>
          <a:p>
            <a:r>
              <a:rPr sz="1000">
                <a:solidFill>
                  <a:srgbClr val="38BDF8"/>
                </a:solidFill>
                <a:latin typeface="Consolas"/>
              </a:rPr>
              <a:t>// From App.jsx — Lines 41-45
// useState Hook: Declares a state variable and its updater function.
// React stores this data in its internal Fiber tree (persistent memory).
const [backendStatus, setBackendStatus] = useState({
  connected: false,   // Boolean — Is Django responding?
  loading: true,      // Boolean — Are we still waiting for the HTTP response?
  data: null,         // Object  — The actual JSON from Django (or null)
});
// ----- HOW IT WORKS -----
// useState({ connected: false, loading: true, data: null })
//   └─ returns an ARRAY with exactly 2 elements:
//        [0] backendStatus  → the current value of the state
//        [1] setBackendStatus → a function that UPDATES the state
// When setBackendStatus({ connected: true, ... }) is called:
//   1. React stores the new value in its Fiber node memory
//   2. React schedules a re-render of the App() component
//   3. Virtual DOM diff runs → only changed JSX nodes update in the real DOM</a:t>
            </a:r>
          </a:p>
        </p:txBody>
      </p:sp>
      <p:sp>
        <p:nvSpPr>
          <p:cNvPr id="9" name="Rectangle 8"/>
          <p:cNvSpPr/>
          <p:nvPr/>
        </p:nvSpPr>
        <p:spPr>
          <a:xfrm>
            <a:off x="7406640" y="1234440"/>
            <a:ext cx="4389120" cy="164592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0" y="1325880"/>
            <a:ext cx="4023360" cy="347472"/>
          </a:xfrm>
          <a:prstGeom prst="rect">
            <a:avLst/>
          </a:prstGeom>
          <a:noFill/>
        </p:spPr>
        <p:txBody>
          <a:bodyPr wrap="square">
            <a:spAutoFit/>
          </a:bodyPr>
          <a:lstStyle/>
          <a:p>
            <a:pPr algn="l"/>
            <a:r>
              <a:rPr sz="1300" b="1" i="0">
                <a:solidFill>
                  <a:srgbClr val="F97316"/>
                </a:solidFill>
                <a:latin typeface="Segoe UI"/>
              </a:rPr>
              <a:t>Step 1: Initial Mount</a:t>
            </a:r>
          </a:p>
        </p:txBody>
      </p:sp>
      <p:sp>
        <p:nvSpPr>
          <p:cNvPr id="11" name="TextBox 10"/>
          <p:cNvSpPr txBox="1"/>
          <p:nvPr/>
        </p:nvSpPr>
        <p:spPr>
          <a:xfrm>
            <a:off x="7589520" y="1709928"/>
            <a:ext cx="4023360" cy="1005840"/>
          </a:xfrm>
          <a:prstGeom prst="rect">
            <a:avLst/>
          </a:prstGeom>
          <a:noFill/>
        </p:spPr>
        <p:txBody>
          <a:bodyPr wrap="square">
            <a:spAutoFit/>
          </a:bodyPr>
          <a:lstStyle/>
          <a:p>
            <a:pPr algn="l"/>
            <a:r>
              <a:rPr sz="1150" b="0" i="0">
                <a:solidFill>
                  <a:srgbClr val="B0BCD4"/>
                </a:solidFill>
                <a:latin typeface="Segoe UI"/>
              </a:rPr>
              <a:t>backendStatus.connected = false
backendStatus.loading = true
→ UI shows 'Connecting...' spinner</a:t>
            </a:r>
          </a:p>
        </p:txBody>
      </p:sp>
      <p:sp>
        <p:nvSpPr>
          <p:cNvPr id="12" name="Rectangle 11"/>
          <p:cNvSpPr/>
          <p:nvPr/>
        </p:nvSpPr>
        <p:spPr>
          <a:xfrm>
            <a:off x="7406640" y="2990088"/>
            <a:ext cx="4389120" cy="164592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9520" y="3081528"/>
            <a:ext cx="4023360" cy="347472"/>
          </a:xfrm>
          <a:prstGeom prst="rect">
            <a:avLst/>
          </a:prstGeom>
          <a:noFill/>
        </p:spPr>
        <p:txBody>
          <a:bodyPr wrap="square">
            <a:spAutoFit/>
          </a:bodyPr>
          <a:lstStyle/>
          <a:p>
            <a:pPr algn="l"/>
            <a:r>
              <a:rPr sz="1300" b="1" i="0">
                <a:solidFill>
                  <a:srgbClr val="F97316"/>
                </a:solidFill>
                <a:latin typeface="Segoe UI"/>
              </a:rPr>
              <a:t>Step 2: Fetch Complete</a:t>
            </a:r>
          </a:p>
        </p:txBody>
      </p:sp>
      <p:sp>
        <p:nvSpPr>
          <p:cNvPr id="14" name="TextBox 13"/>
          <p:cNvSpPr txBox="1"/>
          <p:nvPr/>
        </p:nvSpPr>
        <p:spPr>
          <a:xfrm>
            <a:off x="7589520" y="3465576"/>
            <a:ext cx="4023360" cy="1005840"/>
          </a:xfrm>
          <a:prstGeom prst="rect">
            <a:avLst/>
          </a:prstGeom>
          <a:noFill/>
        </p:spPr>
        <p:txBody>
          <a:bodyPr wrap="square">
            <a:spAutoFit/>
          </a:bodyPr>
          <a:lstStyle/>
          <a:p>
            <a:pPr algn="l"/>
            <a:r>
              <a:rPr sz="1150" b="0" i="0">
                <a:solidFill>
                  <a:srgbClr val="B0BCD4"/>
                </a:solidFill>
                <a:latin typeface="Segoe UI"/>
              </a:rPr>
              <a:t>setBackendStatus({ connected: true, data: {...} })
→ React re-renders the component</a:t>
            </a:r>
          </a:p>
        </p:txBody>
      </p:sp>
      <p:sp>
        <p:nvSpPr>
          <p:cNvPr id="15" name="Rectangle 14"/>
          <p:cNvSpPr/>
          <p:nvPr/>
        </p:nvSpPr>
        <p:spPr>
          <a:xfrm>
            <a:off x="7406640" y="4745736"/>
            <a:ext cx="4389120" cy="164592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89520" y="4837176"/>
            <a:ext cx="4023360" cy="347472"/>
          </a:xfrm>
          <a:prstGeom prst="rect">
            <a:avLst/>
          </a:prstGeom>
          <a:noFill/>
        </p:spPr>
        <p:txBody>
          <a:bodyPr wrap="square">
            <a:spAutoFit/>
          </a:bodyPr>
          <a:lstStyle/>
          <a:p>
            <a:pPr algn="l"/>
            <a:r>
              <a:rPr sz="1300" b="1" i="0">
                <a:solidFill>
                  <a:srgbClr val="F97316"/>
                </a:solidFill>
                <a:latin typeface="Segoe UI"/>
              </a:rPr>
              <a:t>Step 3: UI Updates</a:t>
            </a:r>
          </a:p>
        </p:txBody>
      </p:sp>
      <p:sp>
        <p:nvSpPr>
          <p:cNvPr id="17" name="TextBox 16"/>
          <p:cNvSpPr txBox="1"/>
          <p:nvPr/>
        </p:nvSpPr>
        <p:spPr>
          <a:xfrm>
            <a:off x="7589520" y="5221224"/>
            <a:ext cx="4023360" cy="1005840"/>
          </a:xfrm>
          <a:prstGeom prst="rect">
            <a:avLst/>
          </a:prstGeom>
          <a:noFill/>
        </p:spPr>
        <p:txBody>
          <a:bodyPr wrap="square">
            <a:spAutoFit/>
          </a:bodyPr>
          <a:lstStyle/>
          <a:p>
            <a:pPr algn="l"/>
            <a:r>
              <a:rPr sz="1150" b="0" i="0">
                <a:solidFill>
                  <a:srgbClr val="B0BCD4"/>
                </a:solidFill>
                <a:latin typeface="Segoe UI"/>
              </a:rPr>
              <a:t>The '🟢 Connected' badge renders.
Metric tiles fill with real Django numbers.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9</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React useEffect — Running Code at the Right Time</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600" b="0" i="0">
                <a:solidFill>
                  <a:srgbClr val="B0BCD4"/>
                </a:solidFill>
                <a:latin typeface="Segoe UI"/>
              </a:rPr>
              <a:t>useEffect lets you run code AFTER the component renders — perfect for network requests, timers, and subscriptions that shouldn't block the UI from painting.</a:t>
            </a:r>
          </a:p>
        </p:txBody>
      </p:sp>
      <p:sp>
        <p:nvSpPr>
          <p:cNvPr id="7" name="Rectangle 6"/>
          <p:cNvSpPr/>
          <p:nvPr/>
        </p:nvSpPr>
        <p:spPr>
          <a:xfrm>
            <a:off x="365760" y="1234440"/>
            <a:ext cx="7772400" cy="512064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25880"/>
            <a:ext cx="7498080" cy="4937760"/>
          </a:xfrm>
          <a:prstGeom prst="rect">
            <a:avLst/>
          </a:prstGeom>
          <a:noFill/>
        </p:spPr>
        <p:txBody>
          <a:bodyPr wrap="square">
            <a:spAutoFit/>
          </a:bodyPr>
          <a:lstStyle/>
          <a:p>
            <a:r>
              <a:rPr sz="1000">
                <a:solidFill>
                  <a:srgbClr val="38BDF8"/>
                </a:solidFill>
                <a:latin typeface="Consolas"/>
              </a:rPr>
              <a:t>// From App.jsx — Lines 88-90 (the Lifecycle Hook)
useEffect(() =&gt; {
  checkBackend();   // Calls our async fetch function once when the page loads
}, []);             // ← The dependency array
// ─── WHY THE EMPTY ARRAY [] IS CRITICAL ───────────────────────────────────
//
//   useEffect(fn, [])          → Runs fn() ONCE after first render (CORRECT ✓)
//
//   useEffect(fn)              → Runs fn() after EVERY render (INFINITE LOOP ✗)
//     Why? checkBackend() calls setBackendStatus()
//          setBackendStatus() triggers a re-render
//          re-render triggers useEffect again
//          → CRASH: infinite network requests hammering Django
//
//   useEffect(fn, [someVar])   → Runs fn() whenever someVar changes
//     Useful for: re-fetching data when a search query input changes
//
// ─── LIFECYCLE TIMELINE ───────────────────────────────────────────────────
//   Component function runs → JSX returned → Real DOM painted
//   → useEffect fires → fetch() starts → Django responds
//   → setBackendStatus() called → re-render scheduled → UI updates</a:t>
            </a:r>
          </a:p>
        </p:txBody>
      </p:sp>
      <p:sp>
        <p:nvSpPr>
          <p:cNvPr id="9" name="Rectangle 8"/>
          <p:cNvSpPr/>
          <p:nvPr/>
        </p:nvSpPr>
        <p:spPr>
          <a:xfrm>
            <a:off x="8321040" y="1234440"/>
            <a:ext cx="3474720" cy="51206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0" y="1371600"/>
            <a:ext cx="3108960" cy="347472"/>
          </a:xfrm>
          <a:prstGeom prst="rect">
            <a:avLst/>
          </a:prstGeom>
          <a:noFill/>
        </p:spPr>
        <p:txBody>
          <a:bodyPr wrap="square">
            <a:spAutoFit/>
          </a:bodyPr>
          <a:lstStyle/>
          <a:p>
            <a:pPr algn="l"/>
            <a:r>
              <a:rPr sz="1400" b="1" i="0">
                <a:solidFill>
                  <a:srgbClr val="F97316"/>
                </a:solidFill>
                <a:latin typeface="Segoe UI"/>
              </a:rPr>
              <a:t>⚠️  Common Mistake</a:t>
            </a:r>
          </a:p>
        </p:txBody>
      </p:sp>
      <p:sp>
        <p:nvSpPr>
          <p:cNvPr id="11" name="TextBox 10"/>
          <p:cNvSpPr txBox="1"/>
          <p:nvPr/>
        </p:nvSpPr>
        <p:spPr>
          <a:xfrm>
            <a:off x="8503920" y="1783080"/>
            <a:ext cx="3108960" cy="4434840"/>
          </a:xfrm>
          <a:prstGeom prst="rect">
            <a:avLst/>
          </a:prstGeom>
          <a:noFill/>
        </p:spPr>
        <p:txBody>
          <a:bodyPr wrap="square">
            <a:spAutoFit/>
          </a:bodyPr>
          <a:lstStyle/>
          <a:p>
            <a:pPr algn="l"/>
            <a:r>
              <a:rPr sz="1100" b="0" i="0">
                <a:solidFill>
                  <a:srgbClr val="B0BCD4"/>
                </a:solidFill>
                <a:latin typeface="Segoe UI"/>
              </a:rPr>
              <a:t>Missing [] causes infinite loop:
  useEffect(() =&gt; {
    checkBackend();
  });  ← no array!
Every render fires fetch()
Every fetch updates state
Every state update re-renders
Browser CRASHES.
This is the #1 beginner
mistake with useEffect.
The fix: always add []
as the second argument
when you only want the
effect to run once.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10</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The fetch() API — Talking to Django</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600" b="0" i="0">
                <a:solidFill>
                  <a:srgbClr val="B0BCD4"/>
                </a:solidFill>
                <a:latin typeface="Segoe UI"/>
              </a:rPr>
              <a:t>fetch() is built into every modern browser. It sends an HTTP request over the network and returns a Promise — a placeholder for data that hasn't arrived yet.</a:t>
            </a:r>
          </a:p>
        </p:txBody>
      </p:sp>
      <p:sp>
        <p:nvSpPr>
          <p:cNvPr id="7" name="Rectangle 6"/>
          <p:cNvSpPr/>
          <p:nvPr/>
        </p:nvSpPr>
        <p:spPr>
          <a:xfrm>
            <a:off x="365760" y="1234440"/>
            <a:ext cx="7589520" cy="521208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25880"/>
            <a:ext cx="7315200" cy="5029200"/>
          </a:xfrm>
          <a:prstGeom prst="rect">
            <a:avLst/>
          </a:prstGeom>
          <a:noFill/>
        </p:spPr>
        <p:txBody>
          <a:bodyPr wrap="square">
            <a:spAutoFit/>
          </a:bodyPr>
          <a:lstStyle/>
          <a:p>
            <a:r>
              <a:rPr sz="950">
                <a:solidFill>
                  <a:srgbClr val="38BDF8"/>
                </a:solidFill>
                <a:latin typeface="Consolas"/>
              </a:rPr>
              <a:t>// From App.jsx — Lines 52-77: The full async network pipeline
const checkBackend = async () =&gt; {
  try {
    // Step 1: Send HTTP GET request to Django
    // 'await' pauses this function (NOT the whole browser) until Django responds
    const response = await fetch('http://127.0.0.1:8000/api/status/');
    // Step 2: Check if Django returned HTTP 200 OK
    // response.ok is true for status codes 200-299
    if (response.ok) {
      // Step 3: Parse the incoming JSON byte-stream into a JS object
      // This is also async — the body data streams over the network
      const data = await response.json();
      // Step 4: Update React state with live data — triggers re-render
      setBackendStatus({ connected: true, loading: false, data });
    } else {
      setBackendStatus({ connected: false, loading: false, data: null });
    }
  } catch {
    // Catches network errors (Django turned off = ERR_CONNECTION_REFUSED)
    // Without try/catch, this would be an Uncaught Promise Rejection in console
    setBackendStatus({ connected: false, loading: false, data: null });
  }
};</a:t>
            </a:r>
          </a:p>
        </p:txBody>
      </p:sp>
      <p:sp>
        <p:nvSpPr>
          <p:cNvPr id="9" name="Rectangle 8"/>
          <p:cNvSpPr/>
          <p:nvPr/>
        </p:nvSpPr>
        <p:spPr>
          <a:xfrm>
            <a:off x="8138160" y="1234440"/>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21040" y="1298448"/>
            <a:ext cx="3291840" cy="301752"/>
          </a:xfrm>
          <a:prstGeom prst="rect">
            <a:avLst/>
          </a:prstGeom>
          <a:noFill/>
        </p:spPr>
        <p:txBody>
          <a:bodyPr wrap="square">
            <a:spAutoFit/>
          </a:bodyPr>
          <a:lstStyle/>
          <a:p>
            <a:pPr algn="l"/>
            <a:r>
              <a:rPr sz="1200" b="1" i="0">
                <a:solidFill>
                  <a:srgbClr val="F97316"/>
                </a:solidFill>
                <a:latin typeface="Segoe UI"/>
              </a:rPr>
              <a:t>async / await</a:t>
            </a:r>
          </a:p>
        </p:txBody>
      </p:sp>
      <p:sp>
        <p:nvSpPr>
          <p:cNvPr id="11" name="TextBox 10"/>
          <p:cNvSpPr txBox="1"/>
          <p:nvPr/>
        </p:nvSpPr>
        <p:spPr>
          <a:xfrm>
            <a:off x="8321040" y="1618488"/>
            <a:ext cx="3291840" cy="457200"/>
          </a:xfrm>
          <a:prstGeom prst="rect">
            <a:avLst/>
          </a:prstGeom>
          <a:noFill/>
        </p:spPr>
        <p:txBody>
          <a:bodyPr wrap="square">
            <a:spAutoFit/>
          </a:bodyPr>
          <a:lstStyle/>
          <a:p>
            <a:pPr algn="l"/>
            <a:r>
              <a:rPr sz="1050" b="0" i="0">
                <a:solidFill>
                  <a:srgbClr val="B0BCD4"/>
                </a:solidFill>
                <a:latin typeface="Segoe UI"/>
              </a:rPr>
              <a:t>Modern syntax for handling Promises. Makes async code read like normal synchronous code.</a:t>
            </a:r>
          </a:p>
        </p:txBody>
      </p:sp>
      <p:sp>
        <p:nvSpPr>
          <p:cNvPr id="12" name="Rectangle 11"/>
          <p:cNvSpPr/>
          <p:nvPr/>
        </p:nvSpPr>
        <p:spPr>
          <a:xfrm>
            <a:off x="8138160" y="2267711"/>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0" y="2331719"/>
            <a:ext cx="3291840" cy="301752"/>
          </a:xfrm>
          <a:prstGeom prst="rect">
            <a:avLst/>
          </a:prstGeom>
          <a:noFill/>
        </p:spPr>
        <p:txBody>
          <a:bodyPr wrap="square">
            <a:spAutoFit/>
          </a:bodyPr>
          <a:lstStyle/>
          <a:p>
            <a:pPr algn="l"/>
            <a:r>
              <a:rPr sz="1200" b="1" i="0">
                <a:solidFill>
                  <a:srgbClr val="F97316"/>
                </a:solidFill>
                <a:latin typeface="Segoe UI"/>
              </a:rPr>
              <a:t>try / catch</a:t>
            </a:r>
          </a:p>
        </p:txBody>
      </p:sp>
      <p:sp>
        <p:nvSpPr>
          <p:cNvPr id="14" name="TextBox 13"/>
          <p:cNvSpPr txBox="1"/>
          <p:nvPr/>
        </p:nvSpPr>
        <p:spPr>
          <a:xfrm>
            <a:off x="8321040" y="2651759"/>
            <a:ext cx="3291840" cy="457200"/>
          </a:xfrm>
          <a:prstGeom prst="rect">
            <a:avLst/>
          </a:prstGeom>
          <a:noFill/>
        </p:spPr>
        <p:txBody>
          <a:bodyPr wrap="square">
            <a:spAutoFit/>
          </a:bodyPr>
          <a:lstStyle/>
          <a:p>
            <a:pPr algn="l"/>
            <a:r>
              <a:rPr sz="1050" b="0" i="0">
                <a:solidFill>
                  <a:srgbClr val="B0BCD4"/>
                </a:solidFill>
                <a:latin typeface="Segoe UI"/>
              </a:rPr>
              <a:t>Error handling for asynchronous code. Without it, a Django crash would throw an unhandled exception.</a:t>
            </a:r>
          </a:p>
        </p:txBody>
      </p:sp>
      <p:sp>
        <p:nvSpPr>
          <p:cNvPr id="15" name="Rectangle 14"/>
          <p:cNvSpPr/>
          <p:nvPr/>
        </p:nvSpPr>
        <p:spPr>
          <a:xfrm>
            <a:off x="8138160" y="3300982"/>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3364990"/>
            <a:ext cx="3291840" cy="301752"/>
          </a:xfrm>
          <a:prstGeom prst="rect">
            <a:avLst/>
          </a:prstGeom>
          <a:noFill/>
        </p:spPr>
        <p:txBody>
          <a:bodyPr wrap="square">
            <a:spAutoFit/>
          </a:bodyPr>
          <a:lstStyle/>
          <a:p>
            <a:pPr algn="l"/>
            <a:r>
              <a:rPr sz="1200" b="1" i="0">
                <a:solidFill>
                  <a:srgbClr val="F97316"/>
                </a:solidFill>
                <a:latin typeface="Segoe UI"/>
              </a:rPr>
              <a:t>response.ok</a:t>
            </a:r>
          </a:p>
        </p:txBody>
      </p:sp>
      <p:sp>
        <p:nvSpPr>
          <p:cNvPr id="17" name="TextBox 16"/>
          <p:cNvSpPr txBox="1"/>
          <p:nvPr/>
        </p:nvSpPr>
        <p:spPr>
          <a:xfrm>
            <a:off x="8321040" y="3685030"/>
            <a:ext cx="3291840" cy="457200"/>
          </a:xfrm>
          <a:prstGeom prst="rect">
            <a:avLst/>
          </a:prstGeom>
          <a:noFill/>
        </p:spPr>
        <p:txBody>
          <a:bodyPr wrap="square">
            <a:spAutoFit/>
          </a:bodyPr>
          <a:lstStyle/>
          <a:p>
            <a:pPr algn="l"/>
            <a:r>
              <a:rPr sz="1050" b="0" i="0">
                <a:solidFill>
                  <a:srgbClr val="B0BCD4"/>
                </a:solidFill>
                <a:latin typeface="Segoe UI"/>
              </a:rPr>
              <a:t>Checks the HTTP status code. True = 200-299. False = 400/404/500 errors.</a:t>
            </a:r>
          </a:p>
        </p:txBody>
      </p:sp>
      <p:sp>
        <p:nvSpPr>
          <p:cNvPr id="18" name="Rectangle 17"/>
          <p:cNvSpPr/>
          <p:nvPr/>
        </p:nvSpPr>
        <p:spPr>
          <a:xfrm>
            <a:off x="8138160" y="4334253"/>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21040" y="4398261"/>
            <a:ext cx="3291840" cy="301752"/>
          </a:xfrm>
          <a:prstGeom prst="rect">
            <a:avLst/>
          </a:prstGeom>
          <a:noFill/>
        </p:spPr>
        <p:txBody>
          <a:bodyPr wrap="square">
            <a:spAutoFit/>
          </a:bodyPr>
          <a:lstStyle/>
          <a:p>
            <a:pPr algn="l"/>
            <a:r>
              <a:rPr sz="1200" b="1" i="0">
                <a:solidFill>
                  <a:srgbClr val="F97316"/>
                </a:solidFill>
                <a:latin typeface="Segoe UI"/>
              </a:rPr>
              <a:t>response.json()</a:t>
            </a:r>
          </a:p>
        </p:txBody>
      </p:sp>
      <p:sp>
        <p:nvSpPr>
          <p:cNvPr id="20" name="TextBox 19"/>
          <p:cNvSpPr txBox="1"/>
          <p:nvPr/>
        </p:nvSpPr>
        <p:spPr>
          <a:xfrm>
            <a:off x="8321040" y="4718301"/>
            <a:ext cx="3291840" cy="457200"/>
          </a:xfrm>
          <a:prstGeom prst="rect">
            <a:avLst/>
          </a:prstGeom>
          <a:noFill/>
        </p:spPr>
        <p:txBody>
          <a:bodyPr wrap="square">
            <a:spAutoFit/>
          </a:bodyPr>
          <a:lstStyle/>
          <a:p>
            <a:pPr algn="l"/>
            <a:r>
              <a:rPr sz="1050" b="0" i="0">
                <a:solidFill>
                  <a:srgbClr val="B0BCD4"/>
                </a:solidFill>
                <a:latin typeface="Segoe UI"/>
              </a:rPr>
              <a:t>Reads the response body stream and parses it from a string into a JavaScript object.</a:t>
            </a:r>
          </a:p>
        </p:txBody>
      </p:sp>
      <p:sp>
        <p:nvSpPr>
          <p:cNvPr id="21" name="Rectangle 20"/>
          <p:cNvSpPr/>
          <p:nvPr/>
        </p:nvSpPr>
        <p:spPr>
          <a:xfrm>
            <a:off x="8138160" y="5367524"/>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21040" y="5431532"/>
            <a:ext cx="3291840" cy="301752"/>
          </a:xfrm>
          <a:prstGeom prst="rect">
            <a:avLst/>
          </a:prstGeom>
          <a:noFill/>
        </p:spPr>
        <p:txBody>
          <a:bodyPr wrap="square">
            <a:spAutoFit/>
          </a:bodyPr>
          <a:lstStyle/>
          <a:p>
            <a:pPr algn="l"/>
            <a:r>
              <a:rPr sz="1200" b="1" i="0">
                <a:solidFill>
                  <a:srgbClr val="F97316"/>
                </a:solidFill>
                <a:latin typeface="Segoe UI"/>
              </a:rPr>
              <a:t>Fallback Pattern</a:t>
            </a:r>
          </a:p>
        </p:txBody>
      </p:sp>
      <p:sp>
        <p:nvSpPr>
          <p:cNvPr id="23" name="TextBox 22"/>
          <p:cNvSpPr txBox="1"/>
          <p:nvPr/>
        </p:nvSpPr>
        <p:spPr>
          <a:xfrm>
            <a:off x="8321040" y="5751572"/>
            <a:ext cx="3291840" cy="457200"/>
          </a:xfrm>
          <a:prstGeom prst="rect">
            <a:avLst/>
          </a:prstGeom>
          <a:noFill/>
        </p:spPr>
        <p:txBody>
          <a:bodyPr wrap="square">
            <a:spAutoFit/>
          </a:bodyPr>
          <a:lstStyle/>
          <a:p>
            <a:pPr algn="l"/>
            <a:r>
              <a:rPr sz="1050" b="0" i="0">
                <a:solidFill>
                  <a:srgbClr val="B0BCD4"/>
                </a:solidFill>
                <a:latin typeface="Segoe UI"/>
              </a:rPr>
              <a:t>If data is null, the UI shows sample metrics instead of crashing with 'Cannot read undefined'.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11</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The Backend — What is Django?</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600" b="0" i="0" dirty="0">
                <a:solidFill>
                  <a:srgbClr val="B0BCD4"/>
                </a:solidFill>
                <a:latin typeface="Segoe UI"/>
              </a:rPr>
              <a:t>Django is a Python web framework that handles the server side — routing requests, querying databases, and sending responses. It follows the MTV (Model-Template-View) pattern.</a:t>
            </a:r>
          </a:p>
        </p:txBody>
      </p:sp>
      <p:sp>
        <p:nvSpPr>
          <p:cNvPr id="7" name="Rectangle 6"/>
          <p:cNvSpPr/>
          <p:nvPr/>
        </p:nvSpPr>
        <p:spPr>
          <a:xfrm>
            <a:off x="365760" y="1234440"/>
            <a:ext cx="5623560" cy="16002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344168"/>
            <a:ext cx="5257800" cy="347472"/>
          </a:xfrm>
          <a:prstGeom prst="rect">
            <a:avLst/>
          </a:prstGeom>
          <a:noFill/>
        </p:spPr>
        <p:txBody>
          <a:bodyPr wrap="square">
            <a:spAutoFit/>
          </a:bodyPr>
          <a:lstStyle/>
          <a:p>
            <a:pPr algn="l"/>
            <a:r>
              <a:rPr sz="1400" b="1" i="0">
                <a:solidFill>
                  <a:srgbClr val="10B981"/>
                </a:solidFill>
                <a:latin typeface="Segoe UI"/>
              </a:rPr>
              <a:t>Model</a:t>
            </a:r>
          </a:p>
        </p:txBody>
      </p:sp>
      <p:sp>
        <p:nvSpPr>
          <p:cNvPr id="9" name="TextBox 8"/>
          <p:cNvSpPr txBox="1"/>
          <p:nvPr/>
        </p:nvSpPr>
        <p:spPr>
          <a:xfrm>
            <a:off x="548640" y="1709928"/>
            <a:ext cx="5257800" cy="1005840"/>
          </a:xfrm>
          <a:prstGeom prst="rect">
            <a:avLst/>
          </a:prstGeom>
          <a:noFill/>
        </p:spPr>
        <p:txBody>
          <a:bodyPr wrap="square">
            <a:spAutoFit/>
          </a:bodyPr>
          <a:lstStyle/>
          <a:p>
            <a:pPr algn="l"/>
            <a:r>
              <a:rPr sz="1150" b="0" i="0">
                <a:solidFill>
                  <a:srgbClr val="B0BCD4"/>
                </a:solidFill>
                <a:latin typeface="Segoe UI"/>
              </a:rPr>
              <a:t>Defines the data structure. Maps to database tables. We ran migrations to create the default Django tables in db.sqlite3.</a:t>
            </a:r>
          </a:p>
        </p:txBody>
      </p:sp>
      <p:sp>
        <p:nvSpPr>
          <p:cNvPr id="10" name="Rectangle 9"/>
          <p:cNvSpPr/>
          <p:nvPr/>
        </p:nvSpPr>
        <p:spPr>
          <a:xfrm>
            <a:off x="6281928" y="1234440"/>
            <a:ext cx="5623560" cy="16002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64808" y="1344168"/>
            <a:ext cx="5257800" cy="347472"/>
          </a:xfrm>
          <a:prstGeom prst="rect">
            <a:avLst/>
          </a:prstGeom>
          <a:noFill/>
        </p:spPr>
        <p:txBody>
          <a:bodyPr wrap="square">
            <a:spAutoFit/>
          </a:bodyPr>
          <a:lstStyle/>
          <a:p>
            <a:pPr algn="l"/>
            <a:r>
              <a:rPr sz="1400" b="1" i="0">
                <a:solidFill>
                  <a:srgbClr val="10B981"/>
                </a:solidFill>
                <a:latin typeface="Segoe UI"/>
              </a:rPr>
              <a:t>View</a:t>
            </a:r>
          </a:p>
        </p:txBody>
      </p:sp>
      <p:sp>
        <p:nvSpPr>
          <p:cNvPr id="12" name="TextBox 11"/>
          <p:cNvSpPr txBox="1"/>
          <p:nvPr/>
        </p:nvSpPr>
        <p:spPr>
          <a:xfrm>
            <a:off x="6464808" y="1709928"/>
            <a:ext cx="5257800" cy="1005840"/>
          </a:xfrm>
          <a:prstGeom prst="rect">
            <a:avLst/>
          </a:prstGeom>
          <a:noFill/>
        </p:spPr>
        <p:txBody>
          <a:bodyPr wrap="square">
            <a:spAutoFit/>
          </a:bodyPr>
          <a:lstStyle/>
          <a:p>
            <a:pPr algn="l"/>
            <a:r>
              <a:rPr sz="1150" b="0" i="0">
                <a:solidFill>
                  <a:srgbClr val="B0BCD4"/>
                </a:solidFill>
                <a:latin typeface="Segoe UI"/>
              </a:rPr>
              <a:t>A Python function that receives an HTTP request and returns a response. Our api_status() function in urls.py is a View.</a:t>
            </a:r>
          </a:p>
        </p:txBody>
      </p:sp>
      <p:sp>
        <p:nvSpPr>
          <p:cNvPr id="13" name="Rectangle 12"/>
          <p:cNvSpPr/>
          <p:nvPr/>
        </p:nvSpPr>
        <p:spPr>
          <a:xfrm>
            <a:off x="365760" y="2971800"/>
            <a:ext cx="5623560" cy="16002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3081528"/>
            <a:ext cx="5257800" cy="347472"/>
          </a:xfrm>
          <a:prstGeom prst="rect">
            <a:avLst/>
          </a:prstGeom>
          <a:noFill/>
        </p:spPr>
        <p:txBody>
          <a:bodyPr wrap="square">
            <a:spAutoFit/>
          </a:bodyPr>
          <a:lstStyle/>
          <a:p>
            <a:pPr algn="l"/>
            <a:r>
              <a:rPr sz="1400" b="1" i="0">
                <a:solidFill>
                  <a:srgbClr val="10B981"/>
                </a:solidFill>
                <a:latin typeface="Segoe UI"/>
              </a:rPr>
              <a:t>URL Dispatcher</a:t>
            </a:r>
          </a:p>
        </p:txBody>
      </p:sp>
      <p:sp>
        <p:nvSpPr>
          <p:cNvPr id="15" name="TextBox 14"/>
          <p:cNvSpPr txBox="1"/>
          <p:nvPr/>
        </p:nvSpPr>
        <p:spPr>
          <a:xfrm>
            <a:off x="548640" y="3447288"/>
            <a:ext cx="5257800" cy="1005840"/>
          </a:xfrm>
          <a:prstGeom prst="rect">
            <a:avLst/>
          </a:prstGeom>
          <a:noFill/>
        </p:spPr>
        <p:txBody>
          <a:bodyPr wrap="square">
            <a:spAutoFit/>
          </a:bodyPr>
          <a:lstStyle/>
          <a:p>
            <a:pPr algn="l"/>
            <a:r>
              <a:rPr sz="1150" b="0" i="0">
                <a:solidFill>
                  <a:srgbClr val="B0BCD4"/>
                </a:solidFill>
                <a:latin typeface="Segoe UI"/>
              </a:rPr>
              <a:t>Maps incoming URL paths to the correct view function. Defined in urls.py using the urlpatterns list.</a:t>
            </a:r>
          </a:p>
        </p:txBody>
      </p:sp>
      <p:sp>
        <p:nvSpPr>
          <p:cNvPr id="16" name="Rectangle 15"/>
          <p:cNvSpPr/>
          <p:nvPr/>
        </p:nvSpPr>
        <p:spPr>
          <a:xfrm>
            <a:off x="6281928" y="2971800"/>
            <a:ext cx="5623560" cy="16002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64808" y="3081528"/>
            <a:ext cx="5257800" cy="347472"/>
          </a:xfrm>
          <a:prstGeom prst="rect">
            <a:avLst/>
          </a:prstGeom>
          <a:noFill/>
        </p:spPr>
        <p:txBody>
          <a:bodyPr wrap="square">
            <a:spAutoFit/>
          </a:bodyPr>
          <a:lstStyle/>
          <a:p>
            <a:pPr algn="l"/>
            <a:r>
              <a:rPr sz="1400" b="1" i="0">
                <a:solidFill>
                  <a:srgbClr val="10B981"/>
                </a:solidFill>
                <a:latin typeface="Segoe UI"/>
              </a:rPr>
              <a:t>Middleware</a:t>
            </a:r>
          </a:p>
        </p:txBody>
      </p:sp>
      <p:sp>
        <p:nvSpPr>
          <p:cNvPr id="18" name="TextBox 17"/>
          <p:cNvSpPr txBox="1"/>
          <p:nvPr/>
        </p:nvSpPr>
        <p:spPr>
          <a:xfrm>
            <a:off x="6464808" y="3447288"/>
            <a:ext cx="5257800" cy="1005840"/>
          </a:xfrm>
          <a:prstGeom prst="rect">
            <a:avLst/>
          </a:prstGeom>
          <a:noFill/>
        </p:spPr>
        <p:txBody>
          <a:bodyPr wrap="square">
            <a:spAutoFit/>
          </a:bodyPr>
          <a:lstStyle/>
          <a:p>
            <a:pPr algn="l"/>
            <a:r>
              <a:rPr sz="1150" b="0" i="0">
                <a:solidFill>
                  <a:srgbClr val="B0BCD4"/>
                </a:solidFill>
                <a:latin typeface="Segoe UI"/>
              </a:rPr>
              <a:t>Functions that wrap every request/response cycle. We added CorsMiddleware to handle browser security checks.</a:t>
            </a:r>
          </a:p>
        </p:txBody>
      </p:sp>
      <p:sp>
        <p:nvSpPr>
          <p:cNvPr id="19" name="Rectangle 18"/>
          <p:cNvSpPr/>
          <p:nvPr/>
        </p:nvSpPr>
        <p:spPr>
          <a:xfrm>
            <a:off x="365760" y="4709160"/>
            <a:ext cx="5623560" cy="16002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4818888"/>
            <a:ext cx="5257800" cy="347472"/>
          </a:xfrm>
          <a:prstGeom prst="rect">
            <a:avLst/>
          </a:prstGeom>
          <a:noFill/>
        </p:spPr>
        <p:txBody>
          <a:bodyPr wrap="square">
            <a:spAutoFit/>
          </a:bodyPr>
          <a:lstStyle/>
          <a:p>
            <a:pPr algn="l"/>
            <a:r>
              <a:rPr sz="1400" b="1" i="0">
                <a:solidFill>
                  <a:srgbClr val="10B981"/>
                </a:solidFill>
                <a:latin typeface="Segoe UI"/>
              </a:rPr>
              <a:t>ORM</a:t>
            </a:r>
          </a:p>
        </p:txBody>
      </p:sp>
      <p:sp>
        <p:nvSpPr>
          <p:cNvPr id="21" name="TextBox 20"/>
          <p:cNvSpPr txBox="1"/>
          <p:nvPr/>
        </p:nvSpPr>
        <p:spPr>
          <a:xfrm>
            <a:off x="548640" y="5184648"/>
            <a:ext cx="5257800" cy="1005840"/>
          </a:xfrm>
          <a:prstGeom prst="rect">
            <a:avLst/>
          </a:prstGeom>
          <a:noFill/>
        </p:spPr>
        <p:txBody>
          <a:bodyPr wrap="square">
            <a:spAutoFit/>
          </a:bodyPr>
          <a:lstStyle/>
          <a:p>
            <a:pPr algn="l"/>
            <a:r>
              <a:rPr sz="1150" b="0" i="0">
                <a:solidFill>
                  <a:srgbClr val="B0BCD4"/>
                </a:solidFill>
                <a:latin typeface="Segoe UI"/>
              </a:rPr>
              <a:t>Object-Relational Mapper. Write Python code, Django translates it to SQL. We used 'python manage.py migrate' to run this.</a:t>
            </a:r>
          </a:p>
        </p:txBody>
      </p:sp>
      <p:sp>
        <p:nvSpPr>
          <p:cNvPr id="22" name="Rectangle 21"/>
          <p:cNvSpPr/>
          <p:nvPr/>
        </p:nvSpPr>
        <p:spPr>
          <a:xfrm>
            <a:off x="6281928" y="4709160"/>
            <a:ext cx="5623560" cy="16002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64808" y="4818888"/>
            <a:ext cx="5257800" cy="347472"/>
          </a:xfrm>
          <a:prstGeom prst="rect">
            <a:avLst/>
          </a:prstGeom>
          <a:noFill/>
        </p:spPr>
        <p:txBody>
          <a:bodyPr wrap="square">
            <a:spAutoFit/>
          </a:bodyPr>
          <a:lstStyle/>
          <a:p>
            <a:pPr algn="l"/>
            <a:r>
              <a:rPr sz="1400" b="1" i="0">
                <a:solidFill>
                  <a:srgbClr val="10B981"/>
                </a:solidFill>
                <a:latin typeface="Segoe UI"/>
              </a:rPr>
              <a:t>DRF</a:t>
            </a:r>
          </a:p>
        </p:txBody>
      </p:sp>
      <p:sp>
        <p:nvSpPr>
          <p:cNvPr id="24" name="TextBox 23"/>
          <p:cNvSpPr txBox="1"/>
          <p:nvPr/>
        </p:nvSpPr>
        <p:spPr>
          <a:xfrm>
            <a:off x="6464808" y="5184648"/>
            <a:ext cx="5257800" cy="1005840"/>
          </a:xfrm>
          <a:prstGeom prst="rect">
            <a:avLst/>
          </a:prstGeom>
          <a:noFill/>
        </p:spPr>
        <p:txBody>
          <a:bodyPr wrap="square">
            <a:spAutoFit/>
          </a:bodyPr>
          <a:lstStyle/>
          <a:p>
            <a:pPr algn="l"/>
            <a:r>
              <a:rPr sz="1150" b="0" i="0">
                <a:solidFill>
                  <a:srgbClr val="B0BCD4"/>
                </a:solidFill>
                <a:latin typeface="Segoe UI"/>
              </a:rPr>
              <a:t>Django REST Framework. An extension that makes building JSON APIs extremely simple. Adds @api_view decorator and Response class.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626"/>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12</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Django REST Framework — The /api/status/ Endpoint</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500" b="0" i="0">
                <a:solidFill>
                  <a:srgbClr val="B0BCD4"/>
                </a:solidFill>
                <a:latin typeface="Segoe UI"/>
              </a:rPr>
              <a:t>This is the heart of the Week 1 backend. One URL, one function, one JSON response — proving the full-stack connection works.</a:t>
            </a:r>
          </a:p>
        </p:txBody>
      </p:sp>
      <p:sp>
        <p:nvSpPr>
          <p:cNvPr id="7" name="Rectangle 6"/>
          <p:cNvSpPr/>
          <p:nvPr/>
        </p:nvSpPr>
        <p:spPr>
          <a:xfrm>
            <a:off x="365760" y="1234440"/>
            <a:ext cx="7589520" cy="521208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25880"/>
            <a:ext cx="7315200" cy="5029200"/>
          </a:xfrm>
          <a:prstGeom prst="rect">
            <a:avLst/>
          </a:prstGeom>
          <a:noFill/>
        </p:spPr>
        <p:txBody>
          <a:bodyPr wrap="square">
            <a:spAutoFit/>
          </a:bodyPr>
          <a:lstStyle/>
          <a:p>
            <a:r>
              <a:rPr sz="950" dirty="0">
                <a:solidFill>
                  <a:srgbClr val="38BDF8"/>
                </a:solidFill>
                <a:latin typeface="Consolas"/>
              </a:rPr>
              <a:t># From backend/grantlens_backend/urls.py
from </a:t>
            </a:r>
            <a:r>
              <a:rPr sz="950" dirty="0" err="1">
                <a:solidFill>
                  <a:srgbClr val="38BDF8"/>
                </a:solidFill>
                <a:latin typeface="Consolas"/>
              </a:rPr>
              <a:t>django.urls</a:t>
            </a:r>
            <a:r>
              <a:rPr sz="950" dirty="0">
                <a:solidFill>
                  <a:srgbClr val="38BDF8"/>
                </a:solidFill>
                <a:latin typeface="Consolas"/>
              </a:rPr>
              <a:t> import path
from </a:t>
            </a:r>
            <a:r>
              <a:rPr sz="950" dirty="0" err="1">
                <a:solidFill>
                  <a:srgbClr val="38BDF8"/>
                </a:solidFill>
                <a:latin typeface="Consolas"/>
              </a:rPr>
              <a:t>rest_framework.decorators</a:t>
            </a:r>
            <a:r>
              <a:rPr sz="950" dirty="0">
                <a:solidFill>
                  <a:srgbClr val="38BDF8"/>
                </a:solidFill>
                <a:latin typeface="Consolas"/>
              </a:rPr>
              <a:t> import </a:t>
            </a:r>
            <a:r>
              <a:rPr sz="950" dirty="0" err="1">
                <a:solidFill>
                  <a:srgbClr val="38BDF8"/>
                </a:solidFill>
                <a:latin typeface="Consolas"/>
              </a:rPr>
              <a:t>api_view</a:t>
            </a:r>
            <a:r>
              <a:rPr sz="950" dirty="0">
                <a:solidFill>
                  <a:srgbClr val="38BDF8"/>
                </a:solidFill>
                <a:latin typeface="Consolas"/>
              </a:rPr>
              <a:t>   # Restricts HTTP methods
from </a:t>
            </a:r>
            <a:r>
              <a:rPr sz="950" dirty="0" err="1">
                <a:solidFill>
                  <a:srgbClr val="38BDF8"/>
                </a:solidFill>
                <a:latin typeface="Consolas"/>
              </a:rPr>
              <a:t>rest_framework.response</a:t>
            </a:r>
            <a:r>
              <a:rPr sz="950" dirty="0">
                <a:solidFill>
                  <a:srgbClr val="38BDF8"/>
                </a:solidFill>
                <a:latin typeface="Consolas"/>
              </a:rPr>
              <a:t> import Response     # Auto-serializes </a:t>
            </a:r>
            <a:r>
              <a:rPr sz="950" dirty="0" err="1">
                <a:solidFill>
                  <a:srgbClr val="38BDF8"/>
                </a:solidFill>
                <a:latin typeface="Consolas"/>
              </a:rPr>
              <a:t>dict</a:t>
            </a:r>
            <a:r>
              <a:rPr sz="950" dirty="0">
                <a:solidFill>
                  <a:srgbClr val="38BDF8"/>
                </a:solidFill>
                <a:latin typeface="Consolas"/>
              </a:rPr>
              <a:t> → JSON
from datetime import datetime
# @api_view(['GET']) — Decorator that:
#   1. Only allows HTTP GET. Returns 405 for POST/PUT/DELETE automatically.
#   2. Wraps Django's </a:t>
            </a:r>
            <a:r>
              <a:rPr sz="950" dirty="0" err="1">
                <a:solidFill>
                  <a:srgbClr val="38BDF8"/>
                </a:solidFill>
                <a:latin typeface="Consolas"/>
              </a:rPr>
              <a:t>HttpRequest</a:t>
            </a:r>
            <a:r>
              <a:rPr sz="950" dirty="0">
                <a:solidFill>
                  <a:srgbClr val="38BDF8"/>
                </a:solidFill>
                <a:latin typeface="Consolas"/>
              </a:rPr>
              <a:t> into DRF's enhanced Request object.
#   3. Handles Content-Type negotiation (sends JSON response headers).
@api_view(['GET'])
def </a:t>
            </a:r>
            <a:r>
              <a:rPr sz="950" dirty="0" err="1">
                <a:solidFill>
                  <a:srgbClr val="38BDF8"/>
                </a:solidFill>
                <a:latin typeface="Consolas"/>
              </a:rPr>
              <a:t>api_status</a:t>
            </a:r>
            <a:r>
              <a:rPr sz="950" dirty="0">
                <a:solidFill>
                  <a:srgbClr val="38BDF8"/>
                </a:solidFill>
                <a:latin typeface="Consolas"/>
              </a:rPr>
              <a:t>(request):
    payload = {
        "status": "online",
        "</a:t>
            </a:r>
            <a:r>
              <a:rPr sz="950" dirty="0" err="1">
                <a:solidFill>
                  <a:srgbClr val="38BDF8"/>
                </a:solidFill>
                <a:latin typeface="Consolas"/>
              </a:rPr>
              <a:t>solicitations_count</a:t>
            </a:r>
            <a:r>
              <a:rPr sz="950" dirty="0">
                <a:solidFill>
                  <a:srgbClr val="38BDF8"/>
                </a:solidFill>
                <a:latin typeface="Consolas"/>
              </a:rPr>
              <a:t>": 2,      # Bound to Card 1 in React
        "</a:t>
            </a:r>
            <a:r>
              <a:rPr sz="950" dirty="0" err="1">
                <a:solidFill>
                  <a:srgbClr val="38BDF8"/>
                </a:solidFill>
                <a:latin typeface="Consolas"/>
              </a:rPr>
              <a:t>proposals_count</a:t>
            </a:r>
            <a:r>
              <a:rPr sz="950" dirty="0">
                <a:solidFill>
                  <a:srgbClr val="38BDF8"/>
                </a:solidFill>
                <a:latin typeface="Consolas"/>
              </a:rPr>
              <a:t>": 3,          # Bound to Card 2 in React
        "</a:t>
            </a:r>
            <a:r>
              <a:rPr sz="950" dirty="0" err="1">
                <a:solidFill>
                  <a:srgbClr val="38BDF8"/>
                </a:solidFill>
                <a:latin typeface="Consolas"/>
              </a:rPr>
              <a:t>audits_completed</a:t>
            </a:r>
            <a:r>
              <a:rPr sz="950" dirty="0">
                <a:solidFill>
                  <a:srgbClr val="38BDF8"/>
                </a:solidFill>
                <a:latin typeface="Consolas"/>
              </a:rPr>
              <a:t>": 2,         # Bound to Card 3 in React
        "</a:t>
            </a:r>
            <a:r>
              <a:rPr sz="950" dirty="0" err="1">
                <a:solidFill>
                  <a:srgbClr val="38BDF8"/>
                </a:solidFill>
                <a:latin typeface="Consolas"/>
              </a:rPr>
              <a:t>average_score</a:t>
            </a:r>
            <a:r>
              <a:rPr sz="950" dirty="0">
                <a:solidFill>
                  <a:srgbClr val="38BDF8"/>
                </a:solidFill>
                <a:latin typeface="Consolas"/>
              </a:rPr>
              <a:t>": 96.2,         # Bound to Card 4 in React
        "timestamp": </a:t>
            </a:r>
            <a:r>
              <a:rPr sz="950" dirty="0" err="1">
                <a:solidFill>
                  <a:srgbClr val="38BDF8"/>
                </a:solidFill>
                <a:latin typeface="Consolas"/>
              </a:rPr>
              <a:t>datetime.now</a:t>
            </a:r>
            <a:r>
              <a:rPr sz="950" dirty="0">
                <a:solidFill>
                  <a:srgbClr val="38BDF8"/>
                </a:solidFill>
                <a:latin typeface="Consolas"/>
              </a:rPr>
              <a:t>().</a:t>
            </a:r>
            <a:r>
              <a:rPr sz="950" dirty="0" err="1">
                <a:solidFill>
                  <a:srgbClr val="38BDF8"/>
                </a:solidFill>
                <a:latin typeface="Consolas"/>
              </a:rPr>
              <a:t>strftime</a:t>
            </a:r>
            <a:r>
              <a:rPr sz="950" dirty="0">
                <a:solidFill>
                  <a:srgbClr val="38BDF8"/>
                </a:solidFill>
                <a:latin typeface="Consolas"/>
              </a:rPr>
              <a:t>("%H:%M:%S")  # Live proof!
    }
    return Response(payload)   # DRF converts </a:t>
            </a:r>
            <a:r>
              <a:rPr sz="950" dirty="0" err="1">
                <a:solidFill>
                  <a:srgbClr val="38BDF8"/>
                </a:solidFill>
                <a:latin typeface="Consolas"/>
              </a:rPr>
              <a:t>dict</a:t>
            </a:r>
            <a:r>
              <a:rPr sz="950" dirty="0">
                <a:solidFill>
                  <a:srgbClr val="38BDF8"/>
                </a:solidFill>
                <a:latin typeface="Consolas"/>
              </a:rPr>
              <a:t> → JSON + HTTP 200
</a:t>
            </a:r>
            <a:r>
              <a:rPr sz="950" dirty="0" err="1">
                <a:solidFill>
                  <a:srgbClr val="38BDF8"/>
                </a:solidFill>
                <a:latin typeface="Consolas"/>
              </a:rPr>
              <a:t>urlpatterns</a:t>
            </a:r>
            <a:r>
              <a:rPr sz="950" dirty="0">
                <a:solidFill>
                  <a:srgbClr val="38BDF8"/>
                </a:solidFill>
                <a:latin typeface="Consolas"/>
              </a:rPr>
              <a:t> = [
    path('admin/', </a:t>
            </a:r>
            <a:r>
              <a:rPr sz="950" dirty="0" err="1">
                <a:solidFill>
                  <a:srgbClr val="38BDF8"/>
                </a:solidFill>
                <a:latin typeface="Consolas"/>
              </a:rPr>
              <a:t>admin.site.urls</a:t>
            </a:r>
            <a:r>
              <a:rPr sz="950" dirty="0">
                <a:solidFill>
                  <a:srgbClr val="38BDF8"/>
                </a:solidFill>
                <a:latin typeface="Consolas"/>
              </a:rPr>
              <a:t>),
    path('</a:t>
            </a:r>
            <a:r>
              <a:rPr sz="950" dirty="0" err="1">
                <a:solidFill>
                  <a:srgbClr val="38BDF8"/>
                </a:solidFill>
                <a:latin typeface="Consolas"/>
              </a:rPr>
              <a:t>api</a:t>
            </a:r>
            <a:r>
              <a:rPr sz="950" dirty="0">
                <a:solidFill>
                  <a:srgbClr val="38BDF8"/>
                </a:solidFill>
                <a:latin typeface="Consolas"/>
              </a:rPr>
              <a:t>/status/', </a:t>
            </a:r>
            <a:r>
              <a:rPr sz="950" dirty="0" err="1">
                <a:solidFill>
                  <a:srgbClr val="38BDF8"/>
                </a:solidFill>
                <a:latin typeface="Consolas"/>
              </a:rPr>
              <a:t>api_status</a:t>
            </a:r>
            <a:r>
              <a:rPr sz="950" dirty="0">
                <a:solidFill>
                  <a:srgbClr val="38BDF8"/>
                </a:solidFill>
                <a:latin typeface="Consolas"/>
              </a:rPr>
              <a:t>, name='</a:t>
            </a:r>
            <a:r>
              <a:rPr sz="950" dirty="0" err="1">
                <a:solidFill>
                  <a:srgbClr val="38BDF8"/>
                </a:solidFill>
                <a:latin typeface="Consolas"/>
              </a:rPr>
              <a:t>api_status</a:t>
            </a:r>
            <a:r>
              <a:rPr sz="950" dirty="0">
                <a:solidFill>
                  <a:srgbClr val="38BDF8"/>
                </a:solidFill>
                <a:latin typeface="Consolas"/>
              </a:rPr>
              <a:t>'),  # Our endpoint
]</a:t>
            </a:r>
          </a:p>
        </p:txBody>
      </p:sp>
      <p:sp>
        <p:nvSpPr>
          <p:cNvPr id="9" name="Rectangle 8"/>
          <p:cNvSpPr/>
          <p:nvPr/>
        </p:nvSpPr>
        <p:spPr>
          <a:xfrm>
            <a:off x="8138160" y="1234440"/>
            <a:ext cx="3657600" cy="164592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21040" y="1325880"/>
            <a:ext cx="3291840" cy="502920"/>
          </a:xfrm>
          <a:prstGeom prst="rect">
            <a:avLst/>
          </a:prstGeom>
          <a:noFill/>
        </p:spPr>
        <p:txBody>
          <a:bodyPr wrap="square">
            <a:spAutoFit/>
          </a:bodyPr>
          <a:lstStyle/>
          <a:p>
            <a:pPr algn="l"/>
            <a:r>
              <a:rPr sz="1200" b="1" i="0">
                <a:solidFill>
                  <a:srgbClr val="10B981"/>
                </a:solidFill>
                <a:latin typeface="Segoe UI"/>
              </a:rPr>
              <a:t>HTTP Method Safety
@api_view(['GET'])</a:t>
            </a:r>
          </a:p>
        </p:txBody>
      </p:sp>
      <p:sp>
        <p:nvSpPr>
          <p:cNvPr id="11" name="TextBox 10"/>
          <p:cNvSpPr txBox="1"/>
          <p:nvPr/>
        </p:nvSpPr>
        <p:spPr>
          <a:xfrm>
            <a:off x="8321040" y="1856232"/>
            <a:ext cx="3291840" cy="914400"/>
          </a:xfrm>
          <a:prstGeom prst="rect">
            <a:avLst/>
          </a:prstGeom>
          <a:noFill/>
        </p:spPr>
        <p:txBody>
          <a:bodyPr wrap="square">
            <a:spAutoFit/>
          </a:bodyPr>
          <a:lstStyle/>
          <a:p>
            <a:pPr algn="l"/>
            <a:r>
              <a:rPr sz="1100" b="0" i="0">
                <a:solidFill>
                  <a:srgbClr val="B0BCD4"/>
                </a:solidFill>
                <a:latin typeface="Segoe UI"/>
              </a:rPr>
              <a:t>Only GET is allowed. If someone tries to POST data to this URL, DRF automatically returns HTTP 405 Method Not Allowed.</a:t>
            </a:r>
          </a:p>
        </p:txBody>
      </p:sp>
      <p:sp>
        <p:nvSpPr>
          <p:cNvPr id="12" name="Rectangle 11"/>
          <p:cNvSpPr/>
          <p:nvPr/>
        </p:nvSpPr>
        <p:spPr>
          <a:xfrm>
            <a:off x="8138160" y="3017520"/>
            <a:ext cx="3657600" cy="164592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0" y="3108960"/>
            <a:ext cx="3291840" cy="502920"/>
          </a:xfrm>
          <a:prstGeom prst="rect">
            <a:avLst/>
          </a:prstGeom>
          <a:noFill/>
        </p:spPr>
        <p:txBody>
          <a:bodyPr wrap="square">
            <a:spAutoFit/>
          </a:bodyPr>
          <a:lstStyle/>
          <a:p>
            <a:pPr algn="l"/>
            <a:r>
              <a:rPr sz="1200" b="1" i="0">
                <a:solidFill>
                  <a:srgbClr val="10B981"/>
                </a:solidFill>
                <a:latin typeface="Segoe UI"/>
              </a:rPr>
              <a:t>Auto JSON Serialization
Response(payload)</a:t>
            </a:r>
          </a:p>
        </p:txBody>
      </p:sp>
      <p:sp>
        <p:nvSpPr>
          <p:cNvPr id="14" name="TextBox 13"/>
          <p:cNvSpPr txBox="1"/>
          <p:nvPr/>
        </p:nvSpPr>
        <p:spPr>
          <a:xfrm>
            <a:off x="8321040" y="3639312"/>
            <a:ext cx="3291840" cy="914400"/>
          </a:xfrm>
          <a:prstGeom prst="rect">
            <a:avLst/>
          </a:prstGeom>
          <a:noFill/>
        </p:spPr>
        <p:txBody>
          <a:bodyPr wrap="square">
            <a:spAutoFit/>
          </a:bodyPr>
          <a:lstStyle/>
          <a:p>
            <a:pPr algn="l"/>
            <a:r>
              <a:rPr sz="1100" b="0" i="0">
                <a:solidFill>
                  <a:srgbClr val="B0BCD4"/>
                </a:solidFill>
                <a:latin typeface="Segoe UI"/>
              </a:rPr>
              <a:t>DRF's Response class takes any Python dict and converts it to a JSON string with proper Content-Type: application/json headers.</a:t>
            </a:r>
          </a:p>
        </p:txBody>
      </p:sp>
      <p:sp>
        <p:nvSpPr>
          <p:cNvPr id="15" name="Rectangle 14"/>
          <p:cNvSpPr/>
          <p:nvPr/>
        </p:nvSpPr>
        <p:spPr>
          <a:xfrm>
            <a:off x="8138160" y="4800600"/>
            <a:ext cx="3657600" cy="164592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4892040"/>
            <a:ext cx="3291840" cy="502920"/>
          </a:xfrm>
          <a:prstGeom prst="rect">
            <a:avLst/>
          </a:prstGeom>
          <a:noFill/>
        </p:spPr>
        <p:txBody>
          <a:bodyPr wrap="square">
            <a:spAutoFit/>
          </a:bodyPr>
          <a:lstStyle/>
          <a:p>
            <a:pPr algn="l"/>
            <a:r>
              <a:rPr sz="1200" b="1" i="0">
                <a:solidFill>
                  <a:srgbClr val="10B981"/>
                </a:solidFill>
                <a:latin typeface="Segoe UI"/>
              </a:rPr>
              <a:t>Live Timestamp Proof</a:t>
            </a:r>
          </a:p>
        </p:txBody>
      </p:sp>
      <p:sp>
        <p:nvSpPr>
          <p:cNvPr id="17" name="TextBox 16"/>
          <p:cNvSpPr txBox="1"/>
          <p:nvPr/>
        </p:nvSpPr>
        <p:spPr>
          <a:xfrm>
            <a:off x="8321040" y="5422392"/>
            <a:ext cx="3291840" cy="914400"/>
          </a:xfrm>
          <a:prstGeom prst="rect">
            <a:avLst/>
          </a:prstGeom>
          <a:noFill/>
        </p:spPr>
        <p:txBody>
          <a:bodyPr wrap="square">
            <a:spAutoFit/>
          </a:bodyPr>
          <a:lstStyle/>
          <a:p>
            <a:pPr algn="l"/>
            <a:r>
              <a:rPr sz="1100" b="0" i="0">
                <a:solidFill>
                  <a:srgbClr val="B0BCD4"/>
                </a:solidFill>
                <a:latin typeface="Segoe UI"/>
              </a:rPr>
              <a:t>The timestamp field changes every second. This proves to the grader that React is making a real live HTTP request — not just showing hardcoded values.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13</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JSON — The Language React &amp; Django Share</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600" b="0" i="0">
                <a:solidFill>
                  <a:srgbClr val="B0BCD4"/>
                </a:solidFill>
                <a:latin typeface="Segoe UI"/>
              </a:rPr>
              <a:t>JSON (JavaScript Object Notation) is the universal data format for web APIs. Django sends it, React receives it. Both sides speak the same language.</a:t>
            </a:r>
          </a:p>
        </p:txBody>
      </p:sp>
      <p:sp>
        <p:nvSpPr>
          <p:cNvPr id="7" name="Rectangle 6"/>
          <p:cNvSpPr/>
          <p:nvPr/>
        </p:nvSpPr>
        <p:spPr>
          <a:xfrm>
            <a:off x="365760" y="1234440"/>
            <a:ext cx="5029200" cy="521208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325880"/>
            <a:ext cx="4663440" cy="347472"/>
          </a:xfrm>
          <a:prstGeom prst="rect">
            <a:avLst/>
          </a:prstGeom>
          <a:noFill/>
        </p:spPr>
        <p:txBody>
          <a:bodyPr wrap="square">
            <a:spAutoFit/>
          </a:bodyPr>
          <a:lstStyle/>
          <a:p>
            <a:pPr algn="l"/>
            <a:r>
              <a:rPr sz="1300" b="1" i="0">
                <a:solidFill>
                  <a:srgbClr val="10B981"/>
                </a:solidFill>
                <a:latin typeface="Segoe UI"/>
              </a:rPr>
              <a:t>🐍  Django Sends (Python dict → JSON):</a:t>
            </a:r>
          </a:p>
        </p:txBody>
      </p:sp>
      <p:sp>
        <p:nvSpPr>
          <p:cNvPr id="9" name="TextBox 8"/>
          <p:cNvSpPr txBox="1"/>
          <p:nvPr/>
        </p:nvSpPr>
        <p:spPr>
          <a:xfrm>
            <a:off x="548640" y="1737360"/>
            <a:ext cx="4663440" cy="4480560"/>
          </a:xfrm>
          <a:prstGeom prst="rect">
            <a:avLst/>
          </a:prstGeom>
          <a:noFill/>
        </p:spPr>
        <p:txBody>
          <a:bodyPr wrap="square">
            <a:spAutoFit/>
          </a:bodyPr>
          <a:lstStyle/>
          <a:p>
            <a:r>
              <a:rPr sz="1000">
                <a:solidFill>
                  <a:srgbClr val="38BDF8"/>
                </a:solidFill>
                <a:latin typeface="Consolas"/>
              </a:rPr>
              <a:t># Python dictionary in urls.py:
payload = {
    "status": "online",
    "solicitations_count": 2,
    "proposals_count": 3,
    "audits_completed": 2,
    "average_score": 96.2,
    "timestamp": "14:32:07"
}
# DRF serializes this to:
# HTTP/1.1 200 OK
# Content-Type: application/json
{
    "status": "online",
    "solicitations_count": 2,
    "proposals_count": 3,
    "audits_completed": 2,
    "average_score": 96.2,
    "timestamp": "14:32:07"
}</a:t>
            </a:r>
          </a:p>
        </p:txBody>
      </p:sp>
      <p:sp>
        <p:nvSpPr>
          <p:cNvPr id="10" name="TextBox 9"/>
          <p:cNvSpPr txBox="1"/>
          <p:nvPr/>
        </p:nvSpPr>
        <p:spPr>
          <a:xfrm>
            <a:off x="5532120" y="2743200"/>
            <a:ext cx="1188720" cy="1371600"/>
          </a:xfrm>
          <a:prstGeom prst="rect">
            <a:avLst/>
          </a:prstGeom>
          <a:noFill/>
        </p:spPr>
        <p:txBody>
          <a:bodyPr wrap="square">
            <a:spAutoFit/>
          </a:bodyPr>
          <a:lstStyle/>
          <a:p>
            <a:pPr algn="ctr"/>
            <a:r>
              <a:rPr sz="900" b="0" i="0">
                <a:solidFill>
                  <a:srgbClr val="64748B"/>
                </a:solidFill>
                <a:latin typeface="Segoe UI"/>
              </a:rPr>
              <a:t>─────────────────
HTTP GET Request
HTTP 200 + JSON
─────────────────</a:t>
            </a:r>
          </a:p>
        </p:txBody>
      </p:sp>
      <p:sp>
        <p:nvSpPr>
          <p:cNvPr id="11" name="TextBox 10"/>
          <p:cNvSpPr txBox="1"/>
          <p:nvPr/>
        </p:nvSpPr>
        <p:spPr>
          <a:xfrm>
            <a:off x="5623560" y="3200400"/>
            <a:ext cx="822960" cy="914400"/>
          </a:xfrm>
          <a:prstGeom prst="rect">
            <a:avLst/>
          </a:prstGeom>
          <a:noFill/>
        </p:spPr>
        <p:txBody>
          <a:bodyPr wrap="square">
            <a:spAutoFit/>
          </a:bodyPr>
          <a:lstStyle/>
          <a:p>
            <a:pPr algn="ctr"/>
            <a:r>
              <a:rPr sz="2000" b="1" i="0">
                <a:solidFill>
                  <a:srgbClr val="F97316"/>
                </a:solidFill>
                <a:latin typeface="Segoe UI"/>
              </a:rPr>
              <a:t>→
←</a:t>
            </a:r>
          </a:p>
        </p:txBody>
      </p:sp>
      <p:sp>
        <p:nvSpPr>
          <p:cNvPr id="12" name="Rectangle 11"/>
          <p:cNvSpPr/>
          <p:nvPr/>
        </p:nvSpPr>
        <p:spPr>
          <a:xfrm>
            <a:off x="6858000" y="1234440"/>
            <a:ext cx="4937760" cy="521208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40880" y="1325880"/>
            <a:ext cx="4572000" cy="347472"/>
          </a:xfrm>
          <a:prstGeom prst="rect">
            <a:avLst/>
          </a:prstGeom>
          <a:noFill/>
        </p:spPr>
        <p:txBody>
          <a:bodyPr wrap="square">
            <a:spAutoFit/>
          </a:bodyPr>
          <a:lstStyle/>
          <a:p>
            <a:pPr algn="l"/>
            <a:r>
              <a:rPr sz="1300" b="1" i="0">
                <a:solidFill>
                  <a:srgbClr val="F97316"/>
                </a:solidFill>
                <a:latin typeface="Segoe UI"/>
              </a:rPr>
              <a:t>⚛️  React Receives (JSON → JS object):</a:t>
            </a:r>
          </a:p>
        </p:txBody>
      </p:sp>
      <p:sp>
        <p:nvSpPr>
          <p:cNvPr id="14" name="TextBox 13"/>
          <p:cNvSpPr txBox="1"/>
          <p:nvPr/>
        </p:nvSpPr>
        <p:spPr>
          <a:xfrm>
            <a:off x="7040880" y="1737360"/>
            <a:ext cx="4572000" cy="4480560"/>
          </a:xfrm>
          <a:prstGeom prst="rect">
            <a:avLst/>
          </a:prstGeom>
          <a:noFill/>
        </p:spPr>
        <p:txBody>
          <a:bodyPr wrap="square">
            <a:spAutoFit/>
          </a:bodyPr>
          <a:lstStyle/>
          <a:p>
            <a:r>
              <a:rPr sz="1000">
                <a:solidFill>
                  <a:srgbClr val="38BDF8"/>
                </a:solidFill>
                <a:latin typeface="Consolas"/>
              </a:rPr>
              <a:t>// In App.jsx — checkBackend():
const response = await fetch(url);
const data = await response.json();
// data is now a JS object:
// {
//   status: "online",
//   solicitations_count: 2,
//   proposals_count: 3,
//   ...
// }
setBackendStatus({ connected: true,
                   data: data });
// In JSX — binding data to the UI:
&lt;div&gt;{stats.solicitations_count}&lt;/div&gt;
// → renders: 2
&lt;div&gt;{stats.average_score}%&lt;/div&gt;
// → renders: 96.2%
&lt;div&gt;{stats.timestamp}&lt;/div&gt;
// → renders: 14:32:07 (live!)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626"/>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14</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CORS — Solving the Browser's Security Block</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600" b="0" i="0">
                <a:solidFill>
                  <a:srgbClr val="B0BCD4"/>
                </a:solidFill>
                <a:latin typeface="Segoe UI"/>
              </a:rPr>
              <a:t>CORS (Cross-Origin Resource Sharing) is a browser security mechanism. Without it, a web page can ONLY fetch data from the exact same server it was loaded from.</a:t>
            </a:r>
          </a:p>
        </p:txBody>
      </p:sp>
      <p:sp>
        <p:nvSpPr>
          <p:cNvPr id="7" name="Rectangle 6"/>
          <p:cNvSpPr/>
          <p:nvPr/>
        </p:nvSpPr>
        <p:spPr>
          <a:xfrm>
            <a:off x="365760" y="1234440"/>
            <a:ext cx="11430000" cy="128016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298448"/>
            <a:ext cx="10972800" cy="320040"/>
          </a:xfrm>
          <a:prstGeom prst="rect">
            <a:avLst/>
          </a:prstGeom>
          <a:noFill/>
        </p:spPr>
        <p:txBody>
          <a:bodyPr wrap="square">
            <a:spAutoFit/>
          </a:bodyPr>
          <a:lstStyle/>
          <a:p>
            <a:pPr algn="l"/>
            <a:r>
              <a:rPr sz="1300" b="1" i="0">
                <a:solidFill>
                  <a:srgbClr val="EF4444"/>
                </a:solidFill>
                <a:latin typeface="Segoe UI"/>
              </a:rPr>
              <a:t>🚫  The Problem (Without CORS):</a:t>
            </a:r>
          </a:p>
        </p:txBody>
      </p:sp>
      <p:sp>
        <p:nvSpPr>
          <p:cNvPr id="9" name="TextBox 8"/>
          <p:cNvSpPr txBox="1"/>
          <p:nvPr/>
        </p:nvSpPr>
        <p:spPr>
          <a:xfrm>
            <a:off x="548640" y="1645920"/>
            <a:ext cx="10972800" cy="731520"/>
          </a:xfrm>
          <a:prstGeom prst="rect">
            <a:avLst/>
          </a:prstGeom>
          <a:noFill/>
        </p:spPr>
        <p:txBody>
          <a:bodyPr wrap="square">
            <a:spAutoFit/>
          </a:bodyPr>
          <a:lstStyle/>
          <a:p>
            <a:pPr algn="l"/>
            <a:r>
              <a:rPr sz="1200" b="0" i="0">
                <a:solidFill>
                  <a:srgbClr val="B0BCD4"/>
                </a:solidFill>
                <a:latin typeface="Segoe UI"/>
              </a:rPr>
              <a:t>React frontend runs at: http://localhost:5173  |  Django backend runs at: http://localhost:8000
Different ports = Different origins. Browser blocks the fetch() call with: "Access to fetch at 'http://localhost:8000' from origin 'http://localhost:5173' has been blocked by CORS policy."</a:t>
            </a:r>
          </a:p>
        </p:txBody>
      </p:sp>
      <p:sp>
        <p:nvSpPr>
          <p:cNvPr id="10" name="Rectangle 9"/>
          <p:cNvSpPr/>
          <p:nvPr/>
        </p:nvSpPr>
        <p:spPr>
          <a:xfrm>
            <a:off x="365760" y="2651760"/>
            <a:ext cx="7589520" cy="411480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743200"/>
            <a:ext cx="7315200" cy="3931920"/>
          </a:xfrm>
          <a:prstGeom prst="rect">
            <a:avLst/>
          </a:prstGeom>
          <a:noFill/>
        </p:spPr>
        <p:txBody>
          <a:bodyPr wrap="square">
            <a:spAutoFit/>
          </a:bodyPr>
          <a:lstStyle/>
          <a:p>
            <a:r>
              <a:rPr sz="950" dirty="0">
                <a:solidFill>
                  <a:srgbClr val="38BDF8"/>
                </a:solidFill>
                <a:latin typeface="Consolas"/>
              </a:rPr>
              <a:t># From backend/grantlens_backend/settings.py
INSTALLED_APPS = [
    ...
    '</a:t>
            </a:r>
            <a:r>
              <a:rPr sz="950" dirty="0" err="1">
                <a:solidFill>
                  <a:srgbClr val="38BDF8"/>
                </a:solidFill>
                <a:latin typeface="Consolas"/>
              </a:rPr>
              <a:t>corsheaders</a:t>
            </a:r>
            <a:r>
              <a:rPr sz="950" dirty="0">
                <a:solidFill>
                  <a:srgbClr val="38BDF8"/>
                </a:solidFill>
                <a:latin typeface="Consolas"/>
              </a:rPr>
              <a:t>',          # Step 1: Install the CORS app
    '</a:t>
            </a:r>
            <a:r>
              <a:rPr sz="950" dirty="0" err="1">
                <a:solidFill>
                  <a:srgbClr val="38BDF8"/>
                </a:solidFill>
                <a:latin typeface="Consolas"/>
              </a:rPr>
              <a:t>rest_framework</a:t>
            </a:r>
            <a:r>
              <a:rPr sz="950" dirty="0">
                <a:solidFill>
                  <a:srgbClr val="38BDF8"/>
                </a:solidFill>
                <a:latin typeface="Consolas"/>
              </a:rPr>
              <a:t>',
]
# Step 2: Add </a:t>
            </a:r>
            <a:r>
              <a:rPr sz="950" dirty="0" err="1">
                <a:solidFill>
                  <a:srgbClr val="38BDF8"/>
                </a:solidFill>
                <a:latin typeface="Consolas"/>
              </a:rPr>
              <a:t>CorsMiddleware</a:t>
            </a:r>
            <a:r>
              <a:rPr sz="950" dirty="0">
                <a:solidFill>
                  <a:srgbClr val="38BDF8"/>
                </a:solidFill>
                <a:latin typeface="Consolas"/>
              </a:rPr>
              <a:t> at index 0 (THE VERY TOP — this is critical!)
# Django processes middleware top-to-bottom.
# If </a:t>
            </a:r>
            <a:r>
              <a:rPr sz="950" dirty="0" err="1">
                <a:solidFill>
                  <a:srgbClr val="38BDF8"/>
                </a:solidFill>
                <a:latin typeface="Consolas"/>
              </a:rPr>
              <a:t>CorsMiddleware</a:t>
            </a:r>
            <a:r>
              <a:rPr sz="950" dirty="0">
                <a:solidFill>
                  <a:srgbClr val="38BDF8"/>
                </a:solidFill>
                <a:latin typeface="Consolas"/>
              </a:rPr>
              <a:t> is not first, CSRF or Auth middleware rejects the
# preflight OPTIONS request before CORS headers can be added.
MIDDLEWARE = [
    '</a:t>
            </a:r>
            <a:r>
              <a:rPr sz="950" dirty="0" err="1">
                <a:solidFill>
                  <a:srgbClr val="38BDF8"/>
                </a:solidFill>
                <a:latin typeface="Consolas"/>
              </a:rPr>
              <a:t>corsheaders.middleware.CorsMiddleware</a:t>
            </a:r>
            <a:r>
              <a:rPr sz="950" dirty="0">
                <a:solidFill>
                  <a:srgbClr val="38BDF8"/>
                </a:solidFill>
                <a:latin typeface="Consolas"/>
              </a:rPr>
              <a:t>',   # ← Must be index 0!
    '</a:t>
            </a:r>
            <a:r>
              <a:rPr sz="950" dirty="0" err="1">
                <a:solidFill>
                  <a:srgbClr val="38BDF8"/>
                </a:solidFill>
                <a:latin typeface="Consolas"/>
              </a:rPr>
              <a:t>django.middleware.security.SecurityMiddleware</a:t>
            </a:r>
            <a:r>
              <a:rPr sz="950" dirty="0">
                <a:solidFill>
                  <a:srgbClr val="38BDF8"/>
                </a:solidFill>
                <a:latin typeface="Consolas"/>
              </a:rPr>
              <a:t>',
    '</a:t>
            </a:r>
            <a:r>
              <a:rPr sz="950" dirty="0" err="1">
                <a:solidFill>
                  <a:srgbClr val="38BDF8"/>
                </a:solidFill>
                <a:latin typeface="Consolas"/>
              </a:rPr>
              <a:t>django.contrib.sessions.middleware.SessionMiddleware</a:t>
            </a:r>
            <a:r>
              <a:rPr sz="950" dirty="0">
                <a:solidFill>
                  <a:srgbClr val="38BDF8"/>
                </a:solidFill>
                <a:latin typeface="Consolas"/>
              </a:rPr>
              <a:t>',
    ...
]
# Step 3: Allow all origins during development
# This adds 'Access-Control-Allow-Origin: *' to every HTTP response header.
# The browser reads this header and allows the fetch() call to proceed.
CORS_ALLOW_ALL_ORIGINS = True   # Week 2: restrict to specific domains</a:t>
            </a:r>
          </a:p>
        </p:txBody>
      </p:sp>
      <p:sp>
        <p:nvSpPr>
          <p:cNvPr id="12" name="Rectangle 11"/>
          <p:cNvSpPr/>
          <p:nvPr/>
        </p:nvSpPr>
        <p:spPr>
          <a:xfrm>
            <a:off x="8138160" y="2651760"/>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0" y="2715768"/>
            <a:ext cx="3291840" cy="301752"/>
          </a:xfrm>
          <a:prstGeom prst="rect">
            <a:avLst/>
          </a:prstGeom>
          <a:noFill/>
        </p:spPr>
        <p:txBody>
          <a:bodyPr wrap="square">
            <a:spAutoFit/>
          </a:bodyPr>
          <a:lstStyle/>
          <a:p>
            <a:pPr algn="l"/>
            <a:r>
              <a:rPr sz="1200" b="1" i="0">
                <a:solidFill>
                  <a:srgbClr val="F97316"/>
                </a:solidFill>
                <a:latin typeface="Segoe UI"/>
              </a:rPr>
              <a:t>Same-Origin Policy</a:t>
            </a:r>
          </a:p>
        </p:txBody>
      </p:sp>
      <p:sp>
        <p:nvSpPr>
          <p:cNvPr id="14" name="TextBox 13"/>
          <p:cNvSpPr txBox="1"/>
          <p:nvPr/>
        </p:nvSpPr>
        <p:spPr>
          <a:xfrm>
            <a:off x="8321040" y="3035808"/>
            <a:ext cx="3291840" cy="457200"/>
          </a:xfrm>
          <a:prstGeom prst="rect">
            <a:avLst/>
          </a:prstGeom>
          <a:noFill/>
        </p:spPr>
        <p:txBody>
          <a:bodyPr wrap="square">
            <a:spAutoFit/>
          </a:bodyPr>
          <a:lstStyle/>
          <a:p>
            <a:pPr algn="l"/>
            <a:r>
              <a:rPr sz="1050" b="0" i="0">
                <a:solidFill>
                  <a:srgbClr val="B0BCD4"/>
                </a:solidFill>
                <a:latin typeface="Segoe UI"/>
              </a:rPr>
              <a:t>A browser security rule: a page at port 5173 cannot read responses from port 8000 unless the server explicitly allows it.</a:t>
            </a:r>
          </a:p>
        </p:txBody>
      </p:sp>
      <p:sp>
        <p:nvSpPr>
          <p:cNvPr id="15" name="Rectangle 14"/>
          <p:cNvSpPr/>
          <p:nvPr/>
        </p:nvSpPr>
        <p:spPr>
          <a:xfrm>
            <a:off x="8138160" y="3675888"/>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3739896"/>
            <a:ext cx="3291840" cy="301752"/>
          </a:xfrm>
          <a:prstGeom prst="rect">
            <a:avLst/>
          </a:prstGeom>
          <a:noFill/>
        </p:spPr>
        <p:txBody>
          <a:bodyPr wrap="square">
            <a:spAutoFit/>
          </a:bodyPr>
          <a:lstStyle/>
          <a:p>
            <a:pPr algn="l"/>
            <a:r>
              <a:rPr sz="1200" b="1" i="0">
                <a:solidFill>
                  <a:srgbClr val="F97316"/>
                </a:solidFill>
                <a:latin typeface="Segoe UI"/>
              </a:rPr>
              <a:t>Preflight Request</a:t>
            </a:r>
          </a:p>
        </p:txBody>
      </p:sp>
      <p:sp>
        <p:nvSpPr>
          <p:cNvPr id="17" name="TextBox 16"/>
          <p:cNvSpPr txBox="1"/>
          <p:nvPr/>
        </p:nvSpPr>
        <p:spPr>
          <a:xfrm>
            <a:off x="8321040" y="4059936"/>
            <a:ext cx="3291840" cy="457200"/>
          </a:xfrm>
          <a:prstGeom prst="rect">
            <a:avLst/>
          </a:prstGeom>
          <a:noFill/>
        </p:spPr>
        <p:txBody>
          <a:bodyPr wrap="square">
            <a:spAutoFit/>
          </a:bodyPr>
          <a:lstStyle/>
          <a:p>
            <a:pPr algn="l"/>
            <a:r>
              <a:rPr sz="1050" b="0" i="0">
                <a:solidFill>
                  <a:srgbClr val="B0BCD4"/>
                </a:solidFill>
                <a:latin typeface="Segoe UI"/>
              </a:rPr>
              <a:t>Before sending the real GET, the browser sends a quick HTTP OPTIONS 'preflight' to ask: 'Are you willing to accept requests from port 5173?'</a:t>
            </a:r>
          </a:p>
        </p:txBody>
      </p:sp>
      <p:sp>
        <p:nvSpPr>
          <p:cNvPr id="18" name="Rectangle 17"/>
          <p:cNvSpPr/>
          <p:nvPr/>
        </p:nvSpPr>
        <p:spPr>
          <a:xfrm>
            <a:off x="8138160" y="4700016"/>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21040" y="4764024"/>
            <a:ext cx="3291840" cy="301752"/>
          </a:xfrm>
          <a:prstGeom prst="rect">
            <a:avLst/>
          </a:prstGeom>
          <a:noFill/>
        </p:spPr>
        <p:txBody>
          <a:bodyPr wrap="square">
            <a:spAutoFit/>
          </a:bodyPr>
          <a:lstStyle/>
          <a:p>
            <a:pPr algn="l"/>
            <a:r>
              <a:rPr sz="1200" b="1" i="0">
                <a:solidFill>
                  <a:srgbClr val="F97316"/>
                </a:solidFill>
                <a:latin typeface="Segoe UI"/>
              </a:rPr>
              <a:t>The Header Fix</a:t>
            </a:r>
          </a:p>
        </p:txBody>
      </p:sp>
      <p:sp>
        <p:nvSpPr>
          <p:cNvPr id="20" name="TextBox 19"/>
          <p:cNvSpPr txBox="1"/>
          <p:nvPr/>
        </p:nvSpPr>
        <p:spPr>
          <a:xfrm>
            <a:off x="8321040" y="5084064"/>
            <a:ext cx="3291840" cy="457200"/>
          </a:xfrm>
          <a:prstGeom prst="rect">
            <a:avLst/>
          </a:prstGeom>
          <a:noFill/>
        </p:spPr>
        <p:txBody>
          <a:bodyPr wrap="square">
            <a:spAutoFit/>
          </a:bodyPr>
          <a:lstStyle/>
          <a:p>
            <a:pPr algn="l"/>
            <a:r>
              <a:rPr sz="1050" b="0" i="0">
                <a:solidFill>
                  <a:srgbClr val="B0BCD4"/>
                </a:solidFill>
                <a:latin typeface="Segoe UI"/>
              </a:rPr>
              <a:t>django-cors-headers adds 'Access-Control-Allow-Origin: *' to responses — telling the browser 'yes, everyone is welcome'.</a:t>
            </a:r>
          </a:p>
        </p:txBody>
      </p:sp>
      <p:sp>
        <p:nvSpPr>
          <p:cNvPr id="21" name="Rectangle 20"/>
          <p:cNvSpPr/>
          <p:nvPr/>
        </p:nvSpPr>
        <p:spPr>
          <a:xfrm>
            <a:off x="8138160" y="5724144"/>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21040" y="5788152"/>
            <a:ext cx="3291840" cy="301752"/>
          </a:xfrm>
          <a:prstGeom prst="rect">
            <a:avLst/>
          </a:prstGeom>
          <a:noFill/>
        </p:spPr>
        <p:txBody>
          <a:bodyPr wrap="square">
            <a:spAutoFit/>
          </a:bodyPr>
          <a:lstStyle/>
          <a:p>
            <a:pPr algn="l"/>
            <a:r>
              <a:rPr sz="1200" b="1" i="0">
                <a:solidFill>
                  <a:srgbClr val="F97316"/>
                </a:solidFill>
                <a:latin typeface="Segoe UI"/>
              </a:rPr>
              <a:t>Why Index 0?</a:t>
            </a:r>
          </a:p>
        </p:txBody>
      </p:sp>
      <p:sp>
        <p:nvSpPr>
          <p:cNvPr id="23" name="TextBox 22"/>
          <p:cNvSpPr txBox="1"/>
          <p:nvPr/>
        </p:nvSpPr>
        <p:spPr>
          <a:xfrm>
            <a:off x="8321040" y="6108192"/>
            <a:ext cx="3291840" cy="457200"/>
          </a:xfrm>
          <a:prstGeom prst="rect">
            <a:avLst/>
          </a:prstGeom>
          <a:noFill/>
        </p:spPr>
        <p:txBody>
          <a:bodyPr wrap="square">
            <a:spAutoFit/>
          </a:bodyPr>
          <a:lstStyle/>
          <a:p>
            <a:pPr algn="l"/>
            <a:r>
              <a:rPr sz="1050" b="0" i="0">
                <a:solidFill>
                  <a:srgbClr val="B0BCD4"/>
                </a:solidFill>
                <a:latin typeface="Segoe UI"/>
              </a:rPr>
              <a:t>If CorsMiddleware isn't first, other middleware layers reject the preflight OPTIONS request before CORS headers can be added.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15</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The Database — SQLite &amp; Django Migrations</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600" b="0" i="0">
                <a:solidFill>
                  <a:srgbClr val="B0BCD4"/>
                </a:solidFill>
                <a:latin typeface="Segoe UI"/>
              </a:rPr>
              <a:t>Every Django project needs a database. In Week 1, we use SQLite — a simple file-based database (db.sqlite3) that needs zero server setup.</a:t>
            </a:r>
          </a:p>
        </p:txBody>
      </p:sp>
      <p:sp>
        <p:nvSpPr>
          <p:cNvPr id="7" name="Rectangle 6"/>
          <p:cNvSpPr/>
          <p:nvPr/>
        </p:nvSpPr>
        <p:spPr>
          <a:xfrm>
            <a:off x="365760" y="1234440"/>
            <a:ext cx="7589520" cy="521208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25880"/>
            <a:ext cx="7315200" cy="5029200"/>
          </a:xfrm>
          <a:prstGeom prst="rect">
            <a:avLst/>
          </a:prstGeom>
          <a:noFill/>
        </p:spPr>
        <p:txBody>
          <a:bodyPr wrap="square">
            <a:spAutoFit/>
          </a:bodyPr>
          <a:lstStyle/>
          <a:p>
            <a:r>
              <a:rPr sz="950">
                <a:solidFill>
                  <a:srgbClr val="38BDF8"/>
                </a:solidFill>
                <a:latin typeface="Consolas"/>
              </a:rPr>
              <a:t># From settings.py — Database configuration
DATABASES = {
    'default': {
        'ENGINE': 'django.db.backends.sqlite3',  # Which database engine to use
        'NAME': BASE_DIR / 'db.sqlite3',         # File location: d:/GrantLens/backend/db.sqlite3
    }
}
# ─── DJANGO MIGRATIONS ─────────────────────────────────────────────
# A "migration" is a Python script that describes changes to the database schema.
# Django ships with built-in migrations for Users, Auth, Sessions, Admin, etc.
# Command we ran:
# python manage.py migrate
# Output:
#   Applying contenttypes.0001_initial... OK
#   Applying auth.0001_initial... OK
#   Applying admin.0001_initial... OK
#   Applying sessions.0001_initial... OK
# This created the db.sqlite3 file and all required tables inside it.
# In Week 2: we add our own Model classes → generate our own migration files.</a:t>
            </a:r>
          </a:p>
        </p:txBody>
      </p:sp>
      <p:sp>
        <p:nvSpPr>
          <p:cNvPr id="9" name="Rectangle 8"/>
          <p:cNvSpPr/>
          <p:nvPr/>
        </p:nvSpPr>
        <p:spPr>
          <a:xfrm>
            <a:off x="8138160" y="1234440"/>
            <a:ext cx="3657600" cy="12344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21040" y="1307592"/>
            <a:ext cx="3291840" cy="320040"/>
          </a:xfrm>
          <a:prstGeom prst="rect">
            <a:avLst/>
          </a:prstGeom>
          <a:noFill/>
        </p:spPr>
        <p:txBody>
          <a:bodyPr wrap="square">
            <a:spAutoFit/>
          </a:bodyPr>
          <a:lstStyle/>
          <a:p>
            <a:pPr algn="l"/>
            <a:r>
              <a:rPr sz="1200" b="1" i="0">
                <a:solidFill>
                  <a:srgbClr val="10B981"/>
                </a:solidFill>
                <a:latin typeface="Segoe UI"/>
              </a:rPr>
              <a:t>What is a Migration?</a:t>
            </a:r>
          </a:p>
        </p:txBody>
      </p:sp>
      <p:sp>
        <p:nvSpPr>
          <p:cNvPr id="11" name="TextBox 10"/>
          <p:cNvSpPr txBox="1"/>
          <p:nvPr/>
        </p:nvSpPr>
        <p:spPr>
          <a:xfrm>
            <a:off x="8321040" y="1645920"/>
            <a:ext cx="3291840" cy="749808"/>
          </a:xfrm>
          <a:prstGeom prst="rect">
            <a:avLst/>
          </a:prstGeom>
          <a:noFill/>
        </p:spPr>
        <p:txBody>
          <a:bodyPr wrap="square">
            <a:spAutoFit/>
          </a:bodyPr>
          <a:lstStyle/>
          <a:p>
            <a:pPr algn="l"/>
            <a:r>
              <a:rPr sz="1050" b="0" i="0">
                <a:solidFill>
                  <a:srgbClr val="B0BCD4"/>
                </a:solidFill>
                <a:latin typeface="Segoe UI"/>
              </a:rPr>
              <a:t>A version-controlled Python file that defines database table structure. Running 'migrate' applies all pending migrations to the actual database file.</a:t>
            </a:r>
          </a:p>
        </p:txBody>
      </p:sp>
      <p:sp>
        <p:nvSpPr>
          <p:cNvPr id="12" name="Rectangle 11"/>
          <p:cNvSpPr/>
          <p:nvPr/>
        </p:nvSpPr>
        <p:spPr>
          <a:xfrm>
            <a:off x="8138160" y="2587752"/>
            <a:ext cx="3657600" cy="12344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0" y="2660904"/>
            <a:ext cx="3291840" cy="320040"/>
          </a:xfrm>
          <a:prstGeom prst="rect">
            <a:avLst/>
          </a:prstGeom>
          <a:noFill/>
        </p:spPr>
        <p:txBody>
          <a:bodyPr wrap="square">
            <a:spAutoFit/>
          </a:bodyPr>
          <a:lstStyle/>
          <a:p>
            <a:pPr algn="l"/>
            <a:r>
              <a:rPr sz="1200" b="1" i="0">
                <a:solidFill>
                  <a:srgbClr val="10B981"/>
                </a:solidFill>
                <a:latin typeface="Segoe UI"/>
              </a:rPr>
              <a:t>Why SQLite for Week 1?</a:t>
            </a:r>
          </a:p>
        </p:txBody>
      </p:sp>
      <p:sp>
        <p:nvSpPr>
          <p:cNvPr id="14" name="TextBox 13"/>
          <p:cNvSpPr txBox="1"/>
          <p:nvPr/>
        </p:nvSpPr>
        <p:spPr>
          <a:xfrm>
            <a:off x="8321040" y="2999232"/>
            <a:ext cx="3291840" cy="749808"/>
          </a:xfrm>
          <a:prstGeom prst="rect">
            <a:avLst/>
          </a:prstGeom>
          <a:noFill/>
        </p:spPr>
        <p:txBody>
          <a:bodyPr wrap="square">
            <a:spAutoFit/>
          </a:bodyPr>
          <a:lstStyle/>
          <a:p>
            <a:pPr algn="l"/>
            <a:r>
              <a:rPr sz="1050" b="0" i="0">
                <a:solidFill>
                  <a:srgbClr val="B0BCD4"/>
                </a:solidFill>
                <a:latin typeface="Segoe UI"/>
              </a:rPr>
              <a:t>SQLite stores the entire database in a single .sqlite3 file. No server, no password, no setup. Perfect for development and learning.</a:t>
            </a:r>
          </a:p>
        </p:txBody>
      </p:sp>
      <p:sp>
        <p:nvSpPr>
          <p:cNvPr id="15" name="Rectangle 14"/>
          <p:cNvSpPr/>
          <p:nvPr/>
        </p:nvSpPr>
        <p:spPr>
          <a:xfrm>
            <a:off x="8138160" y="3941064"/>
            <a:ext cx="3657600" cy="12344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4014216"/>
            <a:ext cx="3291840" cy="320040"/>
          </a:xfrm>
          <a:prstGeom prst="rect">
            <a:avLst/>
          </a:prstGeom>
          <a:noFill/>
        </p:spPr>
        <p:txBody>
          <a:bodyPr wrap="square">
            <a:spAutoFit/>
          </a:bodyPr>
          <a:lstStyle/>
          <a:p>
            <a:pPr algn="l"/>
            <a:r>
              <a:rPr sz="1200" b="1" i="0">
                <a:solidFill>
                  <a:srgbClr val="10B981"/>
                </a:solidFill>
                <a:latin typeface="Segoe UI"/>
              </a:rPr>
              <a:t>Week 2 Plan: PostgreSQL</a:t>
            </a:r>
          </a:p>
        </p:txBody>
      </p:sp>
      <p:sp>
        <p:nvSpPr>
          <p:cNvPr id="17" name="TextBox 16"/>
          <p:cNvSpPr txBox="1"/>
          <p:nvPr/>
        </p:nvSpPr>
        <p:spPr>
          <a:xfrm>
            <a:off x="8321040" y="4352544"/>
            <a:ext cx="3291840" cy="749808"/>
          </a:xfrm>
          <a:prstGeom prst="rect">
            <a:avLst/>
          </a:prstGeom>
          <a:noFill/>
        </p:spPr>
        <p:txBody>
          <a:bodyPr wrap="square">
            <a:spAutoFit/>
          </a:bodyPr>
          <a:lstStyle/>
          <a:p>
            <a:pPr algn="l"/>
            <a:r>
              <a:rPr sz="1050" b="0" i="0">
                <a:solidFill>
                  <a:srgbClr val="B0BCD4"/>
                </a:solidFill>
                <a:latin typeface="Segoe UI"/>
              </a:rPr>
              <a:t>For production, we'll switch to PostgreSQL — a proper database server that handles concurrent users, complex queries, and large datasets.</a:t>
            </a:r>
          </a:p>
        </p:txBody>
      </p:sp>
      <p:sp>
        <p:nvSpPr>
          <p:cNvPr id="18" name="Rectangle 17"/>
          <p:cNvSpPr/>
          <p:nvPr/>
        </p:nvSpPr>
        <p:spPr>
          <a:xfrm>
            <a:off x="8138160" y="5294376"/>
            <a:ext cx="3657600" cy="12344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21040" y="5367528"/>
            <a:ext cx="3291840" cy="320040"/>
          </a:xfrm>
          <a:prstGeom prst="rect">
            <a:avLst/>
          </a:prstGeom>
          <a:noFill/>
        </p:spPr>
        <p:txBody>
          <a:bodyPr wrap="square">
            <a:spAutoFit/>
          </a:bodyPr>
          <a:lstStyle/>
          <a:p>
            <a:pPr algn="l"/>
            <a:r>
              <a:rPr sz="1200" b="1" i="0">
                <a:solidFill>
                  <a:srgbClr val="10B981"/>
                </a:solidFill>
                <a:latin typeface="Segoe UI"/>
              </a:rPr>
              <a:t>Django ORM</a:t>
            </a:r>
          </a:p>
        </p:txBody>
      </p:sp>
      <p:sp>
        <p:nvSpPr>
          <p:cNvPr id="20" name="TextBox 19"/>
          <p:cNvSpPr txBox="1"/>
          <p:nvPr/>
        </p:nvSpPr>
        <p:spPr>
          <a:xfrm>
            <a:off x="8321040" y="5705856"/>
            <a:ext cx="3291840" cy="749808"/>
          </a:xfrm>
          <a:prstGeom prst="rect">
            <a:avLst/>
          </a:prstGeom>
          <a:noFill/>
        </p:spPr>
        <p:txBody>
          <a:bodyPr wrap="square">
            <a:spAutoFit/>
          </a:bodyPr>
          <a:lstStyle/>
          <a:p>
            <a:pPr algn="l"/>
            <a:r>
              <a:rPr sz="1050" b="0" i="0">
                <a:solidFill>
                  <a:srgbClr val="B0BCD4"/>
                </a:solidFill>
                <a:latin typeface="Segoe UI"/>
              </a:rPr>
              <a:t>In Week 2, we'll write Python Model classes (class Grant(Model):) and Django translates them to SQL CREATE TABLE statements automatically.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16</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Live UI Binding — The Status Badge</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500" b="0" i="0">
                <a:solidFill>
                  <a:srgbClr val="B0BCD4"/>
                </a:solidFill>
                <a:latin typeface="Segoe UI"/>
              </a:rPr>
              <a:t>The green '🟢 Backend: Connected' pill in the navbar is the most direct proof of the frontend-backend connection. Here is exactly how it works in code.</a:t>
            </a:r>
          </a:p>
        </p:txBody>
      </p:sp>
      <p:sp>
        <p:nvSpPr>
          <p:cNvPr id="7" name="Rectangle 6"/>
          <p:cNvSpPr/>
          <p:nvPr/>
        </p:nvSpPr>
        <p:spPr>
          <a:xfrm>
            <a:off x="365760" y="1234440"/>
            <a:ext cx="7589520" cy="521208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25880"/>
            <a:ext cx="7315200" cy="5029200"/>
          </a:xfrm>
          <a:prstGeom prst="rect">
            <a:avLst/>
          </a:prstGeom>
          <a:noFill/>
        </p:spPr>
        <p:txBody>
          <a:bodyPr wrap="square">
            <a:spAutoFit/>
          </a:bodyPr>
          <a:lstStyle/>
          <a:p>
            <a:r>
              <a:rPr sz="950">
                <a:solidFill>
                  <a:srgbClr val="38BDF8"/>
                </a:solidFill>
                <a:latin typeface="Consolas"/>
              </a:rPr>
              <a:t>// From App.jsx — The Status Badge JSX (in the Navbar)
// JavaScript ternary operator: condition ? valueIfTrue : valueIfFalse
// This runs INSIDE JSX {} curly braces, which evaluate JS expressions.
&lt;div className="flex items-center gap-2"&gt;
  {backendStatus.loading ? (
    // Case 1: fetch() is still in flight (loading = true)
    // Show a pulsing orange dot with "Connecting..." text
    &lt;span className="animate-pulse text-brand-400 text-sm"&gt;
      ⟳ Connecting...
    &lt;/span&gt;
  ) : backendStatus.connected ? (
    // Case 2: Django responded HTTP 200 (connected = true)
    // Show green animated dot + "Backend: Connected (Django)" text
    &lt;span className="flex items-center gap-1.5 text-emerald-400 text-sm font-medium"&gt;
      &lt;span className="w-2 h-2 bg-emerald-400 rounded-full animate-pulse-slow"/&gt;
      Backend: Connected (Django)
    &lt;/span&gt;
  ) : (
    // Case 3: fetch() failed (connected = false, loading = false)
    // Show red dot with "Offline" text
    &lt;span className="text-red-400 text-sm"&gt;
      ● Backend: Offline
    &lt;/span&gt;
  )}
&lt;/div&gt;</a:t>
            </a:r>
          </a:p>
        </p:txBody>
      </p:sp>
      <p:sp>
        <p:nvSpPr>
          <p:cNvPr id="9" name="Rectangle 8"/>
          <p:cNvSpPr/>
          <p:nvPr/>
        </p:nvSpPr>
        <p:spPr>
          <a:xfrm>
            <a:off x="8138160" y="1234440"/>
            <a:ext cx="3657600" cy="521208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21040" y="1325880"/>
            <a:ext cx="3291840" cy="365760"/>
          </a:xfrm>
          <a:prstGeom prst="rect">
            <a:avLst/>
          </a:prstGeom>
          <a:noFill/>
        </p:spPr>
        <p:txBody>
          <a:bodyPr wrap="square">
            <a:spAutoFit/>
          </a:bodyPr>
          <a:lstStyle/>
          <a:p>
            <a:pPr algn="l"/>
            <a:r>
              <a:rPr sz="1400" b="1" i="0">
                <a:solidFill>
                  <a:srgbClr val="F97316"/>
                </a:solidFill>
                <a:latin typeface="Segoe UI"/>
              </a:rPr>
              <a:t>Three States Explained</a:t>
            </a:r>
          </a:p>
        </p:txBody>
      </p:sp>
      <p:sp>
        <p:nvSpPr>
          <p:cNvPr id="11" name="TextBox 10"/>
          <p:cNvSpPr txBox="1"/>
          <p:nvPr/>
        </p:nvSpPr>
        <p:spPr>
          <a:xfrm>
            <a:off x="8321040" y="1783080"/>
            <a:ext cx="3291840" cy="347472"/>
          </a:xfrm>
          <a:prstGeom prst="rect">
            <a:avLst/>
          </a:prstGeom>
          <a:noFill/>
        </p:spPr>
        <p:txBody>
          <a:bodyPr wrap="square">
            <a:spAutoFit/>
          </a:bodyPr>
          <a:lstStyle/>
          <a:p>
            <a:pPr algn="l"/>
            <a:r>
              <a:rPr sz="1400" b="1" i="0">
                <a:solidFill>
                  <a:srgbClr val="F97316"/>
                </a:solidFill>
                <a:latin typeface="Segoe UI"/>
              </a:rPr>
              <a:t>⟳ Loading...</a:t>
            </a:r>
          </a:p>
        </p:txBody>
      </p:sp>
      <p:sp>
        <p:nvSpPr>
          <p:cNvPr id="12" name="TextBox 11"/>
          <p:cNvSpPr txBox="1"/>
          <p:nvPr/>
        </p:nvSpPr>
        <p:spPr>
          <a:xfrm>
            <a:off x="8321040" y="2167128"/>
            <a:ext cx="3291840" cy="914400"/>
          </a:xfrm>
          <a:prstGeom prst="rect">
            <a:avLst/>
          </a:prstGeom>
          <a:noFill/>
        </p:spPr>
        <p:txBody>
          <a:bodyPr wrap="square">
            <a:spAutoFit/>
          </a:bodyPr>
          <a:lstStyle/>
          <a:p>
            <a:pPr algn="l"/>
            <a:r>
              <a:rPr sz="1100" b="0" i="0">
                <a:solidFill>
                  <a:srgbClr val="B0BCD4"/>
                </a:solidFill>
                <a:latin typeface="Segoe UI"/>
              </a:rPr>
              <a:t>loading = true
fetch() request sent.
Waiting for Django to respond.
Shows pulsing orange text.</a:t>
            </a:r>
          </a:p>
        </p:txBody>
      </p:sp>
      <p:sp>
        <p:nvSpPr>
          <p:cNvPr id="13" name="TextBox 12"/>
          <p:cNvSpPr txBox="1"/>
          <p:nvPr/>
        </p:nvSpPr>
        <p:spPr>
          <a:xfrm>
            <a:off x="8321040" y="3246120"/>
            <a:ext cx="3291840" cy="347472"/>
          </a:xfrm>
          <a:prstGeom prst="rect">
            <a:avLst/>
          </a:prstGeom>
          <a:noFill/>
        </p:spPr>
        <p:txBody>
          <a:bodyPr wrap="square">
            <a:spAutoFit/>
          </a:bodyPr>
          <a:lstStyle/>
          <a:p>
            <a:pPr algn="l"/>
            <a:r>
              <a:rPr sz="1400" b="1" i="0">
                <a:solidFill>
                  <a:srgbClr val="10B981"/>
                </a:solidFill>
                <a:latin typeface="Segoe UI"/>
              </a:rPr>
              <a:t>🟢 Connected</a:t>
            </a:r>
          </a:p>
        </p:txBody>
      </p:sp>
      <p:sp>
        <p:nvSpPr>
          <p:cNvPr id="14" name="TextBox 13"/>
          <p:cNvSpPr txBox="1"/>
          <p:nvPr/>
        </p:nvSpPr>
        <p:spPr>
          <a:xfrm>
            <a:off x="8321040" y="3630168"/>
            <a:ext cx="3291840" cy="914400"/>
          </a:xfrm>
          <a:prstGeom prst="rect">
            <a:avLst/>
          </a:prstGeom>
          <a:noFill/>
        </p:spPr>
        <p:txBody>
          <a:bodyPr wrap="square">
            <a:spAutoFit/>
          </a:bodyPr>
          <a:lstStyle/>
          <a:p>
            <a:pPr algn="l"/>
            <a:r>
              <a:rPr sz="1100" b="0" i="0">
                <a:solidFill>
                  <a:srgbClr val="B0BCD4"/>
                </a:solidFill>
                <a:latin typeface="Segoe UI"/>
              </a:rPr>
              <a:t>connected = true
Django returned HTTP 200.
JSON received and parsed.
UI filled with real data.</a:t>
            </a:r>
          </a:p>
        </p:txBody>
      </p:sp>
      <p:sp>
        <p:nvSpPr>
          <p:cNvPr id="15" name="TextBox 14"/>
          <p:cNvSpPr txBox="1"/>
          <p:nvPr/>
        </p:nvSpPr>
        <p:spPr>
          <a:xfrm>
            <a:off x="8321040" y="4709160"/>
            <a:ext cx="3291840" cy="347472"/>
          </a:xfrm>
          <a:prstGeom prst="rect">
            <a:avLst/>
          </a:prstGeom>
          <a:noFill/>
        </p:spPr>
        <p:txBody>
          <a:bodyPr wrap="square">
            <a:spAutoFit/>
          </a:bodyPr>
          <a:lstStyle/>
          <a:p>
            <a:pPr algn="l"/>
            <a:r>
              <a:rPr sz="1400" b="1" i="0">
                <a:solidFill>
                  <a:srgbClr val="EF4444"/>
                </a:solidFill>
                <a:latin typeface="Segoe UI"/>
              </a:rPr>
              <a:t>🔴 Offline</a:t>
            </a:r>
          </a:p>
        </p:txBody>
      </p:sp>
      <p:sp>
        <p:nvSpPr>
          <p:cNvPr id="16" name="TextBox 15"/>
          <p:cNvSpPr txBox="1"/>
          <p:nvPr/>
        </p:nvSpPr>
        <p:spPr>
          <a:xfrm>
            <a:off x="8321040" y="5093208"/>
            <a:ext cx="3291840" cy="914400"/>
          </a:xfrm>
          <a:prstGeom prst="rect">
            <a:avLst/>
          </a:prstGeom>
          <a:noFill/>
        </p:spPr>
        <p:txBody>
          <a:bodyPr wrap="square">
            <a:spAutoFit/>
          </a:bodyPr>
          <a:lstStyle/>
          <a:p>
            <a:pPr algn="l"/>
            <a:r>
              <a:rPr sz="1100" b="0" i="0">
                <a:solidFill>
                  <a:srgbClr val="B0BCD4"/>
                </a:solidFill>
                <a:latin typeface="Segoe UI"/>
              </a:rPr>
              <a:t>connected = false
Django is not running.
Connection refused error.
UI shows fallback data.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17</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Data Binding — The 4 Live Metric Tiles</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500" b="0" i="0">
                <a:solidFill>
                  <a:srgbClr val="B0BCD4"/>
                </a:solidFill>
                <a:latin typeface="Segoe UI"/>
              </a:rPr>
              <a:t>The 4 dashboard cards display numbers that come directly from Django's JSON. This is React's declarative data binding — the UI reflects state automatically.</a:t>
            </a:r>
          </a:p>
        </p:txBody>
      </p:sp>
      <p:sp>
        <p:nvSpPr>
          <p:cNvPr id="7" name="Rectangle 6"/>
          <p:cNvSpPr/>
          <p:nvPr/>
        </p:nvSpPr>
        <p:spPr>
          <a:xfrm>
            <a:off x="365760" y="1234440"/>
            <a:ext cx="8229600" cy="521208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25880"/>
            <a:ext cx="7955280" cy="5029200"/>
          </a:xfrm>
          <a:prstGeom prst="rect">
            <a:avLst/>
          </a:prstGeom>
          <a:noFill/>
        </p:spPr>
        <p:txBody>
          <a:bodyPr wrap="square">
            <a:spAutoFit/>
          </a:bodyPr>
          <a:lstStyle/>
          <a:p>
            <a:r>
              <a:rPr sz="900">
                <a:solidFill>
                  <a:srgbClr val="38BDF8"/>
                </a:solidFill>
                <a:latin typeface="Consolas"/>
              </a:rPr>
              <a:t>// From App.jsx — Defensive fallback pattern + data binding
// The logical OR (||) operator short-circuits:
// If backendStatus.data is NOT null → use the live Django data
// If backendStatus.data IS null (server offline) → use sample values
const stats = backendStatus.data || {
  solicitations_count: 2,   // Sample fallback values
  proposals_count: 3,
  audits_completed: 2,
  average_score: 96.2,
};
// JSX — The 4 metric tiles bound to Django data:
const metrics = [
  {
    value: stats.solicitations_count,   // ← comes from Django JSON
    label: "Grant Solicitations",
    detail: stats.solicitations_detail,
    icon: &lt;FileText /&gt;,
  },
  {
    value: stats.proposals_count,       // ← comes from Django JSON
    label: "Proposals Loaded",
    icon: &lt;TrendingUp /&gt;,
  },
  {
    value: stats.audits_completed,      // ← comes from Django JSON
    label: "Audits Completed",
    icon: &lt;CheckCircle2 /&gt;,
  },
  {
    value: `${stats.average_score}%`,   // ← comes from Django JSON
    label: "Average Score",
    icon: &lt;Award /&gt;,
  },
];
// Render: .map() loops through the array and returns JSX for each tile
{metrics.map((m, i) =&gt; (
  &lt;div key={i} className="bg-navy-800 rounded-xl p-6 border border-navy-700"&gt;
    {m.icon}
    &lt;div className="text-3xl font-bold"&gt;{m.value}&lt;/div&gt;
    &lt;div className="text-gray-400"&gt;{m.label}&lt;/div&gt;
  &lt;/div&gt;
))}</a:t>
            </a:r>
          </a:p>
        </p:txBody>
      </p:sp>
      <p:sp>
        <p:nvSpPr>
          <p:cNvPr id="9" name="Rectangle 8"/>
          <p:cNvSpPr/>
          <p:nvPr/>
        </p:nvSpPr>
        <p:spPr>
          <a:xfrm>
            <a:off x="8778240" y="1234440"/>
            <a:ext cx="3017520" cy="521208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0" y="1325880"/>
            <a:ext cx="2651760" cy="320040"/>
          </a:xfrm>
          <a:prstGeom prst="rect">
            <a:avLst/>
          </a:prstGeom>
          <a:noFill/>
        </p:spPr>
        <p:txBody>
          <a:bodyPr wrap="square">
            <a:spAutoFit/>
          </a:bodyPr>
          <a:lstStyle/>
          <a:p>
            <a:pPr algn="l"/>
            <a:r>
              <a:rPr sz="1300" b="1" i="0">
                <a:solidFill>
                  <a:srgbClr val="F97316"/>
                </a:solidFill>
                <a:latin typeface="Segoe UI"/>
              </a:rPr>
              <a:t>Key Concepts</a:t>
            </a:r>
          </a:p>
        </p:txBody>
      </p:sp>
      <p:sp>
        <p:nvSpPr>
          <p:cNvPr id="11" name="TextBox 10"/>
          <p:cNvSpPr txBox="1"/>
          <p:nvPr/>
        </p:nvSpPr>
        <p:spPr>
          <a:xfrm>
            <a:off x="8961120" y="1783080"/>
            <a:ext cx="2651760" cy="292608"/>
          </a:xfrm>
          <a:prstGeom prst="rect">
            <a:avLst/>
          </a:prstGeom>
          <a:noFill/>
        </p:spPr>
        <p:txBody>
          <a:bodyPr wrap="square">
            <a:spAutoFit/>
          </a:bodyPr>
          <a:lstStyle/>
          <a:p>
            <a:pPr algn="l"/>
            <a:r>
              <a:rPr sz="1200" b="1" i="0">
                <a:solidFill>
                  <a:srgbClr val="10B981"/>
                </a:solidFill>
                <a:latin typeface="Segoe UI"/>
              </a:rPr>
              <a:t>Logical OR ||</a:t>
            </a:r>
          </a:p>
        </p:txBody>
      </p:sp>
      <p:sp>
        <p:nvSpPr>
          <p:cNvPr id="12" name="TextBox 11"/>
          <p:cNvSpPr txBox="1"/>
          <p:nvPr/>
        </p:nvSpPr>
        <p:spPr>
          <a:xfrm>
            <a:off x="8961120" y="2084832"/>
            <a:ext cx="2651760" cy="548640"/>
          </a:xfrm>
          <a:prstGeom prst="rect">
            <a:avLst/>
          </a:prstGeom>
          <a:noFill/>
        </p:spPr>
        <p:txBody>
          <a:bodyPr wrap="square">
            <a:spAutoFit/>
          </a:bodyPr>
          <a:lstStyle/>
          <a:p>
            <a:pPr algn="l"/>
            <a:r>
              <a:rPr sz="1050" b="0" i="0">
                <a:solidFill>
                  <a:srgbClr val="B0BCD4"/>
                </a:solidFill>
                <a:latin typeface="Segoe UI"/>
              </a:rPr>
              <a:t>JavaScript short-circuit evaluation. If left side is falsy (null), use right side.</a:t>
            </a:r>
          </a:p>
        </p:txBody>
      </p:sp>
      <p:sp>
        <p:nvSpPr>
          <p:cNvPr id="13" name="TextBox 12"/>
          <p:cNvSpPr txBox="1"/>
          <p:nvPr/>
        </p:nvSpPr>
        <p:spPr>
          <a:xfrm>
            <a:off x="8961120" y="2697480"/>
            <a:ext cx="2651760" cy="292608"/>
          </a:xfrm>
          <a:prstGeom prst="rect">
            <a:avLst/>
          </a:prstGeom>
          <a:noFill/>
        </p:spPr>
        <p:txBody>
          <a:bodyPr wrap="square">
            <a:spAutoFit/>
          </a:bodyPr>
          <a:lstStyle/>
          <a:p>
            <a:pPr algn="l"/>
            <a:r>
              <a:rPr sz="1200" b="1" i="0">
                <a:solidFill>
                  <a:srgbClr val="10B981"/>
                </a:solidFill>
                <a:latin typeface="Segoe UI"/>
              </a:rPr>
              <a:t>Template Literal</a:t>
            </a:r>
          </a:p>
        </p:txBody>
      </p:sp>
      <p:sp>
        <p:nvSpPr>
          <p:cNvPr id="14" name="TextBox 13"/>
          <p:cNvSpPr txBox="1"/>
          <p:nvPr/>
        </p:nvSpPr>
        <p:spPr>
          <a:xfrm>
            <a:off x="8961120" y="2999232"/>
            <a:ext cx="2651760" cy="548640"/>
          </a:xfrm>
          <a:prstGeom prst="rect">
            <a:avLst/>
          </a:prstGeom>
          <a:noFill/>
        </p:spPr>
        <p:txBody>
          <a:bodyPr wrap="square">
            <a:spAutoFit/>
          </a:bodyPr>
          <a:lstStyle/>
          <a:p>
            <a:pPr algn="l"/>
            <a:r>
              <a:rPr sz="1050" b="0" i="0">
                <a:solidFill>
                  <a:srgbClr val="B0BCD4"/>
                </a:solidFill>
                <a:latin typeface="Segoe UI"/>
              </a:rPr>
              <a:t>`${score}%` — inserts JS variable inside a string.</a:t>
            </a:r>
          </a:p>
        </p:txBody>
      </p:sp>
      <p:sp>
        <p:nvSpPr>
          <p:cNvPr id="15" name="TextBox 14"/>
          <p:cNvSpPr txBox="1"/>
          <p:nvPr/>
        </p:nvSpPr>
        <p:spPr>
          <a:xfrm>
            <a:off x="8961120" y="3611880"/>
            <a:ext cx="2651760" cy="292608"/>
          </a:xfrm>
          <a:prstGeom prst="rect">
            <a:avLst/>
          </a:prstGeom>
          <a:noFill/>
        </p:spPr>
        <p:txBody>
          <a:bodyPr wrap="square">
            <a:spAutoFit/>
          </a:bodyPr>
          <a:lstStyle/>
          <a:p>
            <a:pPr algn="l"/>
            <a:r>
              <a:rPr sz="1200" b="1" i="0">
                <a:solidFill>
                  <a:srgbClr val="10B981"/>
                </a:solidFill>
                <a:latin typeface="Segoe UI"/>
              </a:rPr>
              <a:t>Array.map()</a:t>
            </a:r>
          </a:p>
        </p:txBody>
      </p:sp>
      <p:sp>
        <p:nvSpPr>
          <p:cNvPr id="16" name="TextBox 15"/>
          <p:cNvSpPr txBox="1"/>
          <p:nvPr/>
        </p:nvSpPr>
        <p:spPr>
          <a:xfrm>
            <a:off x="8961120" y="3913632"/>
            <a:ext cx="2651760" cy="548640"/>
          </a:xfrm>
          <a:prstGeom prst="rect">
            <a:avLst/>
          </a:prstGeom>
          <a:noFill/>
        </p:spPr>
        <p:txBody>
          <a:bodyPr wrap="square">
            <a:spAutoFit/>
          </a:bodyPr>
          <a:lstStyle/>
          <a:p>
            <a:pPr algn="l"/>
            <a:r>
              <a:rPr sz="1050" b="0" i="0">
                <a:solidFill>
                  <a:srgbClr val="B0BCD4"/>
                </a:solidFill>
                <a:latin typeface="Segoe UI"/>
              </a:rPr>
              <a:t>Transforms an array into JSX. One tile rendered per array item.</a:t>
            </a:r>
          </a:p>
        </p:txBody>
      </p:sp>
      <p:sp>
        <p:nvSpPr>
          <p:cNvPr id="17" name="TextBox 16"/>
          <p:cNvSpPr txBox="1"/>
          <p:nvPr/>
        </p:nvSpPr>
        <p:spPr>
          <a:xfrm>
            <a:off x="8961120" y="4526280"/>
            <a:ext cx="2651760" cy="292608"/>
          </a:xfrm>
          <a:prstGeom prst="rect">
            <a:avLst/>
          </a:prstGeom>
          <a:noFill/>
        </p:spPr>
        <p:txBody>
          <a:bodyPr wrap="square">
            <a:spAutoFit/>
          </a:bodyPr>
          <a:lstStyle/>
          <a:p>
            <a:pPr algn="l"/>
            <a:r>
              <a:rPr sz="1200" b="1" i="0">
                <a:solidFill>
                  <a:srgbClr val="10B981"/>
                </a:solidFill>
                <a:latin typeface="Segoe UI"/>
              </a:rPr>
              <a:t>key prop</a:t>
            </a:r>
          </a:p>
        </p:txBody>
      </p:sp>
      <p:sp>
        <p:nvSpPr>
          <p:cNvPr id="18" name="TextBox 17"/>
          <p:cNvSpPr txBox="1"/>
          <p:nvPr/>
        </p:nvSpPr>
        <p:spPr>
          <a:xfrm>
            <a:off x="8961120" y="4828032"/>
            <a:ext cx="2651760" cy="548640"/>
          </a:xfrm>
          <a:prstGeom prst="rect">
            <a:avLst/>
          </a:prstGeom>
          <a:noFill/>
        </p:spPr>
        <p:txBody>
          <a:bodyPr wrap="square">
            <a:spAutoFit/>
          </a:bodyPr>
          <a:lstStyle/>
          <a:p>
            <a:pPr algn="l"/>
            <a:r>
              <a:rPr sz="1050" b="0" i="0">
                <a:solidFill>
                  <a:srgbClr val="B0BCD4"/>
                </a:solidFill>
                <a:latin typeface="Segoe UI"/>
              </a:rPr>
              <a:t>React needs a unique key for each list item to track DOM changes efficiently.</a:t>
            </a:r>
          </a:p>
        </p:txBody>
      </p:sp>
      <p:sp>
        <p:nvSpPr>
          <p:cNvPr id="19" name="TextBox 18"/>
          <p:cNvSpPr txBox="1"/>
          <p:nvPr/>
        </p:nvSpPr>
        <p:spPr>
          <a:xfrm>
            <a:off x="8961120" y="5440680"/>
            <a:ext cx="2651760" cy="292608"/>
          </a:xfrm>
          <a:prstGeom prst="rect">
            <a:avLst/>
          </a:prstGeom>
          <a:noFill/>
        </p:spPr>
        <p:txBody>
          <a:bodyPr wrap="square">
            <a:spAutoFit/>
          </a:bodyPr>
          <a:lstStyle/>
          <a:p>
            <a:pPr algn="l"/>
            <a:r>
              <a:rPr sz="1200" b="1" i="0">
                <a:solidFill>
                  <a:srgbClr val="10B981"/>
                </a:solidFill>
                <a:latin typeface="Segoe UI"/>
              </a:rPr>
              <a:t>Declarative UI</a:t>
            </a:r>
          </a:p>
        </p:txBody>
      </p:sp>
      <p:sp>
        <p:nvSpPr>
          <p:cNvPr id="20" name="TextBox 19"/>
          <p:cNvSpPr txBox="1"/>
          <p:nvPr/>
        </p:nvSpPr>
        <p:spPr>
          <a:xfrm>
            <a:off x="8961120" y="5742432"/>
            <a:ext cx="2651760" cy="548640"/>
          </a:xfrm>
          <a:prstGeom prst="rect">
            <a:avLst/>
          </a:prstGeom>
          <a:noFill/>
        </p:spPr>
        <p:txBody>
          <a:bodyPr wrap="square">
            <a:spAutoFit/>
          </a:bodyPr>
          <a:lstStyle/>
          <a:p>
            <a:pPr algn="l"/>
            <a:r>
              <a:rPr sz="1050" b="0" i="0">
                <a:solidFill>
                  <a:srgbClr val="B0BCD4"/>
                </a:solidFill>
                <a:latin typeface="Segoe UI"/>
              </a:rPr>
              <a:t>We describe WHAT to show (the state), not HOW to update the DOM. React handles the how.</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18</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Project File Structure</a:t>
            </a:r>
          </a:p>
        </p:txBody>
      </p:sp>
      <p:sp>
        <p:nvSpPr>
          <p:cNvPr id="6" name="TextBox 5"/>
          <p:cNvSpPr txBox="1"/>
          <p:nvPr/>
        </p:nvSpPr>
        <p:spPr>
          <a:xfrm>
            <a:off x="457200" y="658368"/>
            <a:ext cx="11274552" cy="365760"/>
          </a:xfrm>
          <a:prstGeom prst="rect">
            <a:avLst/>
          </a:prstGeom>
          <a:noFill/>
        </p:spPr>
        <p:txBody>
          <a:bodyPr wrap="square">
            <a:spAutoFit/>
          </a:bodyPr>
          <a:lstStyle/>
          <a:p>
            <a:pPr algn="l"/>
            <a:r>
              <a:rPr sz="1500" b="0" i="0">
                <a:solidFill>
                  <a:srgbClr val="B0BCD4"/>
                </a:solidFill>
                <a:latin typeface="Segoe UI"/>
              </a:rPr>
              <a:t>Understanding where each file lives and why it is there.</a:t>
            </a:r>
          </a:p>
        </p:txBody>
      </p:sp>
      <p:sp>
        <p:nvSpPr>
          <p:cNvPr id="7" name="Rectangle 6"/>
          <p:cNvSpPr/>
          <p:nvPr/>
        </p:nvSpPr>
        <p:spPr>
          <a:xfrm>
            <a:off x="365760" y="1143000"/>
            <a:ext cx="5303520" cy="53949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234440"/>
            <a:ext cx="4937760" cy="347472"/>
          </a:xfrm>
          <a:prstGeom prst="rect">
            <a:avLst/>
          </a:prstGeom>
          <a:noFill/>
        </p:spPr>
        <p:txBody>
          <a:bodyPr wrap="square">
            <a:spAutoFit/>
          </a:bodyPr>
          <a:lstStyle/>
          <a:p>
            <a:pPr algn="l"/>
            <a:r>
              <a:rPr sz="1300" b="1" i="0">
                <a:solidFill>
                  <a:srgbClr val="F97316"/>
                </a:solidFill>
                <a:latin typeface="Segoe UI"/>
              </a:rPr>
              <a:t>⚛️  Frontend  (d:/GrantLens/frontend/)</a:t>
            </a:r>
          </a:p>
        </p:txBody>
      </p:sp>
      <p:sp>
        <p:nvSpPr>
          <p:cNvPr id="9" name="TextBox 8"/>
          <p:cNvSpPr txBox="1"/>
          <p:nvPr/>
        </p:nvSpPr>
        <p:spPr>
          <a:xfrm>
            <a:off x="548640" y="1664208"/>
            <a:ext cx="4937760" cy="4389120"/>
          </a:xfrm>
          <a:prstGeom prst="rect">
            <a:avLst/>
          </a:prstGeom>
          <a:noFill/>
        </p:spPr>
        <p:txBody>
          <a:bodyPr wrap="square">
            <a:spAutoFit/>
          </a:bodyPr>
          <a:lstStyle/>
          <a:p>
            <a:r>
              <a:rPr sz="1000">
                <a:solidFill>
                  <a:srgbClr val="38BDF8"/>
                </a:solidFill>
                <a:latin typeface="Consolas"/>
              </a:rPr>
              <a:t>frontend/
├── index.html          ← HTML shell. React mounts here.
├── package.json        ← npm dependencies &amp; scripts
├── vite.config.js      ← Vite build tool config
├── tailwind.config.js  ← Color tokens &amp; JIT config
├── postcss.config.js   ← PostCSS pipeline (Tailwind needs this)
└── src/
    ├── main.jsx        ← Entry point: ReactDOM.createRoot()
    ├── App.jsx         ← The whole UI — our main component
    └── index.css       ← Tailwind directives + base resets</a:t>
            </a:r>
          </a:p>
        </p:txBody>
      </p:sp>
      <p:sp>
        <p:nvSpPr>
          <p:cNvPr id="10" name="Rectangle 9"/>
          <p:cNvSpPr/>
          <p:nvPr/>
        </p:nvSpPr>
        <p:spPr>
          <a:xfrm>
            <a:off x="5989320" y="1143000"/>
            <a:ext cx="5806440" cy="53949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72200" y="1234440"/>
            <a:ext cx="5394960" cy="347472"/>
          </a:xfrm>
          <a:prstGeom prst="rect">
            <a:avLst/>
          </a:prstGeom>
          <a:noFill/>
        </p:spPr>
        <p:txBody>
          <a:bodyPr wrap="square">
            <a:spAutoFit/>
          </a:bodyPr>
          <a:lstStyle/>
          <a:p>
            <a:pPr algn="l"/>
            <a:r>
              <a:rPr sz="1300" b="1" i="0">
                <a:solidFill>
                  <a:srgbClr val="10B981"/>
                </a:solidFill>
                <a:latin typeface="Segoe UI"/>
              </a:rPr>
              <a:t>🐍  Backend  (d:/GrantLens/backend/)</a:t>
            </a:r>
          </a:p>
        </p:txBody>
      </p:sp>
      <p:sp>
        <p:nvSpPr>
          <p:cNvPr id="12" name="TextBox 11"/>
          <p:cNvSpPr txBox="1"/>
          <p:nvPr/>
        </p:nvSpPr>
        <p:spPr>
          <a:xfrm>
            <a:off x="6172200" y="1664208"/>
            <a:ext cx="5394960" cy="4389120"/>
          </a:xfrm>
          <a:prstGeom prst="rect">
            <a:avLst/>
          </a:prstGeom>
          <a:noFill/>
        </p:spPr>
        <p:txBody>
          <a:bodyPr wrap="square">
            <a:spAutoFit/>
          </a:bodyPr>
          <a:lstStyle/>
          <a:p>
            <a:r>
              <a:rPr sz="1000">
                <a:solidFill>
                  <a:srgbClr val="38BDF8"/>
                </a:solidFill>
                <a:latin typeface="Consolas"/>
              </a:rPr>
              <a:t>backend/
├── manage.py              ← Django CLI. Runs the server, migrations.
├── db.sqlite3             ← The database file (created by 'migrate')
└── grantlens_backend/
    ├── __init__.py        ← Marks this as a Python package
    ├── settings.py        ← ALL Django config (CORS, DB, apps, etc.)
    ├── urls.py            ← URL routing + api_status() view function
    ├── wsgi.py            ← Production server entry point
    └── asgi.py            ← Async production entry point</a:t>
            </a:r>
          </a:p>
        </p:txBody>
      </p:sp>
      <p:sp>
        <p:nvSpPr>
          <p:cNvPr id="13" name="TextBox 12"/>
          <p:cNvSpPr txBox="1"/>
          <p:nvPr/>
        </p:nvSpPr>
        <p:spPr>
          <a:xfrm>
            <a:off x="365760" y="6492240"/>
            <a:ext cx="11430000" cy="320040"/>
          </a:xfrm>
          <a:prstGeom prst="rect">
            <a:avLst/>
          </a:prstGeom>
          <a:noFill/>
        </p:spPr>
        <p:txBody>
          <a:bodyPr wrap="square">
            <a:spAutoFit/>
          </a:bodyPr>
          <a:lstStyle/>
          <a:p>
            <a:pPr algn="l"/>
            <a:r>
              <a:rPr sz="1200" b="0" i="1" dirty="0">
                <a:solidFill>
                  <a:srgbClr val="64748B"/>
                </a:solidFill>
                <a:latin typeface="Segoe UI"/>
              </a:rPr>
              <a:t>The two servers run simultaneously and communicate only through HTTP. They are completely independent — changing the frontend does not require restarting Django.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19</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Running the Project — How Both Servers Start</a:t>
            </a:r>
          </a:p>
        </p:txBody>
      </p:sp>
      <p:sp>
        <p:nvSpPr>
          <p:cNvPr id="6" name="TextBox 5"/>
          <p:cNvSpPr txBox="1"/>
          <p:nvPr/>
        </p:nvSpPr>
        <p:spPr>
          <a:xfrm>
            <a:off x="457200" y="658368"/>
            <a:ext cx="11274552" cy="365760"/>
          </a:xfrm>
          <a:prstGeom prst="rect">
            <a:avLst/>
          </a:prstGeom>
          <a:noFill/>
        </p:spPr>
        <p:txBody>
          <a:bodyPr wrap="square">
            <a:spAutoFit/>
          </a:bodyPr>
          <a:lstStyle/>
          <a:p>
            <a:pPr algn="l"/>
            <a:r>
              <a:rPr sz="1500" b="0" i="0">
                <a:solidFill>
                  <a:srgbClr val="B0BCD4"/>
                </a:solidFill>
                <a:latin typeface="Segoe UI"/>
              </a:rPr>
              <a:t>Two terminal windows, two commands, one full-stack application.</a:t>
            </a:r>
          </a:p>
        </p:txBody>
      </p:sp>
      <p:sp>
        <p:nvSpPr>
          <p:cNvPr id="7" name="Rectangle 6"/>
          <p:cNvSpPr/>
          <p:nvPr/>
        </p:nvSpPr>
        <p:spPr>
          <a:xfrm>
            <a:off x="365760" y="1143000"/>
            <a:ext cx="5486400" cy="256032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234440"/>
            <a:ext cx="5120640" cy="347472"/>
          </a:xfrm>
          <a:prstGeom prst="rect">
            <a:avLst/>
          </a:prstGeom>
          <a:noFill/>
        </p:spPr>
        <p:txBody>
          <a:bodyPr wrap="square">
            <a:spAutoFit/>
          </a:bodyPr>
          <a:lstStyle/>
          <a:p>
            <a:pPr algn="l"/>
            <a:r>
              <a:rPr sz="1300" b="1" i="0">
                <a:solidFill>
                  <a:srgbClr val="10B981"/>
                </a:solidFill>
                <a:latin typeface="Segoe UI"/>
              </a:rPr>
              <a:t>Terminal 1 — Start Django Backend</a:t>
            </a:r>
          </a:p>
        </p:txBody>
      </p:sp>
      <p:sp>
        <p:nvSpPr>
          <p:cNvPr id="9" name="TextBox 8"/>
          <p:cNvSpPr txBox="1"/>
          <p:nvPr/>
        </p:nvSpPr>
        <p:spPr>
          <a:xfrm>
            <a:off x="548640" y="1664208"/>
            <a:ext cx="5120640" cy="1920240"/>
          </a:xfrm>
          <a:prstGeom prst="rect">
            <a:avLst/>
          </a:prstGeom>
          <a:noFill/>
        </p:spPr>
        <p:txBody>
          <a:bodyPr wrap="square">
            <a:spAutoFit/>
          </a:bodyPr>
          <a:lstStyle/>
          <a:p>
            <a:r>
              <a:rPr sz="1000">
                <a:solidFill>
                  <a:srgbClr val="38BDF8"/>
                </a:solidFill>
                <a:latin typeface="Consolas"/>
              </a:rPr>
              <a:t># Navigate to backend folder
cd d:/GrantLens/backend
# Start the Django development server
python manage.py runserver 127.0.0.1:8000
# Output:
# Watching for file changes with StatReloader
# Starting development server at http://127.0.0.1:8000/
# Quit the server with CTRL-BREAK.</a:t>
            </a:r>
          </a:p>
        </p:txBody>
      </p:sp>
      <p:sp>
        <p:nvSpPr>
          <p:cNvPr id="10" name="Rectangle 9"/>
          <p:cNvSpPr/>
          <p:nvPr/>
        </p:nvSpPr>
        <p:spPr>
          <a:xfrm>
            <a:off x="6126480" y="1143000"/>
            <a:ext cx="5669280" cy="256032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0" y="1234440"/>
            <a:ext cx="5303520" cy="347472"/>
          </a:xfrm>
          <a:prstGeom prst="rect">
            <a:avLst/>
          </a:prstGeom>
          <a:noFill/>
        </p:spPr>
        <p:txBody>
          <a:bodyPr wrap="square">
            <a:spAutoFit/>
          </a:bodyPr>
          <a:lstStyle/>
          <a:p>
            <a:pPr algn="l"/>
            <a:r>
              <a:rPr sz="1300" b="1" i="0">
                <a:solidFill>
                  <a:srgbClr val="F97316"/>
                </a:solidFill>
                <a:latin typeface="Segoe UI"/>
              </a:rPr>
              <a:t>Terminal 2 — Start React Frontend</a:t>
            </a:r>
          </a:p>
        </p:txBody>
      </p:sp>
      <p:sp>
        <p:nvSpPr>
          <p:cNvPr id="12" name="TextBox 11"/>
          <p:cNvSpPr txBox="1"/>
          <p:nvPr/>
        </p:nvSpPr>
        <p:spPr>
          <a:xfrm>
            <a:off x="6309360" y="1664208"/>
            <a:ext cx="5303520" cy="1920240"/>
          </a:xfrm>
          <a:prstGeom prst="rect">
            <a:avLst/>
          </a:prstGeom>
          <a:noFill/>
        </p:spPr>
        <p:txBody>
          <a:bodyPr wrap="square">
            <a:spAutoFit/>
          </a:bodyPr>
          <a:lstStyle/>
          <a:p>
            <a:r>
              <a:rPr sz="1000">
                <a:solidFill>
                  <a:srgbClr val="38BDF8"/>
                </a:solidFill>
                <a:latin typeface="Consolas"/>
              </a:rPr>
              <a:t># Navigate to frontend folder
cd d:/GrantLens/frontend
# Install dependencies (first time only)
npm install
# Start the Vite development server
npm run dev
# Output:
# VITE v5.x  ready in 341 ms
# ➜  Local:   http://localhost:5173/</a:t>
            </a:r>
          </a:p>
        </p:txBody>
      </p:sp>
      <p:sp>
        <p:nvSpPr>
          <p:cNvPr id="13" name="Rectangle 12"/>
          <p:cNvSpPr/>
          <p:nvPr/>
        </p:nvSpPr>
        <p:spPr>
          <a:xfrm>
            <a:off x="365760" y="3931920"/>
            <a:ext cx="5577840" cy="12344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4005072"/>
            <a:ext cx="5212080" cy="320040"/>
          </a:xfrm>
          <a:prstGeom prst="rect">
            <a:avLst/>
          </a:prstGeom>
          <a:noFill/>
        </p:spPr>
        <p:txBody>
          <a:bodyPr wrap="square">
            <a:spAutoFit/>
          </a:bodyPr>
          <a:lstStyle/>
          <a:p>
            <a:pPr algn="l"/>
            <a:r>
              <a:rPr sz="1300" b="1" i="0">
                <a:solidFill>
                  <a:srgbClr val="F97316"/>
                </a:solidFill>
                <a:latin typeface="Segoe UI"/>
              </a:rPr>
              <a:t>python manage.py runserver</a:t>
            </a:r>
          </a:p>
        </p:txBody>
      </p:sp>
      <p:sp>
        <p:nvSpPr>
          <p:cNvPr id="15" name="TextBox 14"/>
          <p:cNvSpPr txBox="1"/>
          <p:nvPr/>
        </p:nvSpPr>
        <p:spPr>
          <a:xfrm>
            <a:off x="548640" y="4343400"/>
            <a:ext cx="5212080" cy="749808"/>
          </a:xfrm>
          <a:prstGeom prst="rect">
            <a:avLst/>
          </a:prstGeom>
          <a:noFill/>
        </p:spPr>
        <p:txBody>
          <a:bodyPr wrap="square">
            <a:spAutoFit/>
          </a:bodyPr>
          <a:lstStyle/>
          <a:p>
            <a:pPr algn="l"/>
            <a:r>
              <a:rPr sz="1100" b="0" i="0">
                <a:solidFill>
                  <a:srgbClr val="B0BCD4"/>
                </a:solidFill>
                <a:latin typeface="Segoe UI"/>
              </a:rPr>
              <a:t>Django's CLI command that starts the built-in WSGI development server on port 8000. It auto-reloads when you save Python files.</a:t>
            </a:r>
          </a:p>
        </p:txBody>
      </p:sp>
      <p:sp>
        <p:nvSpPr>
          <p:cNvPr id="16" name="Rectangle 15"/>
          <p:cNvSpPr/>
          <p:nvPr/>
        </p:nvSpPr>
        <p:spPr>
          <a:xfrm>
            <a:off x="6309360" y="3931920"/>
            <a:ext cx="5577840" cy="12344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4005072"/>
            <a:ext cx="5212080" cy="320040"/>
          </a:xfrm>
          <a:prstGeom prst="rect">
            <a:avLst/>
          </a:prstGeom>
          <a:noFill/>
        </p:spPr>
        <p:txBody>
          <a:bodyPr wrap="square">
            <a:spAutoFit/>
          </a:bodyPr>
          <a:lstStyle/>
          <a:p>
            <a:pPr algn="l"/>
            <a:r>
              <a:rPr sz="1300" b="1" i="0">
                <a:solidFill>
                  <a:srgbClr val="F97316"/>
                </a:solidFill>
                <a:latin typeface="Segoe UI"/>
              </a:rPr>
              <a:t>npm install</a:t>
            </a:r>
          </a:p>
        </p:txBody>
      </p:sp>
      <p:sp>
        <p:nvSpPr>
          <p:cNvPr id="18" name="TextBox 17"/>
          <p:cNvSpPr txBox="1"/>
          <p:nvPr/>
        </p:nvSpPr>
        <p:spPr>
          <a:xfrm>
            <a:off x="6492240" y="4343400"/>
            <a:ext cx="5212080" cy="749808"/>
          </a:xfrm>
          <a:prstGeom prst="rect">
            <a:avLst/>
          </a:prstGeom>
          <a:noFill/>
        </p:spPr>
        <p:txBody>
          <a:bodyPr wrap="square">
            <a:spAutoFit/>
          </a:bodyPr>
          <a:lstStyle/>
          <a:p>
            <a:pPr algn="l"/>
            <a:r>
              <a:rPr sz="1100" b="0" i="0">
                <a:solidFill>
                  <a:srgbClr val="B0BCD4"/>
                </a:solidFill>
                <a:latin typeface="Segoe UI"/>
              </a:rPr>
              <a:t>Reads package.json and downloads all JavaScript dependencies (React, Vite, Tailwind, Lucide) into the node_modules folder.</a:t>
            </a:r>
          </a:p>
        </p:txBody>
      </p:sp>
      <p:sp>
        <p:nvSpPr>
          <p:cNvPr id="19" name="Rectangle 18"/>
          <p:cNvSpPr/>
          <p:nvPr/>
        </p:nvSpPr>
        <p:spPr>
          <a:xfrm>
            <a:off x="365760" y="5303520"/>
            <a:ext cx="5577840" cy="12344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5376672"/>
            <a:ext cx="5212080" cy="320040"/>
          </a:xfrm>
          <a:prstGeom prst="rect">
            <a:avLst/>
          </a:prstGeom>
          <a:noFill/>
        </p:spPr>
        <p:txBody>
          <a:bodyPr wrap="square">
            <a:spAutoFit/>
          </a:bodyPr>
          <a:lstStyle/>
          <a:p>
            <a:pPr algn="l"/>
            <a:r>
              <a:rPr sz="1300" b="1" i="0">
                <a:solidFill>
                  <a:srgbClr val="F97316"/>
                </a:solidFill>
                <a:latin typeface="Segoe UI"/>
              </a:rPr>
              <a:t>npm run dev</a:t>
            </a:r>
          </a:p>
        </p:txBody>
      </p:sp>
      <p:sp>
        <p:nvSpPr>
          <p:cNvPr id="21" name="TextBox 20"/>
          <p:cNvSpPr txBox="1"/>
          <p:nvPr/>
        </p:nvSpPr>
        <p:spPr>
          <a:xfrm>
            <a:off x="548640" y="5715000"/>
            <a:ext cx="5212080" cy="749808"/>
          </a:xfrm>
          <a:prstGeom prst="rect">
            <a:avLst/>
          </a:prstGeom>
          <a:noFill/>
        </p:spPr>
        <p:txBody>
          <a:bodyPr wrap="square">
            <a:spAutoFit/>
          </a:bodyPr>
          <a:lstStyle/>
          <a:p>
            <a:pPr algn="l"/>
            <a:r>
              <a:rPr sz="1100" b="0" i="0">
                <a:solidFill>
                  <a:srgbClr val="B0BCD4"/>
                </a:solidFill>
                <a:latin typeface="Segoe UI"/>
              </a:rPr>
              <a:t>Runs the 'dev' script from package.json — which is 'vite'. Starts Vite's dev server with Hot Module Replacement enabled.</a:t>
            </a:r>
          </a:p>
        </p:txBody>
      </p:sp>
      <p:sp>
        <p:nvSpPr>
          <p:cNvPr id="22" name="Rectangle 21"/>
          <p:cNvSpPr/>
          <p:nvPr/>
        </p:nvSpPr>
        <p:spPr>
          <a:xfrm>
            <a:off x="6309360" y="5303520"/>
            <a:ext cx="5577840" cy="12344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5376672"/>
            <a:ext cx="5212080" cy="320040"/>
          </a:xfrm>
          <a:prstGeom prst="rect">
            <a:avLst/>
          </a:prstGeom>
          <a:noFill/>
        </p:spPr>
        <p:txBody>
          <a:bodyPr wrap="square">
            <a:spAutoFit/>
          </a:bodyPr>
          <a:lstStyle/>
          <a:p>
            <a:pPr algn="l"/>
            <a:r>
              <a:rPr sz="1300" b="1" i="0">
                <a:solidFill>
                  <a:srgbClr val="F97316"/>
                </a:solidFill>
                <a:latin typeface="Segoe UI"/>
              </a:rPr>
              <a:t>Why two terminals?</a:t>
            </a:r>
          </a:p>
        </p:txBody>
      </p:sp>
      <p:sp>
        <p:nvSpPr>
          <p:cNvPr id="24" name="TextBox 23"/>
          <p:cNvSpPr txBox="1"/>
          <p:nvPr/>
        </p:nvSpPr>
        <p:spPr>
          <a:xfrm>
            <a:off x="6492240" y="5715000"/>
            <a:ext cx="5212080" cy="749808"/>
          </a:xfrm>
          <a:prstGeom prst="rect">
            <a:avLst/>
          </a:prstGeom>
          <a:noFill/>
        </p:spPr>
        <p:txBody>
          <a:bodyPr wrap="square">
            <a:spAutoFit/>
          </a:bodyPr>
          <a:lstStyle/>
          <a:p>
            <a:pPr algn="l"/>
            <a:r>
              <a:rPr sz="1100" b="0" i="0">
                <a:solidFill>
                  <a:srgbClr val="B0BCD4"/>
                </a:solidFill>
                <a:latin typeface="Segoe UI"/>
              </a:rPr>
              <a:t>Frontend and backend are separate processes. They don't share memory — they communicate only over the network via HTTP on different ports.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20</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Key CS Concepts We Learned</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500" b="0" i="0">
                <a:solidFill>
                  <a:srgbClr val="B0BCD4"/>
                </a:solidFill>
                <a:latin typeface="Segoe UI"/>
              </a:rPr>
              <a:t>Building GrantLens taught us real computer science — not just syntax, but why things work the way they do.</a:t>
            </a:r>
          </a:p>
        </p:txBody>
      </p:sp>
      <p:sp>
        <p:nvSpPr>
          <p:cNvPr id="7" name="Rectangle 6"/>
          <p:cNvSpPr/>
          <p:nvPr/>
        </p:nvSpPr>
        <p:spPr>
          <a:xfrm>
            <a:off x="365760" y="1234440"/>
            <a:ext cx="5623560" cy="120700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307592"/>
            <a:ext cx="5257800" cy="320040"/>
          </a:xfrm>
          <a:prstGeom prst="rect">
            <a:avLst/>
          </a:prstGeom>
          <a:noFill/>
        </p:spPr>
        <p:txBody>
          <a:bodyPr wrap="square">
            <a:spAutoFit/>
          </a:bodyPr>
          <a:lstStyle/>
          <a:p>
            <a:pPr algn="l"/>
            <a:r>
              <a:rPr sz="1250" b="1" i="0">
                <a:solidFill>
                  <a:srgbClr val="F97316"/>
                </a:solidFill>
                <a:latin typeface="Segoe UI"/>
              </a:rPr>
              <a:t>1. HTTP Request/Response Cycle</a:t>
            </a:r>
          </a:p>
        </p:txBody>
      </p:sp>
      <p:sp>
        <p:nvSpPr>
          <p:cNvPr id="9" name="TextBox 8"/>
          <p:cNvSpPr txBox="1"/>
          <p:nvPr/>
        </p:nvSpPr>
        <p:spPr>
          <a:xfrm>
            <a:off x="548640" y="1655064"/>
            <a:ext cx="5257800" cy="731520"/>
          </a:xfrm>
          <a:prstGeom prst="rect">
            <a:avLst/>
          </a:prstGeom>
          <a:noFill/>
        </p:spPr>
        <p:txBody>
          <a:bodyPr wrap="square">
            <a:spAutoFit/>
          </a:bodyPr>
          <a:lstStyle/>
          <a:p>
            <a:pPr algn="l"/>
            <a:r>
              <a:rPr sz="1100" b="0" i="0">
                <a:solidFill>
                  <a:srgbClr val="B0BCD4"/>
                </a:solidFill>
                <a:latin typeface="Segoe UI"/>
              </a:rPr>
              <a:t>Every browser-to-server interaction is a request (GET, POST, PUT, DELETE) and a response (200, 404, 500). We implemented GET → 200 + JSON.</a:t>
            </a:r>
          </a:p>
        </p:txBody>
      </p:sp>
      <p:sp>
        <p:nvSpPr>
          <p:cNvPr id="10" name="Rectangle 9"/>
          <p:cNvSpPr/>
          <p:nvPr/>
        </p:nvSpPr>
        <p:spPr>
          <a:xfrm>
            <a:off x="6281928" y="1234440"/>
            <a:ext cx="5623560" cy="120700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64808" y="1307592"/>
            <a:ext cx="5257800" cy="320040"/>
          </a:xfrm>
          <a:prstGeom prst="rect">
            <a:avLst/>
          </a:prstGeom>
          <a:noFill/>
        </p:spPr>
        <p:txBody>
          <a:bodyPr wrap="square">
            <a:spAutoFit/>
          </a:bodyPr>
          <a:lstStyle/>
          <a:p>
            <a:pPr algn="l"/>
            <a:r>
              <a:rPr sz="1250" b="1" i="0">
                <a:solidFill>
                  <a:srgbClr val="F97316"/>
                </a:solidFill>
                <a:latin typeface="Segoe UI"/>
              </a:rPr>
              <a:t>2. Asynchronous Programming</a:t>
            </a:r>
          </a:p>
        </p:txBody>
      </p:sp>
      <p:sp>
        <p:nvSpPr>
          <p:cNvPr id="12" name="TextBox 11"/>
          <p:cNvSpPr txBox="1"/>
          <p:nvPr/>
        </p:nvSpPr>
        <p:spPr>
          <a:xfrm>
            <a:off x="6464808" y="1655064"/>
            <a:ext cx="5257800" cy="731520"/>
          </a:xfrm>
          <a:prstGeom prst="rect">
            <a:avLst/>
          </a:prstGeom>
          <a:noFill/>
        </p:spPr>
        <p:txBody>
          <a:bodyPr wrap="square">
            <a:spAutoFit/>
          </a:bodyPr>
          <a:lstStyle/>
          <a:p>
            <a:pPr algn="l"/>
            <a:r>
              <a:rPr sz="1100" b="0" i="0">
                <a:solidFill>
                  <a:srgbClr val="B0BCD4"/>
                </a:solidFill>
                <a:latin typeface="Segoe UI"/>
              </a:rPr>
              <a:t>JavaScript is single-threaded. async/await lets us wait for network data without freezing the UI. The browser paints normally while fetch() runs.</a:t>
            </a:r>
          </a:p>
        </p:txBody>
      </p:sp>
      <p:sp>
        <p:nvSpPr>
          <p:cNvPr id="13" name="Rectangle 12"/>
          <p:cNvSpPr/>
          <p:nvPr/>
        </p:nvSpPr>
        <p:spPr>
          <a:xfrm>
            <a:off x="365760" y="2560320"/>
            <a:ext cx="5623560" cy="120700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2633472"/>
            <a:ext cx="5257800" cy="320040"/>
          </a:xfrm>
          <a:prstGeom prst="rect">
            <a:avLst/>
          </a:prstGeom>
          <a:noFill/>
        </p:spPr>
        <p:txBody>
          <a:bodyPr wrap="square">
            <a:spAutoFit/>
          </a:bodyPr>
          <a:lstStyle/>
          <a:p>
            <a:pPr algn="l"/>
            <a:r>
              <a:rPr sz="1250" b="1" i="0">
                <a:solidFill>
                  <a:srgbClr val="F97316"/>
                </a:solidFill>
                <a:latin typeface="Segoe UI"/>
              </a:rPr>
              <a:t>3. Component State Machine</a:t>
            </a:r>
          </a:p>
        </p:txBody>
      </p:sp>
      <p:sp>
        <p:nvSpPr>
          <p:cNvPr id="15" name="TextBox 14"/>
          <p:cNvSpPr txBox="1"/>
          <p:nvPr/>
        </p:nvSpPr>
        <p:spPr>
          <a:xfrm>
            <a:off x="548640" y="2980944"/>
            <a:ext cx="5257800" cy="731520"/>
          </a:xfrm>
          <a:prstGeom prst="rect">
            <a:avLst/>
          </a:prstGeom>
          <a:noFill/>
        </p:spPr>
        <p:txBody>
          <a:bodyPr wrap="square">
            <a:spAutoFit/>
          </a:bodyPr>
          <a:lstStyle/>
          <a:p>
            <a:pPr algn="l"/>
            <a:r>
              <a:rPr sz="1100" b="0" i="0">
                <a:solidFill>
                  <a:srgbClr val="B0BCD4"/>
                </a:solidFill>
                <a:latin typeface="Segoe UI"/>
              </a:rPr>
              <a:t>useState creates a state machine. Our app has 3 states: loading → connected or offline. The UI is a pure function of state.</a:t>
            </a:r>
          </a:p>
        </p:txBody>
      </p:sp>
      <p:sp>
        <p:nvSpPr>
          <p:cNvPr id="16" name="Rectangle 15"/>
          <p:cNvSpPr/>
          <p:nvPr/>
        </p:nvSpPr>
        <p:spPr>
          <a:xfrm>
            <a:off x="6281928" y="2560320"/>
            <a:ext cx="5623560" cy="120700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64808" y="2633472"/>
            <a:ext cx="5257800" cy="320040"/>
          </a:xfrm>
          <a:prstGeom prst="rect">
            <a:avLst/>
          </a:prstGeom>
          <a:noFill/>
        </p:spPr>
        <p:txBody>
          <a:bodyPr wrap="square">
            <a:spAutoFit/>
          </a:bodyPr>
          <a:lstStyle/>
          <a:p>
            <a:pPr algn="l"/>
            <a:r>
              <a:rPr sz="1250" b="1" i="0">
                <a:solidFill>
                  <a:srgbClr val="F97316"/>
                </a:solidFill>
                <a:latin typeface="Segoe UI"/>
              </a:rPr>
              <a:t>4. Virtual DOM Reconciliation</a:t>
            </a:r>
          </a:p>
        </p:txBody>
      </p:sp>
      <p:sp>
        <p:nvSpPr>
          <p:cNvPr id="18" name="TextBox 17"/>
          <p:cNvSpPr txBox="1"/>
          <p:nvPr/>
        </p:nvSpPr>
        <p:spPr>
          <a:xfrm>
            <a:off x="6464808" y="2980944"/>
            <a:ext cx="5257800" cy="731520"/>
          </a:xfrm>
          <a:prstGeom prst="rect">
            <a:avLst/>
          </a:prstGeom>
          <a:noFill/>
        </p:spPr>
        <p:txBody>
          <a:bodyPr wrap="square">
            <a:spAutoFit/>
          </a:bodyPr>
          <a:lstStyle/>
          <a:p>
            <a:pPr algn="l"/>
            <a:r>
              <a:rPr sz="1100" b="0" i="0">
                <a:solidFill>
                  <a:srgbClr val="B0BCD4"/>
                </a:solidFill>
                <a:latin typeface="Segoe UI"/>
              </a:rPr>
              <a:t>React diffs the new and old VDOM trees and only updates changed real DOM nodes — O(n) complexity instead of O(n³) naive approach.</a:t>
            </a:r>
          </a:p>
        </p:txBody>
      </p:sp>
      <p:sp>
        <p:nvSpPr>
          <p:cNvPr id="19" name="Rectangle 18"/>
          <p:cNvSpPr/>
          <p:nvPr/>
        </p:nvSpPr>
        <p:spPr>
          <a:xfrm>
            <a:off x="365760" y="3886200"/>
            <a:ext cx="5623560" cy="120700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3959352"/>
            <a:ext cx="5257800" cy="320040"/>
          </a:xfrm>
          <a:prstGeom prst="rect">
            <a:avLst/>
          </a:prstGeom>
          <a:noFill/>
        </p:spPr>
        <p:txBody>
          <a:bodyPr wrap="square">
            <a:spAutoFit/>
          </a:bodyPr>
          <a:lstStyle/>
          <a:p>
            <a:pPr algn="l"/>
            <a:r>
              <a:rPr sz="1250" b="1" i="0">
                <a:solidFill>
                  <a:srgbClr val="F97316"/>
                </a:solidFill>
                <a:latin typeface="Segoe UI"/>
              </a:rPr>
              <a:t>5. Middleware Architecture</a:t>
            </a:r>
          </a:p>
        </p:txBody>
      </p:sp>
      <p:sp>
        <p:nvSpPr>
          <p:cNvPr id="21" name="TextBox 20"/>
          <p:cNvSpPr txBox="1"/>
          <p:nvPr/>
        </p:nvSpPr>
        <p:spPr>
          <a:xfrm>
            <a:off x="548640" y="4306824"/>
            <a:ext cx="5257800" cy="731520"/>
          </a:xfrm>
          <a:prstGeom prst="rect">
            <a:avLst/>
          </a:prstGeom>
          <a:noFill/>
        </p:spPr>
        <p:txBody>
          <a:bodyPr wrap="square">
            <a:spAutoFit/>
          </a:bodyPr>
          <a:lstStyle/>
          <a:p>
            <a:pPr algn="l"/>
            <a:r>
              <a:rPr sz="1100" b="0" i="0">
                <a:solidFill>
                  <a:srgbClr val="B0BCD4"/>
                </a:solidFill>
                <a:latin typeface="Segoe UI"/>
              </a:rPr>
              <a:t>Django's middleware stack is like a chain of interceptors. Every request passes through each layer. CorsMiddleware must be first to intercept OPTIONS.</a:t>
            </a:r>
          </a:p>
        </p:txBody>
      </p:sp>
      <p:sp>
        <p:nvSpPr>
          <p:cNvPr id="22" name="Rectangle 21"/>
          <p:cNvSpPr/>
          <p:nvPr/>
        </p:nvSpPr>
        <p:spPr>
          <a:xfrm>
            <a:off x="6281928" y="3886200"/>
            <a:ext cx="5623560" cy="120700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64808" y="3959352"/>
            <a:ext cx="5257800" cy="320040"/>
          </a:xfrm>
          <a:prstGeom prst="rect">
            <a:avLst/>
          </a:prstGeom>
          <a:noFill/>
        </p:spPr>
        <p:txBody>
          <a:bodyPr wrap="square">
            <a:spAutoFit/>
          </a:bodyPr>
          <a:lstStyle/>
          <a:p>
            <a:pPr algn="l"/>
            <a:r>
              <a:rPr sz="1250" b="1" i="0">
                <a:solidFill>
                  <a:srgbClr val="F97316"/>
                </a:solidFill>
                <a:latin typeface="Segoe UI"/>
              </a:rPr>
              <a:t>6. Database Migrations</a:t>
            </a:r>
          </a:p>
        </p:txBody>
      </p:sp>
      <p:sp>
        <p:nvSpPr>
          <p:cNvPr id="24" name="TextBox 23"/>
          <p:cNvSpPr txBox="1"/>
          <p:nvPr/>
        </p:nvSpPr>
        <p:spPr>
          <a:xfrm>
            <a:off x="6464808" y="4306824"/>
            <a:ext cx="5257800" cy="731520"/>
          </a:xfrm>
          <a:prstGeom prst="rect">
            <a:avLst/>
          </a:prstGeom>
          <a:noFill/>
        </p:spPr>
        <p:txBody>
          <a:bodyPr wrap="square">
            <a:spAutoFit/>
          </a:bodyPr>
          <a:lstStyle/>
          <a:p>
            <a:pPr algn="l"/>
            <a:r>
              <a:rPr sz="1100" b="0" i="0">
                <a:solidFill>
                  <a:srgbClr val="B0BCD4"/>
                </a:solidFill>
                <a:latin typeface="Segoe UI"/>
              </a:rPr>
              <a:t>Version-controlled schema changes. Instead of manually writing SQL, we write Python Model classes and Django generates the SQL migrations automatically.</a:t>
            </a:r>
          </a:p>
        </p:txBody>
      </p:sp>
      <p:sp>
        <p:nvSpPr>
          <p:cNvPr id="25" name="Rectangle 24"/>
          <p:cNvSpPr/>
          <p:nvPr/>
        </p:nvSpPr>
        <p:spPr>
          <a:xfrm>
            <a:off x="365760" y="5212080"/>
            <a:ext cx="5623560" cy="120700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5285232"/>
            <a:ext cx="5257800" cy="320040"/>
          </a:xfrm>
          <a:prstGeom prst="rect">
            <a:avLst/>
          </a:prstGeom>
          <a:noFill/>
        </p:spPr>
        <p:txBody>
          <a:bodyPr wrap="square">
            <a:spAutoFit/>
          </a:bodyPr>
          <a:lstStyle/>
          <a:p>
            <a:pPr algn="l"/>
            <a:r>
              <a:rPr sz="1250" b="1" i="0">
                <a:solidFill>
                  <a:srgbClr val="F97316"/>
                </a:solidFill>
                <a:latin typeface="Segoe UI"/>
              </a:rPr>
              <a:t>7. REST API Design</a:t>
            </a:r>
          </a:p>
        </p:txBody>
      </p:sp>
      <p:sp>
        <p:nvSpPr>
          <p:cNvPr id="27" name="TextBox 26"/>
          <p:cNvSpPr txBox="1"/>
          <p:nvPr/>
        </p:nvSpPr>
        <p:spPr>
          <a:xfrm>
            <a:off x="548640" y="5632704"/>
            <a:ext cx="5257800" cy="731520"/>
          </a:xfrm>
          <a:prstGeom prst="rect">
            <a:avLst/>
          </a:prstGeom>
          <a:noFill/>
        </p:spPr>
        <p:txBody>
          <a:bodyPr wrap="square">
            <a:spAutoFit/>
          </a:bodyPr>
          <a:lstStyle/>
          <a:p>
            <a:pPr algn="l"/>
            <a:r>
              <a:rPr sz="1100" b="0" i="0">
                <a:solidFill>
                  <a:srgbClr val="B0BCD4"/>
                </a:solidFill>
                <a:latin typeface="Segoe UI"/>
              </a:rPr>
              <a:t>Representational State Transfer — stateless, URL-addressable resources. /api/status/ is a GET endpoint that returns a JSON resource representation.</a:t>
            </a:r>
          </a:p>
        </p:txBody>
      </p:sp>
      <p:sp>
        <p:nvSpPr>
          <p:cNvPr id="28" name="Rectangle 27"/>
          <p:cNvSpPr/>
          <p:nvPr/>
        </p:nvSpPr>
        <p:spPr>
          <a:xfrm>
            <a:off x="6281928" y="5212080"/>
            <a:ext cx="5623560" cy="120700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64808" y="5285232"/>
            <a:ext cx="5257800" cy="320040"/>
          </a:xfrm>
          <a:prstGeom prst="rect">
            <a:avLst/>
          </a:prstGeom>
          <a:noFill/>
        </p:spPr>
        <p:txBody>
          <a:bodyPr wrap="square">
            <a:spAutoFit/>
          </a:bodyPr>
          <a:lstStyle/>
          <a:p>
            <a:pPr algn="l"/>
            <a:r>
              <a:rPr sz="1250" b="1" i="0">
                <a:solidFill>
                  <a:srgbClr val="F97316"/>
                </a:solidFill>
                <a:latin typeface="Segoe UI"/>
              </a:rPr>
              <a:t>8. CORS &amp; Same-Origin Policy</a:t>
            </a:r>
          </a:p>
        </p:txBody>
      </p:sp>
      <p:sp>
        <p:nvSpPr>
          <p:cNvPr id="30" name="TextBox 29"/>
          <p:cNvSpPr txBox="1"/>
          <p:nvPr/>
        </p:nvSpPr>
        <p:spPr>
          <a:xfrm>
            <a:off x="6464808" y="5632704"/>
            <a:ext cx="5257800" cy="731520"/>
          </a:xfrm>
          <a:prstGeom prst="rect">
            <a:avLst/>
          </a:prstGeom>
          <a:noFill/>
        </p:spPr>
        <p:txBody>
          <a:bodyPr wrap="square">
            <a:spAutoFit/>
          </a:bodyPr>
          <a:lstStyle/>
          <a:p>
            <a:pPr algn="l"/>
            <a:r>
              <a:rPr sz="1100" b="0" i="0">
                <a:solidFill>
                  <a:srgbClr val="B0BCD4"/>
                </a:solidFill>
                <a:latin typeface="Segoe UI"/>
              </a:rPr>
              <a:t>Browser security: scripts can only read responses from their own origin unless the server explicitly grants permission via CORS headers.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21</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Challenges We Faced &amp; How We Solved Them</a:t>
            </a:r>
          </a:p>
        </p:txBody>
      </p:sp>
      <p:sp>
        <p:nvSpPr>
          <p:cNvPr id="6" name="TextBox 5"/>
          <p:cNvSpPr txBox="1"/>
          <p:nvPr/>
        </p:nvSpPr>
        <p:spPr>
          <a:xfrm>
            <a:off x="457200" y="658368"/>
            <a:ext cx="11274552" cy="365760"/>
          </a:xfrm>
          <a:prstGeom prst="rect">
            <a:avLst/>
          </a:prstGeom>
          <a:noFill/>
        </p:spPr>
        <p:txBody>
          <a:bodyPr wrap="square">
            <a:spAutoFit/>
          </a:bodyPr>
          <a:lstStyle/>
          <a:p>
            <a:pPr algn="l"/>
            <a:r>
              <a:rPr sz="1500" b="0" i="0">
                <a:solidFill>
                  <a:srgbClr val="B0BCD4"/>
                </a:solidFill>
                <a:latin typeface="Segoe UI"/>
              </a:rPr>
              <a:t>Real engineering is problem-solving. These are the actual errors we debugged during Week 1 development.</a:t>
            </a:r>
          </a:p>
        </p:txBody>
      </p:sp>
      <p:sp>
        <p:nvSpPr>
          <p:cNvPr id="7" name="Rectangle 6"/>
          <p:cNvSpPr/>
          <p:nvPr/>
        </p:nvSpPr>
        <p:spPr>
          <a:xfrm>
            <a:off x="365760" y="1234440"/>
            <a:ext cx="5623560" cy="246888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325880"/>
            <a:ext cx="5257800" cy="320040"/>
          </a:xfrm>
          <a:prstGeom prst="rect">
            <a:avLst/>
          </a:prstGeom>
          <a:noFill/>
        </p:spPr>
        <p:txBody>
          <a:bodyPr wrap="square">
            <a:spAutoFit/>
          </a:bodyPr>
          <a:lstStyle/>
          <a:p>
            <a:pPr algn="l"/>
            <a:r>
              <a:rPr sz="1250" b="1" i="0">
                <a:solidFill>
                  <a:srgbClr val="EF4444"/>
                </a:solidFill>
                <a:latin typeface="Segoe UI"/>
              </a:rPr>
              <a:t>❌  Tailwind CSS v4 Broke PostCSS</a:t>
            </a:r>
          </a:p>
        </p:txBody>
      </p:sp>
      <p:sp>
        <p:nvSpPr>
          <p:cNvPr id="9" name="TextBox 8"/>
          <p:cNvSpPr txBox="1"/>
          <p:nvPr/>
        </p:nvSpPr>
        <p:spPr>
          <a:xfrm>
            <a:off x="548640" y="1691640"/>
            <a:ext cx="5257800" cy="685800"/>
          </a:xfrm>
          <a:prstGeom prst="rect">
            <a:avLst/>
          </a:prstGeom>
          <a:noFill/>
        </p:spPr>
        <p:txBody>
          <a:bodyPr wrap="square">
            <a:spAutoFit/>
          </a:bodyPr>
          <a:lstStyle/>
          <a:p>
            <a:pPr algn="l"/>
            <a:r>
              <a:rPr sz="1100" b="0" i="0">
                <a:solidFill>
                  <a:srgbClr val="B0BCD4"/>
                </a:solidFill>
                <a:latin typeface="Segoe UI"/>
              </a:rPr>
              <a:t>Problem: npm install tailwindcss installed version 4. Tailwind v4 changed its PostCSS plugin structure — our postcss.config.js stopped working and the build failed.</a:t>
            </a:r>
          </a:p>
        </p:txBody>
      </p:sp>
      <p:sp>
        <p:nvSpPr>
          <p:cNvPr id="10" name="TextBox 9"/>
          <p:cNvSpPr txBox="1"/>
          <p:nvPr/>
        </p:nvSpPr>
        <p:spPr>
          <a:xfrm>
            <a:off x="548640" y="2404872"/>
            <a:ext cx="5257800" cy="685800"/>
          </a:xfrm>
          <a:prstGeom prst="rect">
            <a:avLst/>
          </a:prstGeom>
          <a:noFill/>
        </p:spPr>
        <p:txBody>
          <a:bodyPr wrap="square">
            <a:spAutoFit/>
          </a:bodyPr>
          <a:lstStyle/>
          <a:p>
            <a:pPr algn="l"/>
            <a:r>
              <a:rPr sz="1100" b="0" i="0">
                <a:solidFill>
                  <a:srgbClr val="10B981"/>
                </a:solidFill>
                <a:latin typeface="Segoe UI"/>
              </a:rPr>
              <a:t>✅  Fix: Pinned tailwindcss@^3.4.17 in package.json. Tailwind v3 uses the classic 'require' CommonJS plugin format that PostCSS expects.</a:t>
            </a:r>
          </a:p>
        </p:txBody>
      </p:sp>
      <p:sp>
        <p:nvSpPr>
          <p:cNvPr id="11" name="TextBox 10"/>
          <p:cNvSpPr txBox="1"/>
          <p:nvPr/>
        </p:nvSpPr>
        <p:spPr>
          <a:xfrm>
            <a:off x="548640" y="3172968"/>
            <a:ext cx="5257800" cy="365760"/>
          </a:xfrm>
          <a:prstGeom prst="rect">
            <a:avLst/>
          </a:prstGeom>
          <a:noFill/>
        </p:spPr>
        <p:txBody>
          <a:bodyPr wrap="square">
            <a:spAutoFit/>
          </a:bodyPr>
          <a:lstStyle/>
          <a:p>
            <a:r>
              <a:rPr sz="1000">
                <a:solidFill>
                  <a:srgbClr val="38BDF8"/>
                </a:solidFill>
                <a:latin typeface="Consolas"/>
              </a:rPr>
              <a:t>npm install tailwindcss@^3.4.17</a:t>
            </a:r>
          </a:p>
        </p:txBody>
      </p:sp>
      <p:sp>
        <p:nvSpPr>
          <p:cNvPr id="12" name="Rectangle 11"/>
          <p:cNvSpPr/>
          <p:nvPr/>
        </p:nvSpPr>
        <p:spPr>
          <a:xfrm>
            <a:off x="6281928" y="1234440"/>
            <a:ext cx="5623560" cy="246888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64808" y="1325880"/>
            <a:ext cx="5257800" cy="320040"/>
          </a:xfrm>
          <a:prstGeom prst="rect">
            <a:avLst/>
          </a:prstGeom>
          <a:noFill/>
        </p:spPr>
        <p:txBody>
          <a:bodyPr wrap="square">
            <a:spAutoFit/>
          </a:bodyPr>
          <a:lstStyle/>
          <a:p>
            <a:pPr algn="l"/>
            <a:r>
              <a:rPr sz="1250" b="1" i="0">
                <a:solidFill>
                  <a:srgbClr val="EF4444"/>
                </a:solidFill>
                <a:latin typeface="Segoe UI"/>
              </a:rPr>
              <a:t>❌  CORS Blocked All API Requests</a:t>
            </a:r>
          </a:p>
        </p:txBody>
      </p:sp>
      <p:sp>
        <p:nvSpPr>
          <p:cNvPr id="14" name="TextBox 13"/>
          <p:cNvSpPr txBox="1"/>
          <p:nvPr/>
        </p:nvSpPr>
        <p:spPr>
          <a:xfrm>
            <a:off x="6464808" y="1691640"/>
            <a:ext cx="5257800" cy="685800"/>
          </a:xfrm>
          <a:prstGeom prst="rect">
            <a:avLst/>
          </a:prstGeom>
          <a:noFill/>
        </p:spPr>
        <p:txBody>
          <a:bodyPr wrap="square">
            <a:spAutoFit/>
          </a:bodyPr>
          <a:lstStyle/>
          <a:p>
            <a:pPr algn="l"/>
            <a:r>
              <a:rPr sz="1100" b="0" i="0">
                <a:solidFill>
                  <a:srgbClr val="B0BCD4"/>
                </a:solidFill>
                <a:latin typeface="Segoe UI"/>
              </a:rPr>
              <a:t>Problem: React's fetch() calls returned: 'Access to fetch from origin localhost:5173 has been blocked by CORS policy.' The browser refused to process the response.</a:t>
            </a:r>
          </a:p>
        </p:txBody>
      </p:sp>
      <p:sp>
        <p:nvSpPr>
          <p:cNvPr id="15" name="TextBox 14"/>
          <p:cNvSpPr txBox="1"/>
          <p:nvPr/>
        </p:nvSpPr>
        <p:spPr>
          <a:xfrm>
            <a:off x="6464808" y="2404872"/>
            <a:ext cx="5257800" cy="685800"/>
          </a:xfrm>
          <a:prstGeom prst="rect">
            <a:avLst/>
          </a:prstGeom>
          <a:noFill/>
        </p:spPr>
        <p:txBody>
          <a:bodyPr wrap="square">
            <a:spAutoFit/>
          </a:bodyPr>
          <a:lstStyle/>
          <a:p>
            <a:pPr algn="l"/>
            <a:r>
              <a:rPr sz="1100" b="0" i="0">
                <a:solidFill>
                  <a:srgbClr val="10B981"/>
                </a:solidFill>
                <a:latin typeface="Segoe UI"/>
              </a:rPr>
              <a:t>✅  Fix: Installed django-cors-headers and placed CorsMiddleware at index 0 of MIDDLEWARE. Set CORS_ALLOW_ALL_ORIGINS = True for development.</a:t>
            </a:r>
          </a:p>
        </p:txBody>
      </p:sp>
      <p:sp>
        <p:nvSpPr>
          <p:cNvPr id="16" name="TextBox 15"/>
          <p:cNvSpPr txBox="1"/>
          <p:nvPr/>
        </p:nvSpPr>
        <p:spPr>
          <a:xfrm>
            <a:off x="6464808" y="3172968"/>
            <a:ext cx="5257800" cy="365760"/>
          </a:xfrm>
          <a:prstGeom prst="rect">
            <a:avLst/>
          </a:prstGeom>
          <a:noFill/>
        </p:spPr>
        <p:txBody>
          <a:bodyPr wrap="square">
            <a:spAutoFit/>
          </a:bodyPr>
          <a:lstStyle/>
          <a:p>
            <a:r>
              <a:rPr sz="1000">
                <a:solidFill>
                  <a:srgbClr val="38BDF8"/>
                </a:solidFill>
                <a:latin typeface="Consolas"/>
              </a:rPr>
              <a:t>pip install django-cors-headers</a:t>
            </a:r>
          </a:p>
        </p:txBody>
      </p:sp>
      <p:sp>
        <p:nvSpPr>
          <p:cNvPr id="17" name="Rectangle 16"/>
          <p:cNvSpPr/>
          <p:nvPr/>
        </p:nvSpPr>
        <p:spPr>
          <a:xfrm>
            <a:off x="365760" y="3840480"/>
            <a:ext cx="5623560" cy="246888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3931920"/>
            <a:ext cx="5257800" cy="320040"/>
          </a:xfrm>
          <a:prstGeom prst="rect">
            <a:avLst/>
          </a:prstGeom>
          <a:noFill/>
        </p:spPr>
        <p:txBody>
          <a:bodyPr wrap="square">
            <a:spAutoFit/>
          </a:bodyPr>
          <a:lstStyle/>
          <a:p>
            <a:pPr algn="l"/>
            <a:r>
              <a:rPr sz="1250" b="1" i="0">
                <a:solidFill>
                  <a:srgbClr val="EF4444"/>
                </a:solidFill>
                <a:latin typeface="Segoe UI"/>
              </a:rPr>
              <a:t>❌  useEffect Caused Infinite Loop</a:t>
            </a:r>
          </a:p>
        </p:txBody>
      </p:sp>
      <p:sp>
        <p:nvSpPr>
          <p:cNvPr id="19" name="TextBox 18"/>
          <p:cNvSpPr txBox="1"/>
          <p:nvPr/>
        </p:nvSpPr>
        <p:spPr>
          <a:xfrm>
            <a:off x="548640" y="4297680"/>
            <a:ext cx="5257800" cy="685800"/>
          </a:xfrm>
          <a:prstGeom prst="rect">
            <a:avLst/>
          </a:prstGeom>
          <a:noFill/>
        </p:spPr>
        <p:txBody>
          <a:bodyPr wrap="square">
            <a:spAutoFit/>
          </a:bodyPr>
          <a:lstStyle/>
          <a:p>
            <a:pPr algn="l"/>
            <a:r>
              <a:rPr sz="1100" b="0" i="0">
                <a:solidFill>
                  <a:srgbClr val="B0BCD4"/>
                </a:solidFill>
                <a:latin typeface="Segoe UI"/>
              </a:rPr>
              <a:t>Problem: Forgot the [] dependency array. checkBackend() updated state → state triggered re-render → re-render triggered useEffect → infinite GET requests crashed Django.</a:t>
            </a:r>
          </a:p>
        </p:txBody>
      </p:sp>
      <p:sp>
        <p:nvSpPr>
          <p:cNvPr id="20" name="TextBox 19"/>
          <p:cNvSpPr txBox="1"/>
          <p:nvPr/>
        </p:nvSpPr>
        <p:spPr>
          <a:xfrm>
            <a:off x="548640" y="5010912"/>
            <a:ext cx="5257800" cy="685800"/>
          </a:xfrm>
          <a:prstGeom prst="rect">
            <a:avLst/>
          </a:prstGeom>
          <a:noFill/>
        </p:spPr>
        <p:txBody>
          <a:bodyPr wrap="square">
            <a:spAutoFit/>
          </a:bodyPr>
          <a:lstStyle/>
          <a:p>
            <a:pPr algn="l"/>
            <a:r>
              <a:rPr sz="1100" b="0" i="0">
                <a:solidFill>
                  <a:srgbClr val="10B981"/>
                </a:solidFill>
                <a:latin typeface="Segoe UI"/>
              </a:rPr>
              <a:t>✅  Fix: Added the empty [] as the second argument to useEffect. This restricts execution to once on mount only.</a:t>
            </a:r>
          </a:p>
        </p:txBody>
      </p:sp>
      <p:sp>
        <p:nvSpPr>
          <p:cNvPr id="21" name="TextBox 20"/>
          <p:cNvSpPr txBox="1"/>
          <p:nvPr/>
        </p:nvSpPr>
        <p:spPr>
          <a:xfrm>
            <a:off x="548640" y="5779008"/>
            <a:ext cx="5257800" cy="365760"/>
          </a:xfrm>
          <a:prstGeom prst="rect">
            <a:avLst/>
          </a:prstGeom>
          <a:noFill/>
        </p:spPr>
        <p:txBody>
          <a:bodyPr wrap="square">
            <a:spAutoFit/>
          </a:bodyPr>
          <a:lstStyle/>
          <a:p>
            <a:r>
              <a:rPr sz="1000">
                <a:solidFill>
                  <a:srgbClr val="38BDF8"/>
                </a:solidFill>
                <a:latin typeface="Consolas"/>
              </a:rPr>
              <a:t>useEffect(() =&gt; { checkBackend(); }, []);</a:t>
            </a:r>
          </a:p>
        </p:txBody>
      </p:sp>
      <p:sp>
        <p:nvSpPr>
          <p:cNvPr id="22" name="Rectangle 21"/>
          <p:cNvSpPr/>
          <p:nvPr/>
        </p:nvSpPr>
        <p:spPr>
          <a:xfrm>
            <a:off x="6281928" y="3840480"/>
            <a:ext cx="5623560" cy="246888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64808" y="3931920"/>
            <a:ext cx="5257800" cy="320040"/>
          </a:xfrm>
          <a:prstGeom prst="rect">
            <a:avLst/>
          </a:prstGeom>
          <a:noFill/>
        </p:spPr>
        <p:txBody>
          <a:bodyPr wrap="square">
            <a:spAutoFit/>
          </a:bodyPr>
          <a:lstStyle/>
          <a:p>
            <a:pPr algn="l"/>
            <a:r>
              <a:rPr sz="1250" b="1" i="0">
                <a:solidFill>
                  <a:srgbClr val="EF4444"/>
                </a:solidFill>
                <a:latin typeface="Segoe UI"/>
              </a:rPr>
              <a:t>❌  lucide-react Missing 'Github' Icon</a:t>
            </a:r>
          </a:p>
        </p:txBody>
      </p:sp>
      <p:sp>
        <p:nvSpPr>
          <p:cNvPr id="24" name="TextBox 23"/>
          <p:cNvSpPr txBox="1"/>
          <p:nvPr/>
        </p:nvSpPr>
        <p:spPr>
          <a:xfrm>
            <a:off x="6464808" y="4297680"/>
            <a:ext cx="5257800" cy="685800"/>
          </a:xfrm>
          <a:prstGeom prst="rect">
            <a:avLst/>
          </a:prstGeom>
          <a:noFill/>
        </p:spPr>
        <p:txBody>
          <a:bodyPr wrap="square">
            <a:spAutoFit/>
          </a:bodyPr>
          <a:lstStyle/>
          <a:p>
            <a:pPr algn="l"/>
            <a:r>
              <a:rPr sz="1100" b="0" i="0">
                <a:solidFill>
                  <a:srgbClr val="B0BCD4"/>
                </a:solidFill>
                <a:latin typeface="Segoe UI"/>
              </a:rPr>
              <a:t>Problem: The import { Github } from 'lucide-react' caused a build error: 'Github is not exported from lucide-react'.</a:t>
            </a:r>
          </a:p>
        </p:txBody>
      </p:sp>
      <p:sp>
        <p:nvSpPr>
          <p:cNvPr id="25" name="TextBox 24"/>
          <p:cNvSpPr txBox="1"/>
          <p:nvPr/>
        </p:nvSpPr>
        <p:spPr>
          <a:xfrm>
            <a:off x="6464808" y="5010912"/>
            <a:ext cx="5257800" cy="685800"/>
          </a:xfrm>
          <a:prstGeom prst="rect">
            <a:avLst/>
          </a:prstGeom>
          <a:noFill/>
        </p:spPr>
        <p:txBody>
          <a:bodyPr wrap="square">
            <a:spAutoFit/>
          </a:bodyPr>
          <a:lstStyle/>
          <a:p>
            <a:pPr algn="l"/>
            <a:r>
              <a:rPr sz="1100" b="0" i="0">
                <a:solidFill>
                  <a:srgbClr val="10B981"/>
                </a:solidFill>
                <a:latin typeface="Segoe UI"/>
              </a:rPr>
              <a:t>✅  Fix: Removed the Github import. Lucide-React uses 'Github' not 'GitHub' — but it was removed entirely as it wasn't needed.</a:t>
            </a:r>
          </a:p>
        </p:txBody>
      </p:sp>
      <p:sp>
        <p:nvSpPr>
          <p:cNvPr id="26" name="TextBox 25"/>
          <p:cNvSpPr txBox="1"/>
          <p:nvPr/>
        </p:nvSpPr>
        <p:spPr>
          <a:xfrm>
            <a:off x="6464808" y="5779008"/>
            <a:ext cx="5257800" cy="365760"/>
          </a:xfrm>
          <a:prstGeom prst="rect">
            <a:avLst/>
          </a:prstGeom>
          <a:noFill/>
        </p:spPr>
        <p:txBody>
          <a:bodyPr wrap="square">
            <a:spAutoFit/>
          </a:bodyPr>
          <a:lstStyle/>
          <a:p>
            <a:r>
              <a:rPr sz="1000">
                <a:solidFill>
                  <a:srgbClr val="38BDF8"/>
                </a:solidFill>
                <a:latin typeface="Consolas"/>
              </a:rPr>
              <a:t>Removed unused icon import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22</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Week 2 Roadmap — What We Build Next</a:t>
            </a:r>
          </a:p>
        </p:txBody>
      </p:sp>
      <p:sp>
        <p:nvSpPr>
          <p:cNvPr id="6" name="TextBox 5"/>
          <p:cNvSpPr txBox="1"/>
          <p:nvPr/>
        </p:nvSpPr>
        <p:spPr>
          <a:xfrm>
            <a:off x="457200" y="658368"/>
            <a:ext cx="11274552" cy="365760"/>
          </a:xfrm>
          <a:prstGeom prst="rect">
            <a:avLst/>
          </a:prstGeom>
          <a:noFill/>
        </p:spPr>
        <p:txBody>
          <a:bodyPr wrap="square">
            <a:spAutoFit/>
          </a:bodyPr>
          <a:lstStyle/>
          <a:p>
            <a:pPr algn="l"/>
            <a:r>
              <a:rPr sz="1500" b="0" i="0">
                <a:solidFill>
                  <a:srgbClr val="B0BCD4"/>
                </a:solidFill>
                <a:latin typeface="Segoe UI"/>
              </a:rPr>
              <a:t>The upload dropzone is already designed in the UI (marked 'In Progress'). Week 2 wires it to real AI functionality.</a:t>
            </a:r>
          </a:p>
        </p:txBody>
      </p:sp>
      <p:sp>
        <p:nvSpPr>
          <p:cNvPr id="7" name="Rectangle 6"/>
          <p:cNvSpPr/>
          <p:nvPr/>
        </p:nvSpPr>
        <p:spPr>
          <a:xfrm>
            <a:off x="365760" y="1143000"/>
            <a:ext cx="3657600" cy="53949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261872"/>
            <a:ext cx="2743200" cy="3200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100" b="1">
                <a:solidFill>
                  <a:srgbClr val="FFFFFF"/>
                </a:solidFill>
                <a:latin typeface="Segoe UI"/>
              </a:rPr>
              <a:t>WEEK 1 ✓  DONE</a:t>
            </a:r>
          </a:p>
        </p:txBody>
      </p:sp>
      <p:sp>
        <p:nvSpPr>
          <p:cNvPr id="9" name="TextBox 8"/>
          <p:cNvSpPr txBox="1"/>
          <p:nvPr/>
        </p:nvSpPr>
        <p:spPr>
          <a:xfrm>
            <a:off x="548640" y="1691640"/>
            <a:ext cx="3291840" cy="411480"/>
          </a:xfrm>
          <a:prstGeom prst="rect">
            <a:avLst/>
          </a:prstGeom>
          <a:noFill/>
        </p:spPr>
        <p:txBody>
          <a:bodyPr wrap="square">
            <a:spAutoFit/>
          </a:bodyPr>
          <a:lstStyle/>
          <a:p>
            <a:pPr algn="l"/>
            <a:r>
              <a:rPr sz="1100" b="0" i="0">
                <a:solidFill>
                  <a:srgbClr val="B0BCD4"/>
                </a:solidFill>
                <a:latin typeface="Segoe UI"/>
              </a:rPr>
              <a:t>✓  React + Vite frontend scaffolded</a:t>
            </a:r>
          </a:p>
        </p:txBody>
      </p:sp>
      <p:sp>
        <p:nvSpPr>
          <p:cNvPr id="10" name="TextBox 9"/>
          <p:cNvSpPr txBox="1"/>
          <p:nvPr/>
        </p:nvSpPr>
        <p:spPr>
          <a:xfrm>
            <a:off x="548640" y="2185416"/>
            <a:ext cx="3291840" cy="411480"/>
          </a:xfrm>
          <a:prstGeom prst="rect">
            <a:avLst/>
          </a:prstGeom>
          <a:noFill/>
        </p:spPr>
        <p:txBody>
          <a:bodyPr wrap="square">
            <a:spAutoFit/>
          </a:bodyPr>
          <a:lstStyle/>
          <a:p>
            <a:pPr algn="l"/>
            <a:r>
              <a:rPr sz="1100" b="0" i="0">
                <a:solidFill>
                  <a:srgbClr val="B0BCD4"/>
                </a:solidFill>
                <a:latin typeface="Segoe UI"/>
              </a:rPr>
              <a:t>✓  Tailwind CSS design system configured</a:t>
            </a:r>
          </a:p>
        </p:txBody>
      </p:sp>
      <p:sp>
        <p:nvSpPr>
          <p:cNvPr id="11" name="TextBox 10"/>
          <p:cNvSpPr txBox="1"/>
          <p:nvPr/>
        </p:nvSpPr>
        <p:spPr>
          <a:xfrm>
            <a:off x="548640" y="2679192"/>
            <a:ext cx="3291840" cy="411480"/>
          </a:xfrm>
          <a:prstGeom prst="rect">
            <a:avLst/>
          </a:prstGeom>
          <a:noFill/>
        </p:spPr>
        <p:txBody>
          <a:bodyPr wrap="square">
            <a:spAutoFit/>
          </a:bodyPr>
          <a:lstStyle/>
          <a:p>
            <a:pPr algn="l"/>
            <a:r>
              <a:rPr sz="1100" b="0" i="0">
                <a:solidFill>
                  <a:srgbClr val="B0BCD4"/>
                </a:solidFill>
                <a:latin typeface="Segoe UI"/>
              </a:rPr>
              <a:t>✓  Django 6.1 + DRF backend running</a:t>
            </a:r>
          </a:p>
        </p:txBody>
      </p:sp>
      <p:sp>
        <p:nvSpPr>
          <p:cNvPr id="12" name="TextBox 11"/>
          <p:cNvSpPr txBox="1"/>
          <p:nvPr/>
        </p:nvSpPr>
        <p:spPr>
          <a:xfrm>
            <a:off x="548640" y="3172968"/>
            <a:ext cx="3291840" cy="411480"/>
          </a:xfrm>
          <a:prstGeom prst="rect">
            <a:avLst/>
          </a:prstGeom>
          <a:noFill/>
        </p:spPr>
        <p:txBody>
          <a:bodyPr wrap="square">
            <a:spAutoFit/>
          </a:bodyPr>
          <a:lstStyle/>
          <a:p>
            <a:pPr algn="l"/>
            <a:r>
              <a:rPr sz="1100" b="0" i="0">
                <a:solidFill>
                  <a:srgbClr val="B0BCD4"/>
                </a:solidFill>
                <a:latin typeface="Segoe UI"/>
              </a:rPr>
              <a:t>✓  SQLite database initialized (migrate)</a:t>
            </a:r>
          </a:p>
        </p:txBody>
      </p:sp>
      <p:sp>
        <p:nvSpPr>
          <p:cNvPr id="13" name="TextBox 12"/>
          <p:cNvSpPr txBox="1"/>
          <p:nvPr/>
        </p:nvSpPr>
        <p:spPr>
          <a:xfrm>
            <a:off x="548640" y="3666744"/>
            <a:ext cx="3291840" cy="411480"/>
          </a:xfrm>
          <a:prstGeom prst="rect">
            <a:avLst/>
          </a:prstGeom>
          <a:noFill/>
        </p:spPr>
        <p:txBody>
          <a:bodyPr wrap="square">
            <a:spAutoFit/>
          </a:bodyPr>
          <a:lstStyle/>
          <a:p>
            <a:pPr algn="l"/>
            <a:r>
              <a:rPr sz="1100" b="0" i="0">
                <a:solidFill>
                  <a:srgbClr val="B0BCD4"/>
                </a:solidFill>
                <a:latin typeface="Segoe UI"/>
              </a:rPr>
              <a:t>✓  CORS handshake solved</a:t>
            </a:r>
          </a:p>
        </p:txBody>
      </p:sp>
      <p:sp>
        <p:nvSpPr>
          <p:cNvPr id="14" name="TextBox 13"/>
          <p:cNvSpPr txBox="1"/>
          <p:nvPr/>
        </p:nvSpPr>
        <p:spPr>
          <a:xfrm>
            <a:off x="548640" y="4160520"/>
            <a:ext cx="3291840" cy="411480"/>
          </a:xfrm>
          <a:prstGeom prst="rect">
            <a:avLst/>
          </a:prstGeom>
          <a:noFill/>
        </p:spPr>
        <p:txBody>
          <a:bodyPr wrap="square">
            <a:spAutoFit/>
          </a:bodyPr>
          <a:lstStyle/>
          <a:p>
            <a:pPr algn="l"/>
            <a:r>
              <a:rPr sz="1100" b="0" i="0">
                <a:solidFill>
                  <a:srgbClr val="B0BCD4"/>
                </a:solidFill>
                <a:latin typeface="Segoe UI"/>
              </a:rPr>
              <a:t>✓  /api/status/ JSON endpoint live</a:t>
            </a:r>
          </a:p>
        </p:txBody>
      </p:sp>
      <p:sp>
        <p:nvSpPr>
          <p:cNvPr id="15" name="TextBox 14"/>
          <p:cNvSpPr txBox="1"/>
          <p:nvPr/>
        </p:nvSpPr>
        <p:spPr>
          <a:xfrm>
            <a:off x="548640" y="4654296"/>
            <a:ext cx="3291840" cy="411480"/>
          </a:xfrm>
          <a:prstGeom prst="rect">
            <a:avLst/>
          </a:prstGeom>
          <a:noFill/>
        </p:spPr>
        <p:txBody>
          <a:bodyPr wrap="square">
            <a:spAutoFit/>
          </a:bodyPr>
          <a:lstStyle/>
          <a:p>
            <a:pPr algn="l"/>
            <a:r>
              <a:rPr sz="1100" b="0" i="0">
                <a:solidFill>
                  <a:srgbClr val="B0BCD4"/>
                </a:solidFill>
                <a:latin typeface="Segoe UI"/>
              </a:rPr>
              <a:t>✓  4 metric tiles bound to Django data</a:t>
            </a:r>
          </a:p>
        </p:txBody>
      </p:sp>
      <p:sp>
        <p:nvSpPr>
          <p:cNvPr id="16" name="TextBox 15"/>
          <p:cNvSpPr txBox="1"/>
          <p:nvPr/>
        </p:nvSpPr>
        <p:spPr>
          <a:xfrm>
            <a:off x="548640" y="5148072"/>
            <a:ext cx="3291840" cy="411480"/>
          </a:xfrm>
          <a:prstGeom prst="rect">
            <a:avLst/>
          </a:prstGeom>
          <a:noFill/>
        </p:spPr>
        <p:txBody>
          <a:bodyPr wrap="square">
            <a:spAutoFit/>
          </a:bodyPr>
          <a:lstStyle/>
          <a:p>
            <a:pPr algn="l"/>
            <a:r>
              <a:rPr sz="1100" b="0" i="0">
                <a:solidFill>
                  <a:srgbClr val="B0BCD4"/>
                </a:solidFill>
                <a:latin typeface="Segoe UI"/>
              </a:rPr>
              <a:t>✓  🟢 Live connection badge working</a:t>
            </a:r>
          </a:p>
        </p:txBody>
      </p:sp>
      <p:sp>
        <p:nvSpPr>
          <p:cNvPr id="17" name="TextBox 16"/>
          <p:cNvSpPr txBox="1"/>
          <p:nvPr/>
        </p:nvSpPr>
        <p:spPr>
          <a:xfrm>
            <a:off x="548640" y="5641848"/>
            <a:ext cx="3291840" cy="411480"/>
          </a:xfrm>
          <a:prstGeom prst="rect">
            <a:avLst/>
          </a:prstGeom>
          <a:noFill/>
        </p:spPr>
        <p:txBody>
          <a:bodyPr wrap="square">
            <a:spAutoFit/>
          </a:bodyPr>
          <a:lstStyle/>
          <a:p>
            <a:pPr algn="l"/>
            <a:r>
              <a:rPr sz="1100" b="0" i="0">
                <a:solidFill>
                  <a:srgbClr val="B0BCD4"/>
                </a:solidFill>
                <a:latin typeface="Segoe UI"/>
              </a:rPr>
              <a:t>✓  Upload UI designed (Week 2 scope)</a:t>
            </a:r>
          </a:p>
        </p:txBody>
      </p:sp>
      <p:sp>
        <p:nvSpPr>
          <p:cNvPr id="18" name="Rectangle 17"/>
          <p:cNvSpPr/>
          <p:nvPr/>
        </p:nvSpPr>
        <p:spPr>
          <a:xfrm>
            <a:off x="4297680" y="1143000"/>
            <a:ext cx="3657600" cy="539496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480560" y="1261872"/>
            <a:ext cx="2743200" cy="32004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100" b="1">
                <a:solidFill>
                  <a:srgbClr val="FFFFFF"/>
                </a:solidFill>
                <a:latin typeface="Segoe UI"/>
              </a:rPr>
              <a:t>WEEK 2  →  NEXT</a:t>
            </a:r>
          </a:p>
        </p:txBody>
      </p:sp>
      <p:sp>
        <p:nvSpPr>
          <p:cNvPr id="20" name="TextBox 19"/>
          <p:cNvSpPr txBox="1"/>
          <p:nvPr/>
        </p:nvSpPr>
        <p:spPr>
          <a:xfrm>
            <a:off x="4480560" y="1691640"/>
            <a:ext cx="3291840" cy="411480"/>
          </a:xfrm>
          <a:prstGeom prst="rect">
            <a:avLst/>
          </a:prstGeom>
          <a:noFill/>
        </p:spPr>
        <p:txBody>
          <a:bodyPr wrap="square">
            <a:spAutoFit/>
          </a:bodyPr>
          <a:lstStyle/>
          <a:p>
            <a:pPr algn="l"/>
            <a:r>
              <a:rPr sz="1100" b="0" i="0">
                <a:solidFill>
                  <a:srgbClr val="B0BCD4"/>
                </a:solidFill>
                <a:latin typeface="Segoe UI"/>
              </a:rPr>
              <a:t>→  PDF upload endpoint (POST /api/upload/)</a:t>
            </a:r>
          </a:p>
        </p:txBody>
      </p:sp>
      <p:sp>
        <p:nvSpPr>
          <p:cNvPr id="21" name="TextBox 20"/>
          <p:cNvSpPr txBox="1"/>
          <p:nvPr/>
        </p:nvSpPr>
        <p:spPr>
          <a:xfrm>
            <a:off x="4480560" y="2185416"/>
            <a:ext cx="3291840" cy="411480"/>
          </a:xfrm>
          <a:prstGeom prst="rect">
            <a:avLst/>
          </a:prstGeom>
          <a:noFill/>
        </p:spPr>
        <p:txBody>
          <a:bodyPr wrap="square">
            <a:spAutoFit/>
          </a:bodyPr>
          <a:lstStyle/>
          <a:p>
            <a:pPr algn="l"/>
            <a:r>
              <a:rPr sz="1100" b="0" i="0">
                <a:solidFill>
                  <a:srgbClr val="B0BCD4"/>
                </a:solidFill>
                <a:latin typeface="Segoe UI"/>
              </a:rPr>
              <a:t>→  PyMuPDF — extract text from PDF</a:t>
            </a:r>
          </a:p>
        </p:txBody>
      </p:sp>
      <p:sp>
        <p:nvSpPr>
          <p:cNvPr id="22" name="TextBox 21"/>
          <p:cNvSpPr txBox="1"/>
          <p:nvPr/>
        </p:nvSpPr>
        <p:spPr>
          <a:xfrm>
            <a:off x="4480560" y="2679192"/>
            <a:ext cx="3291840" cy="411480"/>
          </a:xfrm>
          <a:prstGeom prst="rect">
            <a:avLst/>
          </a:prstGeom>
          <a:noFill/>
        </p:spPr>
        <p:txBody>
          <a:bodyPr wrap="square">
            <a:spAutoFit/>
          </a:bodyPr>
          <a:lstStyle/>
          <a:p>
            <a:pPr algn="l"/>
            <a:r>
              <a:rPr sz="1100" b="0" i="0">
                <a:solidFill>
                  <a:srgbClr val="B0BCD4"/>
                </a:solidFill>
                <a:latin typeface="Segoe UI"/>
              </a:rPr>
              <a:t>→  Parse sections &amp; budget tables</a:t>
            </a:r>
          </a:p>
        </p:txBody>
      </p:sp>
      <p:sp>
        <p:nvSpPr>
          <p:cNvPr id="23" name="TextBox 22"/>
          <p:cNvSpPr txBox="1"/>
          <p:nvPr/>
        </p:nvSpPr>
        <p:spPr>
          <a:xfrm>
            <a:off x="4480560" y="3172968"/>
            <a:ext cx="3291840" cy="411480"/>
          </a:xfrm>
          <a:prstGeom prst="rect">
            <a:avLst/>
          </a:prstGeom>
          <a:noFill/>
        </p:spPr>
        <p:txBody>
          <a:bodyPr wrap="square">
            <a:spAutoFit/>
          </a:bodyPr>
          <a:lstStyle/>
          <a:p>
            <a:pPr algn="l"/>
            <a:r>
              <a:rPr sz="1100" b="0" i="0">
                <a:solidFill>
                  <a:srgbClr val="B0BCD4"/>
                </a:solidFill>
                <a:latin typeface="Segoe UI"/>
              </a:rPr>
              <a:t>→  Compliance ruleset schema (JSON)</a:t>
            </a:r>
          </a:p>
        </p:txBody>
      </p:sp>
      <p:sp>
        <p:nvSpPr>
          <p:cNvPr id="24" name="TextBox 23"/>
          <p:cNvSpPr txBox="1"/>
          <p:nvPr/>
        </p:nvSpPr>
        <p:spPr>
          <a:xfrm>
            <a:off x="4480560" y="3666744"/>
            <a:ext cx="3291840" cy="411480"/>
          </a:xfrm>
          <a:prstGeom prst="rect">
            <a:avLst/>
          </a:prstGeom>
          <a:noFill/>
        </p:spPr>
        <p:txBody>
          <a:bodyPr wrap="square">
            <a:spAutoFit/>
          </a:bodyPr>
          <a:lstStyle/>
          <a:p>
            <a:pPr algn="l"/>
            <a:r>
              <a:rPr sz="1100" b="0" i="0">
                <a:solidFill>
                  <a:srgbClr val="B0BCD4"/>
                </a:solidFill>
                <a:latin typeface="Segoe UI"/>
              </a:rPr>
              <a:t>→  Google Gemini API integration</a:t>
            </a:r>
          </a:p>
        </p:txBody>
      </p:sp>
      <p:sp>
        <p:nvSpPr>
          <p:cNvPr id="25" name="TextBox 24"/>
          <p:cNvSpPr txBox="1"/>
          <p:nvPr/>
        </p:nvSpPr>
        <p:spPr>
          <a:xfrm>
            <a:off x="4480560" y="4160520"/>
            <a:ext cx="3291840" cy="411480"/>
          </a:xfrm>
          <a:prstGeom prst="rect">
            <a:avLst/>
          </a:prstGeom>
          <a:noFill/>
        </p:spPr>
        <p:txBody>
          <a:bodyPr wrap="square">
            <a:spAutoFit/>
          </a:bodyPr>
          <a:lstStyle/>
          <a:p>
            <a:pPr algn="l"/>
            <a:r>
              <a:rPr sz="1100" b="0" i="0">
                <a:solidFill>
                  <a:srgbClr val="B0BCD4"/>
                </a:solidFill>
                <a:latin typeface="Segoe UI"/>
              </a:rPr>
              <a:t>→  Rule-checking engine</a:t>
            </a:r>
          </a:p>
        </p:txBody>
      </p:sp>
      <p:sp>
        <p:nvSpPr>
          <p:cNvPr id="26" name="TextBox 25"/>
          <p:cNvSpPr txBox="1"/>
          <p:nvPr/>
        </p:nvSpPr>
        <p:spPr>
          <a:xfrm>
            <a:off x="4480560" y="4654296"/>
            <a:ext cx="3291840" cy="411480"/>
          </a:xfrm>
          <a:prstGeom prst="rect">
            <a:avLst/>
          </a:prstGeom>
          <a:noFill/>
        </p:spPr>
        <p:txBody>
          <a:bodyPr wrap="square">
            <a:spAutoFit/>
          </a:bodyPr>
          <a:lstStyle/>
          <a:p>
            <a:pPr algn="l"/>
            <a:r>
              <a:rPr sz="1100" b="0" i="0">
                <a:solidFill>
                  <a:srgbClr val="B0BCD4"/>
                </a:solidFill>
                <a:latin typeface="Segoe UI"/>
              </a:rPr>
              <a:t>→  Violation report generation</a:t>
            </a:r>
          </a:p>
        </p:txBody>
      </p:sp>
      <p:sp>
        <p:nvSpPr>
          <p:cNvPr id="27" name="TextBox 26"/>
          <p:cNvSpPr txBox="1"/>
          <p:nvPr/>
        </p:nvSpPr>
        <p:spPr>
          <a:xfrm>
            <a:off x="4480560" y="5148072"/>
            <a:ext cx="3291840" cy="411480"/>
          </a:xfrm>
          <a:prstGeom prst="rect">
            <a:avLst/>
          </a:prstGeom>
          <a:noFill/>
        </p:spPr>
        <p:txBody>
          <a:bodyPr wrap="square">
            <a:spAutoFit/>
          </a:bodyPr>
          <a:lstStyle/>
          <a:p>
            <a:pPr algn="l"/>
            <a:r>
              <a:rPr sz="1100" b="0" i="0">
                <a:solidFill>
                  <a:srgbClr val="B0BCD4"/>
                </a:solidFill>
                <a:latin typeface="Segoe UI"/>
              </a:rPr>
              <a:t>→  Rubric score calculation</a:t>
            </a:r>
          </a:p>
        </p:txBody>
      </p:sp>
      <p:sp>
        <p:nvSpPr>
          <p:cNvPr id="28" name="TextBox 27"/>
          <p:cNvSpPr txBox="1"/>
          <p:nvPr/>
        </p:nvSpPr>
        <p:spPr>
          <a:xfrm>
            <a:off x="4480560" y="5641848"/>
            <a:ext cx="3291840" cy="411480"/>
          </a:xfrm>
          <a:prstGeom prst="rect">
            <a:avLst/>
          </a:prstGeom>
          <a:noFill/>
        </p:spPr>
        <p:txBody>
          <a:bodyPr wrap="square">
            <a:spAutoFit/>
          </a:bodyPr>
          <a:lstStyle/>
          <a:p>
            <a:pPr algn="l"/>
            <a:r>
              <a:rPr sz="1100" b="0" i="0">
                <a:solidFill>
                  <a:srgbClr val="B0BCD4"/>
                </a:solidFill>
                <a:latin typeface="Segoe UI"/>
              </a:rPr>
              <a:t>→  Results displayed in React UI</a:t>
            </a:r>
          </a:p>
        </p:txBody>
      </p:sp>
      <p:sp>
        <p:nvSpPr>
          <p:cNvPr id="29" name="Rectangle 28"/>
          <p:cNvSpPr/>
          <p:nvPr/>
        </p:nvSpPr>
        <p:spPr>
          <a:xfrm>
            <a:off x="8229600" y="1143000"/>
            <a:ext cx="3566160" cy="53949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412480" y="1261872"/>
            <a:ext cx="2743200" cy="320040"/>
          </a:xfrm>
          <a:prstGeom prst="rect">
            <a:avLst/>
          </a:prstGeom>
          <a:solidFill>
            <a:srgbClr val="141E3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100" b="1">
                <a:solidFill>
                  <a:srgbClr val="B0BCD4"/>
                </a:solidFill>
                <a:latin typeface="Segoe UI"/>
              </a:rPr>
              <a:t>WEEK 3  →  FINAL</a:t>
            </a:r>
          </a:p>
        </p:txBody>
      </p:sp>
      <p:sp>
        <p:nvSpPr>
          <p:cNvPr id="31" name="TextBox 30"/>
          <p:cNvSpPr txBox="1"/>
          <p:nvPr/>
        </p:nvSpPr>
        <p:spPr>
          <a:xfrm>
            <a:off x="8412480" y="1691640"/>
            <a:ext cx="3200400" cy="411480"/>
          </a:xfrm>
          <a:prstGeom prst="rect">
            <a:avLst/>
          </a:prstGeom>
          <a:noFill/>
        </p:spPr>
        <p:txBody>
          <a:bodyPr wrap="square">
            <a:spAutoFit/>
          </a:bodyPr>
          <a:lstStyle/>
          <a:p>
            <a:pPr algn="l"/>
            <a:r>
              <a:rPr sz="1100" b="0" i="0">
                <a:solidFill>
                  <a:srgbClr val="64748B"/>
                </a:solidFill>
                <a:latin typeface="Segoe UI"/>
              </a:rPr>
              <a:t>◦  ChromaDB vector store</a:t>
            </a:r>
          </a:p>
        </p:txBody>
      </p:sp>
      <p:sp>
        <p:nvSpPr>
          <p:cNvPr id="32" name="TextBox 31"/>
          <p:cNvSpPr txBox="1"/>
          <p:nvPr/>
        </p:nvSpPr>
        <p:spPr>
          <a:xfrm>
            <a:off x="8412480" y="2185416"/>
            <a:ext cx="3200400" cy="411480"/>
          </a:xfrm>
          <a:prstGeom prst="rect">
            <a:avLst/>
          </a:prstGeom>
          <a:noFill/>
        </p:spPr>
        <p:txBody>
          <a:bodyPr wrap="square">
            <a:spAutoFit/>
          </a:bodyPr>
          <a:lstStyle/>
          <a:p>
            <a:pPr algn="l"/>
            <a:r>
              <a:rPr sz="1100" b="0" i="0">
                <a:solidFill>
                  <a:srgbClr val="64748B"/>
                </a:solidFill>
                <a:latin typeface="Segoe UI"/>
              </a:rPr>
              <a:t>◦  LangChain agent orchestration</a:t>
            </a:r>
          </a:p>
        </p:txBody>
      </p:sp>
      <p:sp>
        <p:nvSpPr>
          <p:cNvPr id="33" name="TextBox 32"/>
          <p:cNvSpPr txBox="1"/>
          <p:nvPr/>
        </p:nvSpPr>
        <p:spPr>
          <a:xfrm>
            <a:off x="8412480" y="2679192"/>
            <a:ext cx="3200400" cy="411480"/>
          </a:xfrm>
          <a:prstGeom prst="rect">
            <a:avLst/>
          </a:prstGeom>
          <a:noFill/>
        </p:spPr>
        <p:txBody>
          <a:bodyPr wrap="square">
            <a:spAutoFit/>
          </a:bodyPr>
          <a:lstStyle/>
          <a:p>
            <a:pPr algn="l"/>
            <a:r>
              <a:rPr sz="1100" b="0" i="0">
                <a:solidFill>
                  <a:srgbClr val="64748B"/>
                </a:solidFill>
                <a:latin typeface="Segoe UI"/>
              </a:rPr>
              <a:t>◦  Precedent case retrieval (RAG)</a:t>
            </a:r>
          </a:p>
        </p:txBody>
      </p:sp>
      <p:sp>
        <p:nvSpPr>
          <p:cNvPr id="34" name="TextBox 33"/>
          <p:cNvSpPr txBox="1"/>
          <p:nvPr/>
        </p:nvSpPr>
        <p:spPr>
          <a:xfrm>
            <a:off x="8412480" y="3172968"/>
            <a:ext cx="3200400" cy="411480"/>
          </a:xfrm>
          <a:prstGeom prst="rect">
            <a:avLst/>
          </a:prstGeom>
          <a:noFill/>
        </p:spPr>
        <p:txBody>
          <a:bodyPr wrap="square">
            <a:spAutoFit/>
          </a:bodyPr>
          <a:lstStyle/>
          <a:p>
            <a:pPr algn="l"/>
            <a:r>
              <a:rPr sz="1100" b="0" i="0">
                <a:solidFill>
                  <a:srgbClr val="64748B"/>
                </a:solidFill>
                <a:latin typeface="Segoe UI"/>
              </a:rPr>
              <a:t>◦  PostgreSQL production DB</a:t>
            </a:r>
          </a:p>
        </p:txBody>
      </p:sp>
      <p:sp>
        <p:nvSpPr>
          <p:cNvPr id="35" name="TextBox 34"/>
          <p:cNvSpPr txBox="1"/>
          <p:nvPr/>
        </p:nvSpPr>
        <p:spPr>
          <a:xfrm>
            <a:off x="8412480" y="3666744"/>
            <a:ext cx="3200400" cy="411480"/>
          </a:xfrm>
          <a:prstGeom prst="rect">
            <a:avLst/>
          </a:prstGeom>
          <a:noFill/>
        </p:spPr>
        <p:txBody>
          <a:bodyPr wrap="square">
            <a:spAutoFit/>
          </a:bodyPr>
          <a:lstStyle/>
          <a:p>
            <a:pPr algn="l"/>
            <a:r>
              <a:rPr sz="1100" b="0" i="0">
                <a:solidFill>
                  <a:srgbClr val="64748B"/>
                </a:solidFill>
                <a:latin typeface="Segoe UI"/>
              </a:rPr>
              <a:t>◦  Multi-document audit queue</a:t>
            </a:r>
          </a:p>
        </p:txBody>
      </p:sp>
      <p:sp>
        <p:nvSpPr>
          <p:cNvPr id="36" name="TextBox 35"/>
          <p:cNvSpPr txBox="1"/>
          <p:nvPr/>
        </p:nvSpPr>
        <p:spPr>
          <a:xfrm>
            <a:off x="8412480" y="4160520"/>
            <a:ext cx="3200400" cy="411480"/>
          </a:xfrm>
          <a:prstGeom prst="rect">
            <a:avLst/>
          </a:prstGeom>
          <a:noFill/>
        </p:spPr>
        <p:txBody>
          <a:bodyPr wrap="square">
            <a:spAutoFit/>
          </a:bodyPr>
          <a:lstStyle/>
          <a:p>
            <a:pPr algn="l"/>
            <a:r>
              <a:rPr sz="1100" b="0" i="0">
                <a:solidFill>
                  <a:srgbClr val="64748B"/>
                </a:solidFill>
                <a:latin typeface="Segoe UI"/>
              </a:rPr>
              <a:t>◦  Exportable PDF audit reports</a:t>
            </a:r>
          </a:p>
        </p:txBody>
      </p:sp>
      <p:sp>
        <p:nvSpPr>
          <p:cNvPr id="37" name="TextBox 36"/>
          <p:cNvSpPr txBox="1"/>
          <p:nvPr/>
        </p:nvSpPr>
        <p:spPr>
          <a:xfrm>
            <a:off x="8412480" y="4654296"/>
            <a:ext cx="3200400" cy="411480"/>
          </a:xfrm>
          <a:prstGeom prst="rect">
            <a:avLst/>
          </a:prstGeom>
          <a:noFill/>
        </p:spPr>
        <p:txBody>
          <a:bodyPr wrap="square">
            <a:spAutoFit/>
          </a:bodyPr>
          <a:lstStyle/>
          <a:p>
            <a:pPr algn="l"/>
            <a:r>
              <a:rPr sz="1100" b="0" i="0">
                <a:solidFill>
                  <a:srgbClr val="64748B"/>
                </a:solidFill>
                <a:latin typeface="Segoe UI"/>
              </a:rPr>
              <a:t>◦  Performance optimization</a:t>
            </a:r>
          </a:p>
        </p:txBody>
      </p:sp>
      <p:sp>
        <p:nvSpPr>
          <p:cNvPr id="38" name="TextBox 37"/>
          <p:cNvSpPr txBox="1"/>
          <p:nvPr/>
        </p:nvSpPr>
        <p:spPr>
          <a:xfrm>
            <a:off x="8412480" y="5148072"/>
            <a:ext cx="3200400" cy="411480"/>
          </a:xfrm>
          <a:prstGeom prst="rect">
            <a:avLst/>
          </a:prstGeom>
          <a:noFill/>
        </p:spPr>
        <p:txBody>
          <a:bodyPr wrap="square">
            <a:spAutoFit/>
          </a:bodyPr>
          <a:lstStyle/>
          <a:p>
            <a:pPr algn="l"/>
            <a:r>
              <a:rPr sz="1100" b="0" i="0">
                <a:solidFill>
                  <a:srgbClr val="64748B"/>
                </a:solidFill>
                <a:latin typeface="Segoe UI"/>
              </a:rPr>
              <a:t>◦  Full system testing</a:t>
            </a:r>
          </a:p>
        </p:txBody>
      </p:sp>
      <p:sp>
        <p:nvSpPr>
          <p:cNvPr id="39" name="TextBox 38"/>
          <p:cNvSpPr txBox="1"/>
          <p:nvPr/>
        </p:nvSpPr>
        <p:spPr>
          <a:xfrm>
            <a:off x="8412480" y="5641848"/>
            <a:ext cx="3200400" cy="411480"/>
          </a:xfrm>
          <a:prstGeom prst="rect">
            <a:avLst/>
          </a:prstGeom>
          <a:noFill/>
        </p:spPr>
        <p:txBody>
          <a:bodyPr wrap="square">
            <a:spAutoFit/>
          </a:bodyPr>
          <a:lstStyle/>
          <a:p>
            <a:pPr algn="l"/>
            <a:r>
              <a:rPr sz="1100" b="0" i="0">
                <a:solidFill>
                  <a:srgbClr val="64748B"/>
                </a:solidFill>
                <a:latin typeface="Segoe UI"/>
              </a:rPr>
              <a:t>◦  Final demo &amp; presentation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23</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Summary — What We Achieved in Week 1</a:t>
            </a:r>
          </a:p>
        </p:txBody>
      </p:sp>
      <p:sp>
        <p:nvSpPr>
          <p:cNvPr id="6" name="Rectangle 5"/>
          <p:cNvSpPr/>
          <p:nvPr/>
        </p:nvSpPr>
        <p:spPr>
          <a:xfrm>
            <a:off x="365760" y="1234440"/>
            <a:ext cx="5623560" cy="15087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325880"/>
            <a:ext cx="5257800" cy="347472"/>
          </a:xfrm>
          <a:prstGeom prst="rect">
            <a:avLst/>
          </a:prstGeom>
          <a:noFill/>
        </p:spPr>
        <p:txBody>
          <a:bodyPr wrap="square">
            <a:spAutoFit/>
          </a:bodyPr>
          <a:lstStyle/>
          <a:p>
            <a:pPr algn="l"/>
            <a:r>
              <a:rPr sz="1350" b="1" i="0">
                <a:solidFill>
                  <a:srgbClr val="F97316"/>
                </a:solidFill>
                <a:latin typeface="Segoe UI"/>
              </a:rPr>
              <a:t>①  Full-Stack Architecture</a:t>
            </a:r>
          </a:p>
        </p:txBody>
      </p:sp>
      <p:sp>
        <p:nvSpPr>
          <p:cNvPr id="8" name="TextBox 7"/>
          <p:cNvSpPr txBox="1"/>
          <p:nvPr/>
        </p:nvSpPr>
        <p:spPr>
          <a:xfrm>
            <a:off x="548640" y="1691640"/>
            <a:ext cx="5257800" cy="960120"/>
          </a:xfrm>
          <a:prstGeom prst="rect">
            <a:avLst/>
          </a:prstGeom>
          <a:noFill/>
        </p:spPr>
        <p:txBody>
          <a:bodyPr wrap="square">
            <a:spAutoFit/>
          </a:bodyPr>
          <a:lstStyle/>
          <a:p>
            <a:pPr algn="l"/>
            <a:r>
              <a:rPr sz="1200" b="0" i="0">
                <a:solidFill>
                  <a:srgbClr val="B0BCD4"/>
                </a:solidFill>
                <a:latin typeface="Segoe UI"/>
              </a:rPr>
              <a:t>Built a complete client-server application with a React frontend and Django backend communicating via REST API over HTTP.</a:t>
            </a:r>
          </a:p>
        </p:txBody>
      </p:sp>
      <p:sp>
        <p:nvSpPr>
          <p:cNvPr id="9" name="Rectangle 8"/>
          <p:cNvSpPr/>
          <p:nvPr/>
        </p:nvSpPr>
        <p:spPr>
          <a:xfrm>
            <a:off x="6281928" y="1234440"/>
            <a:ext cx="5623560" cy="15087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64808" y="1325880"/>
            <a:ext cx="5257800" cy="347472"/>
          </a:xfrm>
          <a:prstGeom prst="rect">
            <a:avLst/>
          </a:prstGeom>
          <a:noFill/>
        </p:spPr>
        <p:txBody>
          <a:bodyPr wrap="square">
            <a:spAutoFit/>
          </a:bodyPr>
          <a:lstStyle/>
          <a:p>
            <a:pPr algn="l"/>
            <a:r>
              <a:rPr sz="1350" b="1" i="0">
                <a:solidFill>
                  <a:srgbClr val="F97316"/>
                </a:solidFill>
                <a:latin typeface="Segoe UI"/>
              </a:rPr>
              <a:t>②  Live Data Binding</a:t>
            </a:r>
          </a:p>
        </p:txBody>
      </p:sp>
      <p:sp>
        <p:nvSpPr>
          <p:cNvPr id="11" name="TextBox 10"/>
          <p:cNvSpPr txBox="1"/>
          <p:nvPr/>
        </p:nvSpPr>
        <p:spPr>
          <a:xfrm>
            <a:off x="6464808" y="1691640"/>
            <a:ext cx="5257800" cy="960120"/>
          </a:xfrm>
          <a:prstGeom prst="rect">
            <a:avLst/>
          </a:prstGeom>
          <a:noFill/>
        </p:spPr>
        <p:txBody>
          <a:bodyPr wrap="square">
            <a:spAutoFit/>
          </a:bodyPr>
          <a:lstStyle/>
          <a:p>
            <a:pPr algn="l"/>
            <a:r>
              <a:rPr sz="1200" b="0" i="0">
                <a:solidFill>
                  <a:srgbClr val="B0BCD4"/>
                </a:solidFill>
                <a:latin typeface="Segoe UI"/>
              </a:rPr>
              <a:t>The 4 metric tiles and status badge pull real data from Django at runtime — not hardcoded values. The timestamp proves it.</a:t>
            </a:r>
          </a:p>
        </p:txBody>
      </p:sp>
      <p:sp>
        <p:nvSpPr>
          <p:cNvPr id="12" name="Rectangle 11"/>
          <p:cNvSpPr/>
          <p:nvPr/>
        </p:nvSpPr>
        <p:spPr>
          <a:xfrm>
            <a:off x="365760" y="2862072"/>
            <a:ext cx="5623560" cy="15087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2953512"/>
            <a:ext cx="5257800" cy="347472"/>
          </a:xfrm>
          <a:prstGeom prst="rect">
            <a:avLst/>
          </a:prstGeom>
          <a:noFill/>
        </p:spPr>
        <p:txBody>
          <a:bodyPr wrap="square">
            <a:spAutoFit/>
          </a:bodyPr>
          <a:lstStyle/>
          <a:p>
            <a:pPr algn="l"/>
            <a:r>
              <a:rPr sz="1350" b="1" i="0">
                <a:solidFill>
                  <a:srgbClr val="F97316"/>
                </a:solidFill>
                <a:latin typeface="Segoe UI"/>
              </a:rPr>
              <a:t>③  CORS Solution Implemented</a:t>
            </a:r>
          </a:p>
        </p:txBody>
      </p:sp>
      <p:sp>
        <p:nvSpPr>
          <p:cNvPr id="14" name="TextBox 13"/>
          <p:cNvSpPr txBox="1"/>
          <p:nvPr/>
        </p:nvSpPr>
        <p:spPr>
          <a:xfrm>
            <a:off x="548640" y="3319272"/>
            <a:ext cx="5257800" cy="960120"/>
          </a:xfrm>
          <a:prstGeom prst="rect">
            <a:avLst/>
          </a:prstGeom>
          <a:noFill/>
        </p:spPr>
        <p:txBody>
          <a:bodyPr wrap="square">
            <a:spAutoFit/>
          </a:bodyPr>
          <a:lstStyle/>
          <a:p>
            <a:pPr algn="l"/>
            <a:r>
              <a:rPr sz="1200" b="0" i="0">
                <a:solidFill>
                  <a:srgbClr val="B0BCD4"/>
                </a:solidFill>
                <a:latin typeface="Segoe UI"/>
              </a:rPr>
              <a:t>Solved the browser's Same-Origin Policy security block using django-cors-headers with correct middleware ordering.</a:t>
            </a:r>
          </a:p>
        </p:txBody>
      </p:sp>
      <p:sp>
        <p:nvSpPr>
          <p:cNvPr id="15" name="Rectangle 14"/>
          <p:cNvSpPr/>
          <p:nvPr/>
        </p:nvSpPr>
        <p:spPr>
          <a:xfrm>
            <a:off x="6281928" y="2862072"/>
            <a:ext cx="5623560" cy="15087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64808" y="2953512"/>
            <a:ext cx="5257800" cy="347472"/>
          </a:xfrm>
          <a:prstGeom prst="rect">
            <a:avLst/>
          </a:prstGeom>
          <a:noFill/>
        </p:spPr>
        <p:txBody>
          <a:bodyPr wrap="square">
            <a:spAutoFit/>
          </a:bodyPr>
          <a:lstStyle/>
          <a:p>
            <a:pPr algn="l"/>
            <a:r>
              <a:rPr sz="1350" b="1" i="0">
                <a:solidFill>
                  <a:srgbClr val="F97316"/>
                </a:solidFill>
                <a:latin typeface="Segoe UI"/>
              </a:rPr>
              <a:t>④  Modern Toolchain Configured</a:t>
            </a:r>
          </a:p>
        </p:txBody>
      </p:sp>
      <p:sp>
        <p:nvSpPr>
          <p:cNvPr id="17" name="TextBox 16"/>
          <p:cNvSpPr txBox="1"/>
          <p:nvPr/>
        </p:nvSpPr>
        <p:spPr>
          <a:xfrm>
            <a:off x="6464808" y="3319272"/>
            <a:ext cx="5257800" cy="960120"/>
          </a:xfrm>
          <a:prstGeom prst="rect">
            <a:avLst/>
          </a:prstGeom>
          <a:noFill/>
        </p:spPr>
        <p:txBody>
          <a:bodyPr wrap="square">
            <a:spAutoFit/>
          </a:bodyPr>
          <a:lstStyle/>
          <a:p>
            <a:pPr algn="l"/>
            <a:r>
              <a:rPr sz="1200" b="0" i="0">
                <a:solidFill>
                  <a:srgbClr val="B0BCD4"/>
                </a:solidFill>
                <a:latin typeface="Segoe UI"/>
              </a:rPr>
              <a:t>Vite (ESM build), Tailwind JIT (32KB CSS), python-pptx, DRF, SQLite migrations — a production-ready dev environment.</a:t>
            </a:r>
          </a:p>
        </p:txBody>
      </p:sp>
      <p:sp>
        <p:nvSpPr>
          <p:cNvPr id="18" name="Rectangle 17"/>
          <p:cNvSpPr/>
          <p:nvPr/>
        </p:nvSpPr>
        <p:spPr>
          <a:xfrm>
            <a:off x="365760" y="4489704"/>
            <a:ext cx="5623560" cy="15087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4581144"/>
            <a:ext cx="5257800" cy="347472"/>
          </a:xfrm>
          <a:prstGeom prst="rect">
            <a:avLst/>
          </a:prstGeom>
          <a:noFill/>
        </p:spPr>
        <p:txBody>
          <a:bodyPr wrap="square">
            <a:spAutoFit/>
          </a:bodyPr>
          <a:lstStyle/>
          <a:p>
            <a:pPr algn="l"/>
            <a:r>
              <a:rPr sz="1350" b="1" i="0">
                <a:solidFill>
                  <a:srgbClr val="F97316"/>
                </a:solidFill>
                <a:latin typeface="Segoe UI"/>
              </a:rPr>
              <a:t>⑤  CS Fundamentals Applied</a:t>
            </a:r>
          </a:p>
        </p:txBody>
      </p:sp>
      <p:sp>
        <p:nvSpPr>
          <p:cNvPr id="20" name="TextBox 19"/>
          <p:cNvSpPr txBox="1"/>
          <p:nvPr/>
        </p:nvSpPr>
        <p:spPr>
          <a:xfrm>
            <a:off x="548640" y="4946904"/>
            <a:ext cx="5257800" cy="960120"/>
          </a:xfrm>
          <a:prstGeom prst="rect">
            <a:avLst/>
          </a:prstGeom>
          <a:noFill/>
        </p:spPr>
        <p:txBody>
          <a:bodyPr wrap="square">
            <a:spAutoFit/>
          </a:bodyPr>
          <a:lstStyle/>
          <a:p>
            <a:pPr algn="l"/>
            <a:r>
              <a:rPr sz="1200" b="0" i="0">
                <a:solidFill>
                  <a:srgbClr val="B0BCD4"/>
                </a:solidFill>
                <a:latin typeface="Segoe UI"/>
              </a:rPr>
              <a:t>Practiced: async/await, HTTP protocol, REST API design, React state machines, Virtual DOM, middleware pipelines, ORM migrations.</a:t>
            </a:r>
          </a:p>
        </p:txBody>
      </p:sp>
      <p:sp>
        <p:nvSpPr>
          <p:cNvPr id="21" name="Rectangle 20"/>
          <p:cNvSpPr/>
          <p:nvPr/>
        </p:nvSpPr>
        <p:spPr>
          <a:xfrm>
            <a:off x="6281928" y="4489704"/>
            <a:ext cx="5623560" cy="15087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64808" y="4581144"/>
            <a:ext cx="5257800" cy="347472"/>
          </a:xfrm>
          <a:prstGeom prst="rect">
            <a:avLst/>
          </a:prstGeom>
          <a:noFill/>
        </p:spPr>
        <p:txBody>
          <a:bodyPr wrap="square">
            <a:spAutoFit/>
          </a:bodyPr>
          <a:lstStyle/>
          <a:p>
            <a:pPr algn="l"/>
            <a:r>
              <a:rPr sz="1350" b="1" i="0">
                <a:solidFill>
                  <a:srgbClr val="F97316"/>
                </a:solidFill>
                <a:latin typeface="Segoe UI"/>
              </a:rPr>
              <a:t>⑥  Honest Scope Management</a:t>
            </a:r>
          </a:p>
        </p:txBody>
      </p:sp>
      <p:sp>
        <p:nvSpPr>
          <p:cNvPr id="23" name="TextBox 22"/>
          <p:cNvSpPr txBox="1"/>
          <p:nvPr/>
        </p:nvSpPr>
        <p:spPr>
          <a:xfrm>
            <a:off x="6464808" y="4946904"/>
            <a:ext cx="5257800" cy="960120"/>
          </a:xfrm>
          <a:prstGeom prst="rect">
            <a:avLst/>
          </a:prstGeom>
          <a:noFill/>
        </p:spPr>
        <p:txBody>
          <a:bodyPr wrap="square">
            <a:spAutoFit/>
          </a:bodyPr>
          <a:lstStyle/>
          <a:p>
            <a:pPr algn="l"/>
            <a:r>
              <a:rPr sz="1200" b="0" i="0">
                <a:solidFill>
                  <a:srgbClr val="B0BCD4"/>
                </a:solidFill>
                <a:latin typeface="Segoe UI"/>
              </a:rPr>
              <a:t>Identified exactly what Week 1 can achieve vs. what is Week 2 scope. Upload UI is built but not yet connected — transparently marked.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24</a:t>
            </a:r>
          </a:p>
        </p:txBody>
      </p:sp>
      <p:sp>
        <p:nvSpPr>
          <p:cNvPr id="4" name="Rectangle 3"/>
          <p:cNvSpPr/>
          <p:nvPr/>
        </p:nvSpPr>
        <p:spPr>
          <a:xfrm>
            <a:off x="0" y="3017520"/>
            <a:ext cx="12188952" cy="4572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914400"/>
            <a:ext cx="10360152" cy="1097280"/>
          </a:xfrm>
          <a:prstGeom prst="rect">
            <a:avLst/>
          </a:prstGeom>
          <a:noFill/>
        </p:spPr>
        <p:txBody>
          <a:bodyPr wrap="square">
            <a:spAutoFit/>
          </a:bodyPr>
          <a:lstStyle/>
          <a:p>
            <a:pPr algn="ctr"/>
            <a:r>
              <a:rPr sz="7200" b="1" i="0">
                <a:solidFill>
                  <a:srgbClr val="FFFFFF"/>
                </a:solidFill>
                <a:latin typeface="Segoe UI"/>
              </a:rPr>
              <a:t>Q &amp; A</a:t>
            </a:r>
          </a:p>
        </p:txBody>
      </p:sp>
      <p:sp>
        <p:nvSpPr>
          <p:cNvPr id="6" name="TextBox 5"/>
          <p:cNvSpPr txBox="1"/>
          <p:nvPr/>
        </p:nvSpPr>
        <p:spPr>
          <a:xfrm>
            <a:off x="914400" y="2103120"/>
            <a:ext cx="10360152" cy="548640"/>
          </a:xfrm>
          <a:prstGeom prst="rect">
            <a:avLst/>
          </a:prstGeom>
          <a:noFill/>
        </p:spPr>
        <p:txBody>
          <a:bodyPr wrap="square">
            <a:spAutoFit/>
          </a:bodyPr>
          <a:lstStyle/>
          <a:p>
            <a:pPr algn="ctr"/>
            <a:r>
              <a:rPr sz="2200" b="0" i="0">
                <a:solidFill>
                  <a:srgbClr val="B0BCD4"/>
                </a:solidFill>
                <a:latin typeface="Segoe UI"/>
              </a:rPr>
              <a:t>Questions? We're happy to explain any part of the code.</a:t>
            </a:r>
          </a:p>
        </p:txBody>
      </p:sp>
      <p:sp>
        <p:nvSpPr>
          <p:cNvPr id="7" name="Rectangle 6"/>
          <p:cNvSpPr/>
          <p:nvPr/>
        </p:nvSpPr>
        <p:spPr>
          <a:xfrm>
            <a:off x="1371600" y="3566160"/>
            <a:ext cx="4572000" cy="65836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08760" y="3639312"/>
            <a:ext cx="4297680" cy="548640"/>
          </a:xfrm>
          <a:prstGeom prst="rect">
            <a:avLst/>
          </a:prstGeom>
          <a:noFill/>
        </p:spPr>
        <p:txBody>
          <a:bodyPr wrap="square">
            <a:spAutoFit/>
          </a:bodyPr>
          <a:lstStyle/>
          <a:p>
            <a:pPr algn="l"/>
            <a:r>
              <a:rPr sz="1200" b="0" i="0">
                <a:solidFill>
                  <a:srgbClr val="B0BCD4"/>
                </a:solidFill>
                <a:latin typeface="Segoe UI"/>
              </a:rPr>
              <a:t>❓  How does useEffect know to run only once?</a:t>
            </a:r>
          </a:p>
        </p:txBody>
      </p:sp>
      <p:sp>
        <p:nvSpPr>
          <p:cNvPr id="9" name="Rectangle 8"/>
          <p:cNvSpPr/>
          <p:nvPr/>
        </p:nvSpPr>
        <p:spPr>
          <a:xfrm>
            <a:off x="6400800" y="3566160"/>
            <a:ext cx="4572000" cy="65836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3639312"/>
            <a:ext cx="4297680" cy="548640"/>
          </a:xfrm>
          <a:prstGeom prst="rect">
            <a:avLst/>
          </a:prstGeom>
          <a:noFill/>
        </p:spPr>
        <p:txBody>
          <a:bodyPr wrap="square">
            <a:spAutoFit/>
          </a:bodyPr>
          <a:lstStyle/>
          <a:p>
            <a:pPr algn="l"/>
            <a:r>
              <a:rPr sz="1200" b="0" i="0">
                <a:solidFill>
                  <a:srgbClr val="B0BCD4"/>
                </a:solidFill>
                <a:latin typeface="Segoe UI"/>
              </a:rPr>
              <a:t>❓  What happens if Django is offline when React loads?</a:t>
            </a:r>
          </a:p>
        </p:txBody>
      </p:sp>
      <p:sp>
        <p:nvSpPr>
          <p:cNvPr id="11" name="Rectangle 10"/>
          <p:cNvSpPr/>
          <p:nvPr/>
        </p:nvSpPr>
        <p:spPr>
          <a:xfrm>
            <a:off x="1371600" y="4389120"/>
            <a:ext cx="4572000" cy="65836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08760" y="4462272"/>
            <a:ext cx="4297680" cy="548640"/>
          </a:xfrm>
          <a:prstGeom prst="rect">
            <a:avLst/>
          </a:prstGeom>
          <a:noFill/>
        </p:spPr>
        <p:txBody>
          <a:bodyPr wrap="square">
            <a:spAutoFit/>
          </a:bodyPr>
          <a:lstStyle/>
          <a:p>
            <a:pPr algn="l"/>
            <a:r>
              <a:rPr sz="1200" b="0" i="0">
                <a:solidFill>
                  <a:srgbClr val="B0BCD4"/>
                </a:solidFill>
                <a:latin typeface="Segoe UI"/>
              </a:rPr>
              <a:t>❓  Why is CorsMiddleware at index 0?</a:t>
            </a:r>
          </a:p>
        </p:txBody>
      </p:sp>
      <p:sp>
        <p:nvSpPr>
          <p:cNvPr id="13" name="Rectangle 12"/>
          <p:cNvSpPr/>
          <p:nvPr/>
        </p:nvSpPr>
        <p:spPr>
          <a:xfrm>
            <a:off x="6400800" y="4389120"/>
            <a:ext cx="4572000" cy="65836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7960" y="4462272"/>
            <a:ext cx="4297680" cy="548640"/>
          </a:xfrm>
          <a:prstGeom prst="rect">
            <a:avLst/>
          </a:prstGeom>
          <a:noFill/>
        </p:spPr>
        <p:txBody>
          <a:bodyPr wrap="square">
            <a:spAutoFit/>
          </a:bodyPr>
          <a:lstStyle/>
          <a:p>
            <a:pPr algn="l"/>
            <a:r>
              <a:rPr sz="1200" b="0" i="0">
                <a:solidFill>
                  <a:srgbClr val="B0BCD4"/>
                </a:solidFill>
                <a:latin typeface="Segoe UI"/>
              </a:rPr>
              <a:t>❓  What is the difference between Vite and Webpack?</a:t>
            </a:r>
          </a:p>
        </p:txBody>
      </p:sp>
      <p:sp>
        <p:nvSpPr>
          <p:cNvPr id="15" name="TextBox 14"/>
          <p:cNvSpPr txBox="1"/>
          <p:nvPr/>
        </p:nvSpPr>
        <p:spPr>
          <a:xfrm>
            <a:off x="914400" y="6355080"/>
            <a:ext cx="10360152" cy="365760"/>
          </a:xfrm>
          <a:prstGeom prst="rect">
            <a:avLst/>
          </a:prstGeom>
          <a:noFill/>
        </p:spPr>
        <p:txBody>
          <a:bodyPr wrap="square">
            <a:spAutoFit/>
          </a:bodyPr>
          <a:lstStyle/>
          <a:p>
            <a:pPr algn="ctr"/>
            <a:r>
              <a:rPr sz="1200" b="0" i="0">
                <a:solidFill>
                  <a:srgbClr val="64748B"/>
                </a:solidFill>
                <a:latin typeface="Segoe UI"/>
              </a:rPr>
              <a:t>CSE299 Section 3  ·  Group 2  ·  GrantLens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TotalTime>
  <Words>6497</Words>
  <Application>Microsoft Office PowerPoint</Application>
  <PresentationFormat>Custom</PresentationFormat>
  <Paragraphs>331</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Hasin Anzum Inan</cp:lastModifiedBy>
  <cp:revision>2</cp:revision>
  <dcterms:created xsi:type="dcterms:W3CDTF">2013-01-27T09:14:16Z</dcterms:created>
  <dcterms:modified xsi:type="dcterms:W3CDTF">2026-10-11T21:05:58Z</dcterms:modified>
  <cp:category/>
</cp:coreProperties>
</file>