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7FC0FC23-25EB-4442-035F-5437D016FD26}">
          <p14:sldIdLst>
            <p14:sldId id="256"/>
          </p14:sldIdLst>
        </p14:section>
        <p14:section name="Problem &amp; Objectives" id="{43CE77FE-EE10-0835-3876-E4BBB53D68B7}">
          <p14:sldIdLst>
            <p14:sldId id="257"/>
          </p14:sldIdLst>
        </p14:section>
        <p14:section name="Solution &amp; AI Features" id="{61C59878-8B07-E071-202C-9BBE2358F9E9}">
          <p14:sldIdLst>
            <p14:sldId id="258"/>
          </p14:sldIdLst>
        </p14:section>
        <p14:section name="Technology, Outcomes &amp; Scope" id="{775D3EF5-E22E-6D20-F245-C6EAC89850CF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39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54864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46304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291840"/>
            <a:ext cx="5760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2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48640" cy="548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1B3A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1B3A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4630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GrantLens: AI Grant Auditing and Evaluation Platform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2918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AI-POWERED PRE-SUBMISSION COMPLIANCE FOR RESEARCH GRANTS</a:t>
            </a:r>
            <a:endParaRPr lang="en-US" sz="1400" dirty="0"/>
          </a:p>
        </p:txBody>
      </p:sp>
      <p:sp>
        <p:nvSpPr>
          <p:cNvPr id="4" name="Course"/>
          <p:cNvSpPr txBox="1"/>
          <p:nvPr/>
        </p:nvSpPr>
        <p:spPr>
          <a:xfrm>
            <a:off x="640080" y="4069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CSE299 Project Proposal</a:t>
            </a:r>
            <a:endParaRPr lang="en-US" sz="1400" dirty="0"/>
          </a:p>
        </p:txBody>
      </p:sp>
      <p:sp>
        <p:nvSpPr>
          <p:cNvPr id="5" name="Group members"/>
          <p:cNvSpPr txBox="1"/>
          <p:nvPr/>
        </p:nvSpPr>
        <p:spPr>
          <a:xfrm>
            <a:off x="640080" y="45262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Members: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Anas Ibne Majbha (2322846642)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Tazreen Alam (2321506042)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Hasin Anzum Inan (2323133042)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Israt Jahan Susmi (2112280642)</a:t>
            </a:r>
            <a:endParaRPr lang="en-US" sz="1400" dirty="0"/>
          </a:p>
        </p:txBody>
      </p:sp>
      <p:sp>
        <p:nvSpPr>
          <p:cNvPr id="6" name="Visual panel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Hero illustration" descr="Document being audited with red, yellow and green flags, a magnifier and a sh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430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 &amp; Objectives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640080" y="160020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Problem 1 badge"/>
          <p:cNvSpPr/>
          <p:nvPr/>
        </p:nvSpPr>
        <p:spPr>
          <a:xfrm>
            <a:off x="914400" y="1947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blem 1 number"/>
          <p:cNvSpPr txBox="1"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roblem 1"/>
          <p:cNvSpPr txBox="1"/>
          <p:nvPr/>
        </p:nvSpPr>
        <p:spPr>
          <a:xfrm>
            <a:off x="1554480" y="1783080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Administrative Disqualification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mandatory sections, e.g. a Data Management Plan, cause instant rejection.</a:t>
            </a:r>
            <a:endParaRPr lang="en-US" sz="1600" dirty="0"/>
          </a:p>
        </p:txBody>
      </p:sp>
      <p:sp>
        <p:nvSpPr>
          <p:cNvPr id="7" name="Problem 2 badge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roblem 2 number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Problem 2"/>
          <p:cNvSpPr txBox="1"/>
          <p:nvPr/>
        </p:nvSpPr>
        <p:spPr>
          <a:xfrm>
            <a:off x="1554480" y="2670048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Constraint Violations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Hard limits on pages, section word counts and funding amounts get broken.</a:t>
            </a:r>
            <a:endParaRPr lang="en-US" sz="1600" dirty="0"/>
          </a:p>
        </p:txBody>
      </p:sp>
      <p:sp>
        <p:nvSpPr>
          <p:cNvPr id="10" name="Problem 3 badge"/>
          <p:cNvSpPr/>
          <p:nvPr/>
        </p:nvSpPr>
        <p:spPr>
          <a:xfrm>
            <a:off x="914400" y="3721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oblem 3 number"/>
          <p:cNvSpPr txBox="1"/>
          <p:nvPr/>
        </p:nvSpPr>
        <p:spPr>
          <a:xfrm>
            <a:off x="9144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Problem 3"/>
          <p:cNvSpPr txBox="1"/>
          <p:nvPr/>
        </p:nvSpPr>
        <p:spPr>
          <a:xfrm>
            <a:off x="1554480" y="3557016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Internal Inconsistencies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Text claims two postdocs while the budget funds only one.</a:t>
            </a:r>
            <a:endParaRPr lang="en-US" sz="1600" dirty="0"/>
          </a:p>
        </p:txBody>
      </p:sp>
      <p:sp>
        <p:nvSpPr>
          <p:cNvPr id="13" name="Problem 4 badge"/>
          <p:cNvSpPr/>
          <p:nvPr/>
        </p:nvSpPr>
        <p:spPr>
          <a:xfrm>
            <a:off x="914400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roblem 4 number"/>
          <p:cNvSpPr txBox="1"/>
          <p:nvPr/>
        </p:nvSpPr>
        <p:spPr>
          <a:xfrm>
            <a:off x="91440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Problem 4"/>
          <p:cNvSpPr txBox="1"/>
          <p:nvPr/>
        </p:nvSpPr>
        <p:spPr>
          <a:xfrm>
            <a:off x="1554480" y="444398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Missing Evaluation Benchmarks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automated way to test a draft against official grading rubrics.</a:t>
            </a:r>
            <a:endParaRPr lang="en-US" sz="1600" dirty="0"/>
          </a:p>
        </p:txBody>
      </p:sp>
      <p:sp>
        <p:nvSpPr>
          <p:cNvPr id="16" name="Problem 5 badge"/>
          <p:cNvSpPr/>
          <p:nvPr/>
        </p:nvSpPr>
        <p:spPr>
          <a:xfrm>
            <a:off x="914400" y="54955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roblem 5 number"/>
          <p:cNvSpPr txBox="1"/>
          <p:nvPr/>
        </p:nvSpPr>
        <p:spPr>
          <a:xfrm>
            <a:off x="91440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Problem 5"/>
          <p:cNvSpPr txBox="1"/>
          <p:nvPr/>
        </p:nvSpPr>
        <p:spPr>
          <a:xfrm>
            <a:off x="1554480" y="533095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Administrative Bottlenecks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Offices spend excessive hours checking drafts against changing guidelines.</a:t>
            </a:r>
            <a:endParaRPr lang="en-US" sz="1600" dirty="0"/>
          </a:p>
        </p:txBody>
      </p:sp>
      <p:sp>
        <p:nvSpPr>
          <p:cNvPr id="19" name="Stats banner"/>
          <p:cNvSpPr/>
          <p:nvPr/>
        </p:nvSpPr>
        <p:spPr>
          <a:xfrm>
            <a:off x="6355080" y="1600200"/>
            <a:ext cx="5193792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Rejection illustration" descr="Stack of rejected proposal pages with a red cross and a 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2011680" cy="1508760"/>
          </a:xfrm>
          <a:prstGeom prst="rect">
            <a:avLst/>
          </a:prstGeom>
        </p:spPr>
      </p:pic>
      <p:sp>
        <p:nvSpPr>
          <p:cNvPr id="21" name="Stat 30"/>
          <p:cNvSpPr txBox="1"/>
          <p:nvPr/>
        </p:nvSpPr>
        <p:spPr>
          <a:xfrm>
            <a:off x="8595360" y="1691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30-40%</a:t>
            </a:r>
            <a:endParaRPr lang="en-US" sz="4000" dirty="0"/>
          </a:p>
        </p:txBody>
      </p:sp>
      <p:sp>
        <p:nvSpPr>
          <p:cNvPr id="22" name="Stat label"/>
          <p:cNvSpPr txBox="1"/>
          <p:nvPr/>
        </p:nvSpPr>
        <p:spPr>
          <a:xfrm>
            <a:off x="859536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submissions rejected at screening for minor compliance mistakes</a:t>
            </a:r>
            <a:endParaRPr lang="en-US" sz="1400" dirty="0"/>
          </a:p>
        </p:txBody>
      </p:sp>
      <p:sp>
        <p:nvSpPr>
          <p:cNvPr id="23" name="Stat extra"/>
          <p:cNvSpPr txBox="1"/>
          <p:nvPr/>
        </p:nvSpPr>
        <p:spPr>
          <a:xfrm>
            <a:off x="859536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50–80 pages of rules · 100+ hours per proposal</a:t>
            </a:r>
            <a:endParaRPr lang="en-US" sz="1400" dirty="0"/>
          </a:p>
        </p:txBody>
      </p:sp>
      <p:sp>
        <p:nvSpPr>
          <p:cNvPr id="24" name="Objectives card"/>
          <p:cNvSpPr/>
          <p:nvPr/>
        </p:nvSpPr>
        <p:spPr>
          <a:xfrm>
            <a:off x="6355080" y="3703320"/>
            <a:ext cx="5193792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Objectives heading"/>
          <p:cNvSpPr txBox="1"/>
          <p:nvPr/>
        </p:nvSpPr>
        <p:spPr>
          <a:xfrm>
            <a:off x="66294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26" name="Objective 1 badge"/>
          <p:cNvSpPr/>
          <p:nvPr/>
        </p:nvSpPr>
        <p:spPr>
          <a:xfrm>
            <a:off x="6629400" y="428853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bjective 1 number"/>
          <p:cNvSpPr txBox="1"/>
          <p:nvPr/>
        </p:nvSpPr>
        <p:spPr>
          <a:xfrm>
            <a:off x="662940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Objective text 1"/>
          <p:cNvSpPr txBox="1"/>
          <p:nvPr/>
        </p:nvSpPr>
        <p:spPr>
          <a:xfrm>
            <a:off x="6976872" y="42519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 Ingestion</a:t>
            </a:r>
            <a:endParaRPr lang="en-US" sz="1400" dirty="0"/>
          </a:p>
        </p:txBody>
      </p:sp>
      <p:sp>
        <p:nvSpPr>
          <p:cNvPr id="29" name="Objective 2 badge"/>
          <p:cNvSpPr/>
          <p:nvPr/>
        </p:nvSpPr>
        <p:spPr>
          <a:xfrm>
            <a:off x="6629400" y="465429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bjective 2 number"/>
          <p:cNvSpPr txBox="1"/>
          <p:nvPr/>
        </p:nvSpPr>
        <p:spPr>
          <a:xfrm>
            <a:off x="6629400" y="4654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1" name="Objective text 2"/>
          <p:cNvSpPr txBox="1"/>
          <p:nvPr/>
        </p:nvSpPr>
        <p:spPr>
          <a:xfrm>
            <a:off x="6976872" y="4617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Rule Extraction</a:t>
            </a:r>
            <a:endParaRPr lang="en-US" sz="1400" dirty="0"/>
          </a:p>
        </p:txBody>
      </p:sp>
      <p:sp>
        <p:nvSpPr>
          <p:cNvPr id="32" name="Objective 3 badge"/>
          <p:cNvSpPr/>
          <p:nvPr/>
        </p:nvSpPr>
        <p:spPr>
          <a:xfrm>
            <a:off x="6629400" y="502005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bjective 3 number"/>
          <p:cNvSpPr txBox="1"/>
          <p:nvPr/>
        </p:nvSpPr>
        <p:spPr>
          <a:xfrm>
            <a:off x="6629400" y="5020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Objective text 3"/>
          <p:cNvSpPr txBox="1"/>
          <p:nvPr/>
        </p:nvSpPr>
        <p:spPr>
          <a:xfrm>
            <a:off x="6976872" y="49834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Compliance Verification</a:t>
            </a:r>
            <a:endParaRPr lang="en-US" sz="1400" dirty="0"/>
          </a:p>
        </p:txBody>
      </p:sp>
      <p:sp>
        <p:nvSpPr>
          <p:cNvPr id="35" name="Objective 4 badge"/>
          <p:cNvSpPr/>
          <p:nvPr/>
        </p:nvSpPr>
        <p:spPr>
          <a:xfrm>
            <a:off x="6629400" y="538581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bjective 4 number"/>
          <p:cNvSpPr txBox="1"/>
          <p:nvPr/>
        </p:nvSpPr>
        <p:spPr>
          <a:xfrm>
            <a:off x="6629400" y="5385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Objective text 4"/>
          <p:cNvSpPr txBox="1"/>
          <p:nvPr/>
        </p:nvSpPr>
        <p:spPr>
          <a:xfrm>
            <a:off x="6976872" y="53492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Cross-Doc Reconciliation</a:t>
            </a:r>
            <a:endParaRPr lang="en-US" sz="1400" dirty="0"/>
          </a:p>
        </p:txBody>
      </p:sp>
      <p:sp>
        <p:nvSpPr>
          <p:cNvPr id="38" name="Objective 5 badge"/>
          <p:cNvSpPr/>
          <p:nvPr/>
        </p:nvSpPr>
        <p:spPr>
          <a:xfrm>
            <a:off x="6629400" y="575157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bjective 5 number"/>
          <p:cNvSpPr txBox="1"/>
          <p:nvPr/>
        </p:nvSpPr>
        <p:spPr>
          <a:xfrm>
            <a:off x="6629400" y="5751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Objective text 5"/>
          <p:cNvSpPr txBox="1"/>
          <p:nvPr/>
        </p:nvSpPr>
        <p:spPr>
          <a:xfrm>
            <a:off x="6976872" y="5715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Rubric-Aligned Scoring</a:t>
            </a:r>
            <a:endParaRPr lang="en-US" sz="1400" dirty="0"/>
          </a:p>
        </p:txBody>
      </p:sp>
      <p:sp>
        <p:nvSpPr>
          <p:cNvPr id="41" name="Objective 6 badge"/>
          <p:cNvSpPr/>
          <p:nvPr/>
        </p:nvSpPr>
        <p:spPr>
          <a:xfrm>
            <a:off x="9098280" y="428853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bjective 6 number"/>
          <p:cNvSpPr txBox="1"/>
          <p:nvPr/>
        </p:nvSpPr>
        <p:spPr>
          <a:xfrm>
            <a:off x="909828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Objective text 6"/>
          <p:cNvSpPr txBox="1"/>
          <p:nvPr/>
        </p:nvSpPr>
        <p:spPr>
          <a:xfrm>
            <a:off x="9445752" y="42519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Rewrite Guidance</a:t>
            </a:r>
            <a:endParaRPr lang="en-US" sz="1400" dirty="0"/>
          </a:p>
        </p:txBody>
      </p:sp>
      <p:sp>
        <p:nvSpPr>
          <p:cNvPr id="44" name="Objective 7 badge"/>
          <p:cNvSpPr/>
          <p:nvPr/>
        </p:nvSpPr>
        <p:spPr>
          <a:xfrm>
            <a:off x="9098280" y="465429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bjective 7 number"/>
          <p:cNvSpPr txBox="1"/>
          <p:nvPr/>
        </p:nvSpPr>
        <p:spPr>
          <a:xfrm>
            <a:off x="9098280" y="4654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6" name="Objective text 7"/>
          <p:cNvSpPr txBox="1"/>
          <p:nvPr/>
        </p:nvSpPr>
        <p:spPr>
          <a:xfrm>
            <a:off x="9445752" y="4617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Institutional Dashboards</a:t>
            </a:r>
            <a:endParaRPr lang="en-US" sz="1400" dirty="0"/>
          </a:p>
        </p:txBody>
      </p:sp>
      <p:sp>
        <p:nvSpPr>
          <p:cNvPr id="47" name="Objective 8 badge"/>
          <p:cNvSpPr/>
          <p:nvPr/>
        </p:nvSpPr>
        <p:spPr>
          <a:xfrm>
            <a:off x="9098280" y="502005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bjective 8 number"/>
          <p:cNvSpPr txBox="1"/>
          <p:nvPr/>
        </p:nvSpPr>
        <p:spPr>
          <a:xfrm>
            <a:off x="9098280" y="5020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49" name="Objective text 8"/>
          <p:cNvSpPr txBox="1"/>
          <p:nvPr/>
        </p:nvSpPr>
        <p:spPr>
          <a:xfrm>
            <a:off x="9445752" y="49834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Regulatory Q&amp;A (RAG)</a:t>
            </a:r>
            <a:endParaRPr lang="en-US" sz="1400" dirty="0"/>
          </a:p>
        </p:txBody>
      </p:sp>
      <p:sp>
        <p:nvSpPr>
          <p:cNvPr id="50" name="Objective 9 badge"/>
          <p:cNvSpPr/>
          <p:nvPr/>
        </p:nvSpPr>
        <p:spPr>
          <a:xfrm>
            <a:off x="9098280" y="538581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bjective 9 number"/>
          <p:cNvSpPr txBox="1"/>
          <p:nvPr/>
        </p:nvSpPr>
        <p:spPr>
          <a:xfrm>
            <a:off x="9098280" y="5385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52" name="Objective text 9"/>
          <p:cNvSpPr txBox="1"/>
          <p:nvPr/>
        </p:nvSpPr>
        <p:spPr>
          <a:xfrm>
            <a:off x="9445752" y="53492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Audit Report Generation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1B3A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Solution &amp; AI Features</a:t>
            </a:r>
            <a:endParaRPr lang="en-US" sz="3600" dirty="0"/>
          </a:p>
        </p:txBody>
      </p:sp>
      <p:sp>
        <p:nvSpPr>
          <p:cNvPr id="3" name="Researcher Portal card"/>
          <p:cNvSpPr/>
          <p:nvPr/>
        </p:nvSpPr>
        <p:spPr>
          <a:xfrm>
            <a:off x="640080" y="1600200"/>
            <a:ext cx="57607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Researcher Portal illustration" descr="Researcher Port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05840" cy="1005840"/>
          </a:xfrm>
          <a:prstGeom prst="rect">
            <a:avLst/>
          </a:prstGeom>
        </p:spPr>
      </p:pic>
      <p:sp>
        <p:nvSpPr>
          <p:cNvPr id="5" name="Researcher Portal text"/>
          <p:cNvSpPr txBox="1"/>
          <p:nvPr/>
        </p:nvSpPr>
        <p:spPr>
          <a:xfrm>
            <a:off x="1965960" y="16002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Researcher Portal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Upload call + draft, run instant scans, see Red / Yellow / Green flags, budget reconciliation, rubric scores, rewrite advice, PDF audit export.</a:t>
            </a:r>
            <a:endParaRPr lang="en-US" sz="1800" dirty="0"/>
          </a:p>
        </p:txBody>
      </p:sp>
      <p:sp>
        <p:nvSpPr>
          <p:cNvPr id="6" name="Reviewer &amp; Research Office Portal card"/>
          <p:cNvSpPr/>
          <p:nvPr/>
        </p:nvSpPr>
        <p:spPr>
          <a:xfrm>
            <a:off x="640080" y="2880360"/>
            <a:ext cx="57607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Reviewer &amp; Research Office Portal illustration" descr="Reviewer &amp; Research Office Port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1005840" cy="1005840"/>
          </a:xfrm>
          <a:prstGeom prst="rect">
            <a:avLst/>
          </a:prstGeom>
        </p:spPr>
      </p:pic>
      <p:sp>
        <p:nvSpPr>
          <p:cNvPr id="8" name="Reviewer &amp; Research Office Portal text"/>
          <p:cNvSpPr txBox="1"/>
          <p:nvPr/>
        </p:nvSpPr>
        <p:spPr>
          <a:xfrm>
            <a:off x="1965960" y="28803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Reviewer &amp; Research Office Portal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Aggregate departmental drafts and calls, view AI summaries and scorecards, spot regulatory risks, approve / flag / request changes.</a:t>
            </a:r>
            <a:endParaRPr lang="en-US" sz="1800" dirty="0"/>
          </a:p>
        </p:txBody>
      </p:sp>
      <p:sp>
        <p:nvSpPr>
          <p:cNvPr id="9" name="Admin Portal card"/>
          <p:cNvSpPr/>
          <p:nvPr/>
        </p:nvSpPr>
        <p:spPr>
          <a:xfrm>
            <a:off x="640080" y="4160520"/>
            <a:ext cx="57607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Admin Portal illustration" descr="Admin Port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51960"/>
            <a:ext cx="1005840" cy="1005840"/>
          </a:xfrm>
          <a:prstGeom prst="rect">
            <a:avLst/>
          </a:prstGeom>
        </p:spPr>
      </p:pic>
      <p:sp>
        <p:nvSpPr>
          <p:cNvPr id="11" name="Admin Portal text"/>
          <p:cNvSpPr txBox="1"/>
          <p:nvPr/>
        </p:nvSpPr>
        <p:spPr>
          <a:xfrm>
            <a:off x="1965960" y="41605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 Portal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 access, roles and privileges; keep guideline archives and templates; maintain vector DB and audit logs; configure rules and scoring weights.</a:t>
            </a:r>
            <a:endParaRPr lang="en-US" sz="1800" dirty="0"/>
          </a:p>
        </p:txBody>
      </p:sp>
      <p:sp>
        <p:nvSpPr>
          <p:cNvPr id="12" name="AI features card"/>
          <p:cNvSpPr/>
          <p:nvPr/>
        </p:nvSpPr>
        <p:spPr>
          <a:xfrm>
            <a:off x="6629400" y="1600200"/>
            <a:ext cx="4919472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AI Features heading"/>
          <p:cNvSpPr txBox="1"/>
          <p:nvPr/>
        </p:nvSpPr>
        <p:spPr>
          <a:xfrm>
            <a:off x="69037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AI Features</a:t>
            </a:r>
            <a:endParaRPr lang="en-US" sz="2000" dirty="0"/>
          </a:p>
        </p:txBody>
      </p:sp>
      <p:sp>
        <p:nvSpPr>
          <p:cNvPr id="14" name="Automated Guideline Ingestion circle"/>
          <p:cNvSpPr/>
          <p:nvPr/>
        </p:nvSpPr>
        <p:spPr>
          <a:xfrm>
            <a:off x="690372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Automated Guideline Ingestion icon" descr="Automated Guideline Inges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732" y="2318004"/>
            <a:ext cx="192024" cy="192024"/>
          </a:xfrm>
          <a:prstGeom prst="rect">
            <a:avLst/>
          </a:prstGeom>
        </p:spPr>
      </p:pic>
      <p:sp>
        <p:nvSpPr>
          <p:cNvPr id="16" name="Feature 1"/>
          <p:cNvSpPr txBox="1"/>
          <p:nvPr/>
        </p:nvSpPr>
        <p:spPr>
          <a:xfrm>
            <a:off x="7406640" y="2194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Automated Guideline Ingestion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Layout analysis builds indexed rule chunks</a:t>
            </a:r>
            <a:endParaRPr lang="en-US" sz="1400" dirty="0"/>
          </a:p>
        </p:txBody>
      </p:sp>
      <p:sp>
        <p:nvSpPr>
          <p:cNvPr id="17" name="Deterministic &amp; Semantic Verification circle"/>
          <p:cNvSpPr/>
          <p:nvPr/>
        </p:nvSpPr>
        <p:spPr>
          <a:xfrm>
            <a:off x="6903720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Deterministic &amp; Semantic Verification icon" descr="Deterministic &amp; Semantic Verific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732" y="2830068"/>
            <a:ext cx="192024" cy="192024"/>
          </a:xfrm>
          <a:prstGeom prst="rect">
            <a:avLst/>
          </a:prstGeom>
        </p:spPr>
      </p:pic>
      <p:sp>
        <p:nvSpPr>
          <p:cNvPr id="19" name="Feature 2"/>
          <p:cNvSpPr txBox="1"/>
          <p:nvPr/>
        </p:nvSpPr>
        <p:spPr>
          <a:xfrm>
            <a:off x="7406640" y="27066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Deterministic &amp; Semantic Verification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Page caps plus disclosure completeness</a:t>
            </a:r>
            <a:endParaRPr lang="en-US" sz="1400" dirty="0"/>
          </a:p>
        </p:txBody>
      </p:sp>
      <p:sp>
        <p:nvSpPr>
          <p:cNvPr id="20" name="Budget vs. Narrative Reconciliation circle"/>
          <p:cNvSpPr/>
          <p:nvPr/>
        </p:nvSpPr>
        <p:spPr>
          <a:xfrm>
            <a:off x="690372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Budget vs. Narrative Reconciliation icon" descr="Budget vs. Narrative Reconcili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732" y="3342132"/>
            <a:ext cx="192024" cy="192024"/>
          </a:xfrm>
          <a:prstGeom prst="rect">
            <a:avLst/>
          </a:prstGeom>
        </p:spPr>
      </p:pic>
      <p:sp>
        <p:nvSpPr>
          <p:cNvPr id="22" name="Feature 3"/>
          <p:cNvSpPr txBox="1"/>
          <p:nvPr/>
        </p:nvSpPr>
        <p:spPr>
          <a:xfrm>
            <a:off x="7406640" y="32186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Budget vs. Narrative Reconciliation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Extraction cross-checks budget cells</a:t>
            </a:r>
            <a:endParaRPr lang="en-US" sz="1400" dirty="0"/>
          </a:p>
        </p:txBody>
      </p:sp>
      <p:sp>
        <p:nvSpPr>
          <p:cNvPr id="23" name="Simulated Peer-Review Scoring circle"/>
          <p:cNvSpPr/>
          <p:nvPr/>
        </p:nvSpPr>
        <p:spPr>
          <a:xfrm>
            <a:off x="6903720" y="37581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Simulated Peer-Review Scoring icon" descr="Simulated Peer-Review Scor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9732" y="3854196"/>
            <a:ext cx="192024" cy="192024"/>
          </a:xfrm>
          <a:prstGeom prst="rect">
            <a:avLst/>
          </a:prstGeom>
        </p:spPr>
      </p:pic>
      <p:sp>
        <p:nvSpPr>
          <p:cNvPr id="25" name="Feature 4"/>
          <p:cNvSpPr txBox="1"/>
          <p:nvPr/>
        </p:nvSpPr>
        <p:spPr>
          <a:xfrm>
            <a:off x="7406640" y="373075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Simulated Peer-Review Scoring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0–100 on Intellectual Merit, Broader Impacts</a:t>
            </a:r>
            <a:endParaRPr lang="en-US" sz="1400" dirty="0"/>
          </a:p>
        </p:txBody>
      </p:sp>
      <p:sp>
        <p:nvSpPr>
          <p:cNvPr id="26" name="Constructive Rewrite Suggestions circle"/>
          <p:cNvSpPr/>
          <p:nvPr/>
        </p:nvSpPr>
        <p:spPr>
          <a:xfrm>
            <a:off x="6903720" y="4270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Constructive Rewrite Suggestions icon" descr="Constructive Rewrite Suggestion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9732" y="4366260"/>
            <a:ext cx="192024" cy="192024"/>
          </a:xfrm>
          <a:prstGeom prst="rect">
            <a:avLst/>
          </a:prstGeom>
        </p:spPr>
      </p:pic>
      <p:sp>
        <p:nvSpPr>
          <p:cNvPr id="28" name="Feature 5"/>
          <p:cNvSpPr txBox="1"/>
          <p:nvPr/>
        </p:nvSpPr>
        <p:spPr>
          <a:xfrm>
            <a:off x="7406640" y="424281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Constructive Rewrite Suggestions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Grounded fixes for weak arguments</a:t>
            </a:r>
            <a:endParaRPr lang="en-US" sz="1400" dirty="0"/>
          </a:p>
        </p:txBody>
      </p:sp>
      <p:sp>
        <p:nvSpPr>
          <p:cNvPr id="29" name="Grounded RAG Query Engine circle"/>
          <p:cNvSpPr/>
          <p:nvPr/>
        </p:nvSpPr>
        <p:spPr>
          <a:xfrm>
            <a:off x="6903720" y="47823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Grounded RAG Query Engine icon" descr="Grounded RAG Query Engin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9732" y="4878324"/>
            <a:ext cx="192024" cy="192024"/>
          </a:xfrm>
          <a:prstGeom prst="rect">
            <a:avLst/>
          </a:prstGeom>
        </p:spPr>
      </p:pic>
      <p:sp>
        <p:nvSpPr>
          <p:cNvPr id="31" name="Feature 6"/>
          <p:cNvSpPr txBox="1"/>
          <p:nvPr/>
        </p:nvSpPr>
        <p:spPr>
          <a:xfrm>
            <a:off x="7406640" y="47548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Grounded RAG Query Engine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straight from indexed guidelines</a:t>
            </a:r>
            <a:endParaRPr lang="en-US" sz="1400" dirty="0"/>
          </a:p>
        </p:txBody>
      </p:sp>
      <p:sp>
        <p:nvSpPr>
          <p:cNvPr id="32" name="Methodology card"/>
          <p:cNvSpPr/>
          <p:nvPr/>
        </p:nvSpPr>
        <p:spPr>
          <a:xfrm>
            <a:off x="640080" y="5440680"/>
            <a:ext cx="1090879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Methodology text"/>
          <p:cNvSpPr txBox="1"/>
          <p:nvPr/>
        </p:nvSpPr>
        <p:spPr>
          <a:xfrm>
            <a:off x="868680" y="544068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Methodology:  </a:t>
            </a:r>
            <a:r>
              <a:rPr lang="en-US" sz="1400" dirty="0">
                <a:solidFill>
                  <a:schemeClr val="tx1"/>
                </a:solidFill>
              </a:rPr>
              <a:t>Requirement Analysis › System Design › Database Design › Frontend Development › Backend API Development › AI Module Development › Integration › Testing › Deployment › Evaluation, using flexible, iterative steps throughout.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1B3A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Technology, Outcomes &amp; Future Scope</a:t>
            </a:r>
            <a:endParaRPr lang="en-US" sz="3600" dirty="0"/>
          </a:p>
        </p:txBody>
      </p:sp>
      <p:sp>
        <p:nvSpPr>
          <p:cNvPr id="3" name="Tech card"/>
          <p:cNvSpPr/>
          <p:nvPr/>
        </p:nvSpPr>
        <p:spPr>
          <a:xfrm>
            <a:off x="640080" y="1600200"/>
            <a:ext cx="5394960" cy="370332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Proposed Technology heading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Proposed Technology</a:t>
            </a:r>
            <a:endParaRPr lang="en-US" sz="2000" dirty="0"/>
          </a:p>
        </p:txBody>
      </p:sp>
      <p:sp>
        <p:nvSpPr>
          <p:cNvPr id="5" name="Tech shade 1"/>
          <p:cNvSpPr/>
          <p:nvPr/>
        </p:nvSpPr>
        <p:spPr>
          <a:xfrm>
            <a:off x="822960" y="2148840"/>
            <a:ext cx="50292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ch label 1"/>
          <p:cNvSpPr txBox="1"/>
          <p:nvPr/>
        </p:nvSpPr>
        <p:spPr>
          <a:xfrm>
            <a:off x="960120" y="21488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ch value 1"/>
          <p:cNvSpPr txBox="1"/>
          <p:nvPr/>
        </p:nvSpPr>
        <p:spPr>
          <a:xfrm>
            <a:off x="2011680" y="21488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React.js (Vite), Tailwind CSS, Recharts</a:t>
            </a:r>
            <a:endParaRPr lang="en-US" sz="1400" dirty="0"/>
          </a:p>
        </p:txBody>
      </p:sp>
      <p:sp>
        <p:nvSpPr>
          <p:cNvPr id="8" name="Tech label 2"/>
          <p:cNvSpPr txBox="1"/>
          <p:nvPr/>
        </p:nvSpPr>
        <p:spPr>
          <a:xfrm>
            <a:off x="960120" y="25923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ch value 2"/>
          <p:cNvSpPr txBox="1"/>
          <p:nvPr/>
        </p:nvSpPr>
        <p:spPr>
          <a:xfrm>
            <a:off x="2011680" y="25923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Django, Django REST Framework (DRF)</a:t>
            </a:r>
            <a:endParaRPr lang="en-US" sz="1400" dirty="0"/>
          </a:p>
        </p:txBody>
      </p:sp>
      <p:sp>
        <p:nvSpPr>
          <p:cNvPr id="10" name="Tech shade 3"/>
          <p:cNvSpPr/>
          <p:nvPr/>
        </p:nvSpPr>
        <p:spPr>
          <a:xfrm>
            <a:off x="822960" y="3035808"/>
            <a:ext cx="50292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ch label 3"/>
          <p:cNvSpPr txBox="1"/>
          <p:nvPr/>
        </p:nvSpPr>
        <p:spPr>
          <a:xfrm>
            <a:off x="960120" y="30358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12" name="Tech value 3"/>
          <p:cNvSpPr txBox="1"/>
          <p:nvPr/>
        </p:nvSpPr>
        <p:spPr>
          <a:xfrm>
            <a:off x="2011680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PyMuPDF (fitz), pdfplumber</a:t>
            </a:r>
            <a:endParaRPr lang="en-US" sz="1400" dirty="0"/>
          </a:p>
        </p:txBody>
      </p:sp>
      <p:sp>
        <p:nvSpPr>
          <p:cNvPr id="13" name="Tech label 4"/>
          <p:cNvSpPr txBox="1"/>
          <p:nvPr/>
        </p:nvSpPr>
        <p:spPr>
          <a:xfrm>
            <a:off x="960120" y="34792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</a:t>
            </a:r>
            <a:endParaRPr lang="en-US" sz="1400" dirty="0"/>
          </a:p>
        </p:txBody>
      </p:sp>
      <p:sp>
        <p:nvSpPr>
          <p:cNvPr id="14" name="Tech value 4"/>
          <p:cNvSpPr txBox="1"/>
          <p:nvPr/>
        </p:nvSpPr>
        <p:spPr>
          <a:xfrm>
            <a:off x="2011680" y="34792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PostgreSQL, ChromaDB</a:t>
            </a:r>
            <a:endParaRPr lang="en-US" sz="1400" dirty="0"/>
          </a:p>
        </p:txBody>
      </p:sp>
      <p:sp>
        <p:nvSpPr>
          <p:cNvPr id="15" name="Tech shade 5"/>
          <p:cNvSpPr/>
          <p:nvPr/>
        </p:nvSpPr>
        <p:spPr>
          <a:xfrm>
            <a:off x="822960" y="3922776"/>
            <a:ext cx="50292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ch label 5"/>
          <p:cNvSpPr txBox="1"/>
          <p:nvPr/>
        </p:nvSpPr>
        <p:spPr>
          <a:xfrm>
            <a:off x="960120" y="39227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&amp; NLP</a:t>
            </a:r>
            <a:endParaRPr lang="en-US" sz="1400" dirty="0"/>
          </a:p>
        </p:txBody>
      </p:sp>
      <p:sp>
        <p:nvSpPr>
          <p:cNvPr id="17" name="Tech value 5"/>
          <p:cNvSpPr txBox="1"/>
          <p:nvPr/>
        </p:nvSpPr>
        <p:spPr>
          <a:xfrm>
            <a:off x="2011680" y="39227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Python, LangChain, Google Gemini API / Local API</a:t>
            </a:r>
            <a:endParaRPr lang="en-US" sz="1400" dirty="0"/>
          </a:p>
        </p:txBody>
      </p:sp>
      <p:sp>
        <p:nvSpPr>
          <p:cNvPr id="18" name="Tech label 6"/>
          <p:cNvSpPr txBox="1"/>
          <p:nvPr/>
        </p:nvSpPr>
        <p:spPr>
          <a:xfrm>
            <a:off x="960120" y="43662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Auth</a:t>
            </a:r>
            <a:endParaRPr lang="en-US" sz="1400" dirty="0"/>
          </a:p>
        </p:txBody>
      </p:sp>
      <p:sp>
        <p:nvSpPr>
          <p:cNvPr id="19" name="Tech value 6"/>
          <p:cNvSpPr txBox="1"/>
          <p:nvPr/>
        </p:nvSpPr>
        <p:spPr>
          <a:xfrm>
            <a:off x="2011680" y="43662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SimpleJWT, Django Authentication</a:t>
            </a:r>
            <a:endParaRPr lang="en-US" sz="1400" dirty="0"/>
          </a:p>
        </p:txBody>
      </p:sp>
      <p:sp>
        <p:nvSpPr>
          <p:cNvPr id="20" name="Tech shade 7"/>
          <p:cNvSpPr/>
          <p:nvPr/>
        </p:nvSpPr>
        <p:spPr>
          <a:xfrm>
            <a:off x="822960" y="4809744"/>
            <a:ext cx="50292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ch label 7"/>
          <p:cNvSpPr txBox="1"/>
          <p:nvPr/>
        </p:nvSpPr>
        <p:spPr>
          <a:xfrm>
            <a:off x="960120" y="48097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2" name="Tech value 7"/>
          <p:cNvSpPr txBox="1"/>
          <p:nvPr/>
        </p:nvSpPr>
        <p:spPr>
          <a:xfrm>
            <a:off x="2011680" y="48097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Git, GitHub, Docker, Render / Railway</a:t>
            </a:r>
            <a:endParaRPr lang="en-US" sz="1400" dirty="0"/>
          </a:p>
        </p:txBody>
      </p:sp>
      <p:sp>
        <p:nvSpPr>
          <p:cNvPr id="23" name="Outcomes card"/>
          <p:cNvSpPr/>
          <p:nvPr/>
        </p:nvSpPr>
        <p:spPr>
          <a:xfrm>
            <a:off x="6263640" y="1600200"/>
            <a:ext cx="528523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Expected Outcomes heading"/>
          <p:cNvSpPr txBox="1"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Expected Outcomes</a:t>
            </a:r>
            <a:endParaRPr lang="en-US" sz="2000" dirty="0"/>
          </a:p>
        </p:txBody>
      </p:sp>
      <p:sp>
        <p:nvSpPr>
          <p:cNvPr id="25" name="Outcome 1 circle"/>
          <p:cNvSpPr/>
          <p:nvPr/>
        </p:nvSpPr>
        <p:spPr>
          <a:xfrm>
            <a:off x="6537960" y="2176272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Outcome 1 icon" descr="Outcom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235708"/>
            <a:ext cx="118872" cy="118872"/>
          </a:xfrm>
          <a:prstGeom prst="rect">
            <a:avLst/>
          </a:prstGeom>
        </p:spPr>
      </p:pic>
      <p:sp>
        <p:nvSpPr>
          <p:cNvPr id="27" name="Outcome text 1"/>
          <p:cNvSpPr txBox="1"/>
          <p:nvPr/>
        </p:nvSpPr>
        <p:spPr>
          <a:xfrm>
            <a:off x="690372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Elimination of Administrative Rejections</a:t>
            </a:r>
            <a:endParaRPr lang="en-US" sz="1400" dirty="0"/>
          </a:p>
        </p:txBody>
      </p:sp>
      <p:sp>
        <p:nvSpPr>
          <p:cNvPr id="28" name="Outcome 2 circle"/>
          <p:cNvSpPr/>
          <p:nvPr/>
        </p:nvSpPr>
        <p:spPr>
          <a:xfrm>
            <a:off x="6537960" y="24871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Outcome 2 icon" descr="Outcom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546604"/>
            <a:ext cx="118872" cy="118872"/>
          </a:xfrm>
          <a:prstGeom prst="rect">
            <a:avLst/>
          </a:prstGeom>
        </p:spPr>
      </p:pic>
      <p:sp>
        <p:nvSpPr>
          <p:cNvPr id="30" name="Outcome text 2"/>
          <p:cNvSpPr txBox="1"/>
          <p:nvPr/>
        </p:nvSpPr>
        <p:spPr>
          <a:xfrm>
            <a:off x="6903720" y="2459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Time Savings for Researchers</a:t>
            </a:r>
            <a:endParaRPr lang="en-US" sz="1400" dirty="0"/>
          </a:p>
        </p:txBody>
      </p:sp>
      <p:sp>
        <p:nvSpPr>
          <p:cNvPr id="31" name="Outcome 3 circle"/>
          <p:cNvSpPr/>
          <p:nvPr/>
        </p:nvSpPr>
        <p:spPr>
          <a:xfrm>
            <a:off x="6537960" y="2798064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Outcome 3 icon" descr="Outcom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857500"/>
            <a:ext cx="118872" cy="118872"/>
          </a:xfrm>
          <a:prstGeom prst="rect">
            <a:avLst/>
          </a:prstGeom>
        </p:spPr>
      </p:pic>
      <p:sp>
        <p:nvSpPr>
          <p:cNvPr id="33" name="Outcome text 3"/>
          <p:cNvSpPr txBox="1"/>
          <p:nvPr/>
        </p:nvSpPr>
        <p:spPr>
          <a:xfrm>
            <a:off x="6903720" y="2770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Error-Free Financial Alignment</a:t>
            </a:r>
            <a:endParaRPr lang="en-US" sz="1400" dirty="0"/>
          </a:p>
        </p:txBody>
      </p:sp>
      <p:sp>
        <p:nvSpPr>
          <p:cNvPr id="34" name="Outcome 4 circle"/>
          <p:cNvSpPr/>
          <p:nvPr/>
        </p:nvSpPr>
        <p:spPr>
          <a:xfrm>
            <a:off x="6537960" y="310896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Outcome 4 icon" descr="Outcom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168396"/>
            <a:ext cx="118872" cy="118872"/>
          </a:xfrm>
          <a:prstGeom prst="rect">
            <a:avLst/>
          </a:prstGeom>
        </p:spPr>
      </p:pic>
      <p:sp>
        <p:nvSpPr>
          <p:cNvPr id="36" name="Outcome text 4"/>
          <p:cNvSpPr txBox="1"/>
          <p:nvPr/>
        </p:nvSpPr>
        <p:spPr>
          <a:xfrm>
            <a:off x="690372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Improved Proposal Competitiveness</a:t>
            </a:r>
            <a:endParaRPr lang="en-US" sz="1400" dirty="0"/>
          </a:p>
        </p:txBody>
      </p:sp>
      <p:sp>
        <p:nvSpPr>
          <p:cNvPr id="37" name="Outcome 5 circle"/>
          <p:cNvSpPr/>
          <p:nvPr/>
        </p:nvSpPr>
        <p:spPr>
          <a:xfrm>
            <a:off x="6537960" y="3419856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Outcome 5 icon" descr="Outcom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479292"/>
            <a:ext cx="118872" cy="118872"/>
          </a:xfrm>
          <a:prstGeom prst="rect">
            <a:avLst/>
          </a:prstGeom>
        </p:spPr>
      </p:pic>
      <p:sp>
        <p:nvSpPr>
          <p:cNvPr id="39" name="Outcome text 5"/>
          <p:cNvSpPr txBox="1"/>
          <p:nvPr/>
        </p:nvSpPr>
        <p:spPr>
          <a:xfrm>
            <a:off x="6903720" y="3392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Reduced Administrative Overhead</a:t>
            </a:r>
            <a:endParaRPr lang="en-US" sz="1400" dirty="0"/>
          </a:p>
        </p:txBody>
      </p:sp>
      <p:sp>
        <p:nvSpPr>
          <p:cNvPr id="40" name="Scope card"/>
          <p:cNvSpPr/>
          <p:nvPr/>
        </p:nvSpPr>
        <p:spPr>
          <a:xfrm>
            <a:off x="6263640" y="3840480"/>
            <a:ext cx="528523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cope: Future Enhancements heading"/>
          <p:cNvSpPr txBox="1"/>
          <p:nvPr/>
        </p:nvSpPr>
        <p:spPr>
          <a:xfrm>
            <a:off x="653796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Scope: Future Enhancements</a:t>
            </a:r>
            <a:endParaRPr lang="en-US" sz="2000" dirty="0"/>
          </a:p>
        </p:txBody>
      </p:sp>
      <p:sp>
        <p:nvSpPr>
          <p:cNvPr id="42" name="Scope 1"/>
          <p:cNvSpPr txBox="1"/>
          <p:nvPr/>
        </p:nvSpPr>
        <p:spPr>
          <a:xfrm>
            <a:off x="6537960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ERP &amp; Portal Integration</a:t>
            </a:r>
            <a:endParaRPr lang="en-US" sz="1400" dirty="0"/>
          </a:p>
        </p:txBody>
      </p:sp>
      <p:sp>
        <p:nvSpPr>
          <p:cNvPr id="43" name="Scope 2"/>
          <p:cNvSpPr txBox="1"/>
          <p:nvPr/>
        </p:nvSpPr>
        <p:spPr>
          <a:xfrm>
            <a:off x="6537960" y="4636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Literature Verification</a:t>
            </a:r>
            <a:endParaRPr lang="en-US" sz="1400" dirty="0"/>
          </a:p>
        </p:txBody>
      </p:sp>
      <p:sp>
        <p:nvSpPr>
          <p:cNvPr id="44" name="Scope 3"/>
          <p:cNvSpPr txBox="1"/>
          <p:nvPr/>
        </p:nvSpPr>
        <p:spPr>
          <a:xfrm>
            <a:off x="6537960" y="4928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Collaborative Editor</a:t>
            </a:r>
            <a:endParaRPr lang="en-US" sz="1400" dirty="0"/>
          </a:p>
        </p:txBody>
      </p:sp>
      <p:sp>
        <p:nvSpPr>
          <p:cNvPr id="45" name="Scope 4"/>
          <p:cNvSpPr txBox="1"/>
          <p:nvPr/>
        </p:nvSpPr>
        <p:spPr>
          <a:xfrm>
            <a:off x="9098280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Multi-Institute Workflows</a:t>
            </a:r>
            <a:endParaRPr lang="en-US" sz="1400" dirty="0"/>
          </a:p>
        </p:txBody>
      </p:sp>
      <p:sp>
        <p:nvSpPr>
          <p:cNvPr id="46" name="Scope 5"/>
          <p:cNvSpPr txBox="1"/>
          <p:nvPr/>
        </p:nvSpPr>
        <p:spPr>
          <a:xfrm>
            <a:off x="9098280" y="4636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Alerts</a:t>
            </a:r>
            <a:endParaRPr lang="en-US" sz="1400" dirty="0"/>
          </a:p>
        </p:txBody>
      </p:sp>
      <p:sp>
        <p:nvSpPr>
          <p:cNvPr id="47" name="Conclusion banner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1B3A8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Conclusion illustration" descr="Shield with a check mark and spark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58968"/>
            <a:ext cx="1097280" cy="804672"/>
          </a:xfrm>
          <a:prstGeom prst="rect">
            <a:avLst/>
          </a:prstGeom>
        </p:spPr>
      </p:pic>
      <p:sp>
        <p:nvSpPr>
          <p:cNvPr id="49" name="Conclusion text"/>
          <p:cNvSpPr txBox="1"/>
          <p:nvPr/>
        </p:nvSpPr>
        <p:spPr>
          <a:xfrm>
            <a:off x="2057400" y="544068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GrantLens is a 24/7 pre-submission reviewer: it catches fatal rule omissions, fixes budget contradictions and grades proposals, so no groundbreaking idea is sidelined by bureaucratic oversight.</a:t>
            </a:r>
            <a:endParaRPr lang="en-US" sz="16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1B3A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ntLens">
  <a:themeElements>
    <a:clrScheme name="GrantLens">
      <a:dk1>
        <a:srgbClr val="111827"/>
      </a:dk1>
      <a:lt1>
        <a:srgbClr val="FFFFFF"/>
      </a:lt1>
      <a:dk2>
        <a:srgbClr val="0B2A5B"/>
      </a:dk2>
      <a:lt2>
        <a:srgbClr val="EAF1FD"/>
      </a:lt2>
      <a:accent1>
        <a:srgbClr val="2F6FDE"/>
      </a:accent1>
      <a:accent2>
        <a:srgbClr val="1B3A8A"/>
      </a:accent2>
      <a:accent3>
        <a:srgbClr val="6FA3F7"/>
      </a:accent3>
      <a:accent4>
        <a:srgbClr val="D64545"/>
      </a:accent4>
      <a:accent5>
        <a:srgbClr val="E8A317"/>
      </a:accent5>
      <a:accent6>
        <a:srgbClr val="2E9E5B"/>
      </a:accent6>
      <a:hlink>
        <a:srgbClr val="2F6FDE"/>
      </a:hlink>
      <a:folHlink>
        <a:srgbClr val="1B3A8A"/>
      </a:folHlink>
    </a:clrScheme>
    <a:fontScheme name="GrantLe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Widescreen</PresentationFormat>
  <Paragraphs>103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GrantLens</vt:lpstr>
      <vt:lpstr>GrantLens: AI Grant Auditing and Evaluation Platform</vt:lpstr>
      <vt:lpstr>Problem Statement &amp; Objectives</vt:lpstr>
      <vt:lpstr>Proposed Solution &amp; AI Features</vt:lpstr>
      <vt:lpstr>Technology, Outcomes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GrantLens Project Proposal</dc:title>
  <dc:subject>PptxGenJS Presentation</dc:subject>
  <dc:creator>PptxGenJS</dc:creator>
  <cp:lastModifiedBy>Hasin Anzum Inan</cp:lastModifiedBy>
  <cp:revision>2</cp:revision>
  <dcterms:created xsi:type="dcterms:W3CDTF">2026-10-04T20:07:38Z</dcterms:created>
  <dcterms:modified xsi:type="dcterms:W3CDTF">2026-10-04T20:18:07Z</dcterms:modified>
</cp:coreProperties>
</file>